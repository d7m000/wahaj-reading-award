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B0EC1-A82C-A868-6DFB-5E3A9962BF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84D37-2A43-5873-6693-07687BC9A0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F8FA4-2E28-0BA0-3B76-DDFB2A738397}"/>
              </a:ext>
            </a:extLst>
          </p:cNvPr>
          <p:cNvSpPr>
            <a:spLocks noGrp="1"/>
          </p:cNvSpPr>
          <p:nvPr>
            <p:ph type="body" idx="1"/>
          </p:nvPr>
        </p:nvSpPr>
        <p:spPr/>
        <p:txBody>
          <a:bodyPr/>
          <a:lstStyle/>
          <a:p>
            <a:r>
              <a:t>المصدر: الملف التعريفي لجائزة وهج الثقافية للمبادرات القرائية. الهوية البصرية: عرض مجتمع بارع، جمعية وهج الثقافية.</a:t>
            </a:r>
          </a:p>
        </p:txBody>
      </p:sp>
      <p:sp>
        <p:nvSpPr>
          <p:cNvPr id="4" name="Slide Number Placeholder 3">
            <a:extLst>
              <a:ext uri="{FF2B5EF4-FFF2-40B4-BE49-F238E27FC236}">
                <a16:creationId xmlns:a16="http://schemas.microsoft.com/office/drawing/2014/main" id="{5DF59BE3-E65D-4A91-C593-F94F2DA070E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3478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pic>
        <p:nvPicPr>
          <p:cNvPr id="9001" name="Wahaj identity background"/>
          <p:cNvPicPr/>
          <p:nvPr/>
        </p:nvPicPr>
        <p:blipFill>
          <a:blip r:embed="rId3"/>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1"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8142AE1E-D947-4607-B117-340802D7BFC6}"/>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01</a:t>
            </a:r>
          </a:p>
        </p:txBody>
      </p:sp>
      <p:sp>
        <p:nvSpPr>
          <p:cNvPr id="3" name="مستطيل 2">
            <a:extLst>
              <a:ext uri="{FF2B5EF4-FFF2-40B4-BE49-F238E27FC236}">
                <a16:creationId xmlns:a16="http://schemas.microsoft.com/office/drawing/2014/main" id="{B60C106A-1E6F-412E-BE1F-8099032BC737}"/>
              </a:ext>
            </a:extLst>
          </p:cNvPr>
          <p:cNvSpPr>
            <a:spLocks noGrp="1"/>
          </p:cNvSpPr>
          <p:nvPr/>
        </p:nvSpPr>
        <p:spPr>
          <a:xfrm>
            <a:off x="6191250" y="1952625"/>
            <a:ext cx="4762500" cy="571500"/>
          </a:xfrm>
          <a:prstGeom prst="rect">
            <a:avLst/>
          </a:prstGeom>
          <a:noFill/>
          <a:ln w="0">
            <a:noFill/>
          </a:ln>
        </p:spPr>
        <p:txBody>
          <a:bodyPr lIns="57150" tIns="38100" rIns="57150" bIns="38100" anchor="t">
            <a:normAutofit/>
          </a:bodyPr>
          <a:lstStyle/>
          <a:p>
            <a:pPr algn="r" rtl="1">
              <a:lnSpc>
                <a:spcPct val="105000"/>
              </a:lnSpc>
              <a:buNone/>
              <a:defRPr sz="2550" b="1">
                <a:solidFill>
                  <a:srgbClr val="E5A63F"/>
                </a:solidFill>
                <a:latin typeface="DejaVu Sans"/>
                <a:ea typeface="DejaVu Sans"/>
                <a:cs typeface="DejaVu Sans"/>
              </a:defRPr>
            </a:pPr>
            <a:r>
              <a:rPr sz="2550" b="1">
                <a:solidFill>
                  <a:srgbClr val="E5A63F"/>
                </a:solidFill>
                <a:latin typeface="DejaVu Sans"/>
                <a:ea typeface="DejaVu Sans"/>
                <a:cs typeface="DejaVu Sans"/>
              </a:rPr>
              <a:t>الملف التعريفي</a:t>
            </a:r>
          </a:p>
        </p:txBody>
      </p:sp>
      <p:sp>
        <p:nvSpPr>
          <p:cNvPr id="4" name="مستطيل 3">
            <a:extLst>
              <a:ext uri="{FF2B5EF4-FFF2-40B4-BE49-F238E27FC236}">
                <a16:creationId xmlns:a16="http://schemas.microsoft.com/office/drawing/2014/main" id="{E480B78D-0F60-425B-B4A2-C727A2C57BF4}"/>
              </a:ext>
            </a:extLst>
          </p:cNvPr>
          <p:cNvSpPr>
            <a:spLocks noGrp="1"/>
          </p:cNvSpPr>
          <p:nvPr/>
        </p:nvSpPr>
        <p:spPr>
          <a:xfrm>
            <a:off x="4095750" y="2476500"/>
            <a:ext cx="6858000" cy="1428750"/>
          </a:xfrm>
          <a:prstGeom prst="rect">
            <a:avLst/>
          </a:prstGeom>
          <a:noFill/>
          <a:ln w="0">
            <a:noFill/>
          </a:ln>
        </p:spPr>
        <p:txBody>
          <a:bodyPr lIns="57150" tIns="38100" rIns="57150" bIns="38100" anchor="t">
            <a:normAutofit/>
          </a:bodyPr>
          <a:lstStyle/>
          <a:p>
            <a:pPr algn="r" rtl="1">
              <a:lnSpc>
                <a:spcPct val="92000"/>
              </a:lnSpc>
              <a:buNone/>
              <a:defRPr sz="3750" b="1">
                <a:solidFill>
                  <a:srgbClr val="542278"/>
                </a:solidFill>
                <a:latin typeface="DejaVu Sans"/>
                <a:ea typeface="DejaVu Sans"/>
                <a:cs typeface="DejaVu Sans"/>
              </a:defRPr>
            </a:pPr>
            <a:r>
              <a:rPr sz="3750" b="1">
                <a:solidFill>
                  <a:srgbClr val="542278"/>
                </a:solidFill>
                <a:latin typeface="DejaVu Sans"/>
                <a:ea typeface="DejaVu Sans"/>
                <a:cs typeface="DejaVu Sans"/>
              </a:rPr>
              <a:t>جائزة وهج الثقافية</a:t>
            </a:r>
          </a:p>
          <a:p>
            <a:pPr algn="r" rtl="1">
              <a:lnSpc>
                <a:spcPct val="92000"/>
              </a:lnSpc>
              <a:buNone/>
              <a:defRPr sz="3750" b="1">
                <a:solidFill>
                  <a:srgbClr val="542278"/>
                </a:solidFill>
                <a:latin typeface="DejaVu Sans"/>
                <a:ea typeface="DejaVu Sans"/>
                <a:cs typeface="DejaVu Sans"/>
              </a:defRPr>
            </a:pPr>
            <a:r>
              <a:rPr sz="3750" b="1">
                <a:solidFill>
                  <a:srgbClr val="542278"/>
                </a:solidFill>
                <a:latin typeface="DejaVu Sans"/>
                <a:ea typeface="DejaVu Sans"/>
                <a:cs typeface="DejaVu Sans"/>
              </a:rPr>
              <a:t>للمبادرات القرائية</a:t>
            </a:r>
          </a:p>
        </p:txBody>
      </p:sp>
      <p:sp>
        <p:nvSpPr>
          <p:cNvPr id="5" name="مستطيل 4">
            <a:extLst>
              <a:ext uri="{FF2B5EF4-FFF2-40B4-BE49-F238E27FC236}">
                <a16:creationId xmlns:a16="http://schemas.microsoft.com/office/drawing/2014/main" id="{6FE324DD-B0B9-4AFC-A957-BC59C771F45E}"/>
              </a:ext>
            </a:extLst>
          </p:cNvPr>
          <p:cNvSpPr>
            <a:spLocks noGrp="1"/>
          </p:cNvSpPr>
          <p:nvPr/>
        </p:nvSpPr>
        <p:spPr>
          <a:xfrm>
            <a:off x="6572250" y="4000500"/>
            <a:ext cx="4381500" cy="476250"/>
          </a:xfrm>
          <a:prstGeom prst="rect">
            <a:avLst/>
          </a:prstGeom>
          <a:noFill/>
          <a:ln w="0">
            <a:noFill/>
          </a:ln>
        </p:spPr>
        <p:txBody>
          <a:bodyPr lIns="57150" tIns="38100" rIns="57150" bIns="38100" anchor="t">
            <a:normAutofit/>
          </a:bodyPr>
          <a:lstStyle/>
          <a:p>
            <a:pPr algn="r" rtl="1">
              <a:lnSpc>
                <a:spcPct val="105000"/>
              </a:lnSpc>
              <a:buNone/>
              <a:defRPr sz="1875" b="0">
                <a:solidFill>
                  <a:srgbClr val="17121B"/>
                </a:solidFill>
                <a:latin typeface="DejaVu Sans"/>
                <a:ea typeface="DejaVu Sans"/>
                <a:cs typeface="DejaVu Sans"/>
              </a:defRPr>
            </a:pPr>
            <a:r>
              <a:rPr sz="1875" b="0">
                <a:solidFill>
                  <a:srgbClr val="17121B"/>
                </a:solidFill>
                <a:latin typeface="DejaVu Sans"/>
                <a:ea typeface="DejaVu Sans"/>
                <a:cs typeface="DejaVu Sans"/>
              </a:rPr>
              <a:t>دليل المشاركين</a:t>
            </a:r>
          </a:p>
        </p:txBody>
      </p:sp>
      <p:sp>
        <p:nvSpPr>
          <p:cNvPr id="6" name="مستطيل 5">
            <a:extLst>
              <a:ext uri="{FF2B5EF4-FFF2-40B4-BE49-F238E27FC236}">
                <a16:creationId xmlns:a16="http://schemas.microsoft.com/office/drawing/2014/main" id="{3AD9D49A-366D-4398-9B26-215EAA2E9B85}"/>
              </a:ext>
            </a:extLst>
          </p:cNvPr>
          <p:cNvSpPr>
            <a:spLocks noGrp="1"/>
          </p:cNvSpPr>
          <p:nvPr/>
        </p:nvSpPr>
        <p:spPr>
          <a:xfrm>
            <a:off x="6477000" y="4905375"/>
            <a:ext cx="4476750" cy="361950"/>
          </a:xfrm>
          <a:prstGeom prst="rect">
            <a:avLst/>
          </a:prstGeom>
          <a:noFill/>
          <a:ln w="0">
            <a:noFill/>
          </a:ln>
        </p:spPr>
        <p:txBody>
          <a:bodyPr lIns="57150" tIns="38100" rIns="57150" bIns="38100" anchor="t">
            <a:normAutofit/>
          </a:bodyPr>
          <a:lstStyle/>
          <a:p>
            <a:pPr algn="r" rtl="1">
              <a:lnSpc>
                <a:spcPct val="105000"/>
              </a:lnSpc>
              <a:buNone/>
              <a:defRPr sz="1350" b="0">
                <a:solidFill>
                  <a:srgbClr val="5C5C5C"/>
                </a:solidFill>
                <a:latin typeface="DejaVu Sans"/>
                <a:ea typeface="DejaVu Sans"/>
                <a:cs typeface="DejaVu Sans"/>
              </a:defRPr>
            </a:pPr>
            <a:endParaRPr sz="1350" b="0" dirty="0">
              <a:solidFill>
                <a:srgbClr val="5C5C5C"/>
              </a:solidFill>
              <a:latin typeface="DejaVu Sans"/>
              <a:ea typeface="DejaVu Sans"/>
              <a:cs typeface="DejaVu Sans"/>
            </a:endParaRPr>
          </a:p>
        </p:txBody>
      </p:sp>
    </p:spTree>
    <p:extLst>
      <p:ext uri="{BB962C8B-B14F-4D97-AF65-F5344CB8AC3E}">
        <p14:creationId xmlns:p14="http://schemas.microsoft.com/office/powerpoint/2010/main" val="108319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2"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7AF9E91F-82AB-4B0E-9EF1-A4FA8BD699B0}"/>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02</a:t>
            </a:r>
          </a:p>
        </p:txBody>
      </p:sp>
      <p:sp>
        <p:nvSpPr>
          <p:cNvPr id="3" name="slide-title">
            <a:extLst>
              <a:ext uri="{FF2B5EF4-FFF2-40B4-BE49-F238E27FC236}">
                <a16:creationId xmlns:a16="http://schemas.microsoft.com/office/drawing/2014/main" id="{A5C7A3C1-2E90-4A4C-9D55-0BAC34131526}"/>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محتويات العرض</a:t>
            </a:r>
          </a:p>
        </p:txBody>
      </p:sp>
      <p:sp>
        <p:nvSpPr>
          <p:cNvPr id="4" name="مستطيل: زوايا مستديرة 3">
            <a:extLst>
              <a:ext uri="{FF2B5EF4-FFF2-40B4-BE49-F238E27FC236}">
                <a16:creationId xmlns:a16="http://schemas.microsoft.com/office/drawing/2014/main" id="{0E7CCC04-138F-4857-A5EB-23CA96FF333E}"/>
              </a:ext>
            </a:extLst>
          </p:cNvPr>
          <p:cNvSpPr>
            <a:spLocks noGrp="1"/>
          </p:cNvSpPr>
          <p:nvPr/>
        </p:nvSpPr>
        <p:spPr>
          <a:xfrm>
            <a:off x="10001250" y="1571625"/>
            <a:ext cx="685800" cy="495300"/>
          </a:xfrm>
          <a:prstGeom prst="roundRect">
            <a:avLst>
              <a:gd name="adj" fmla="val 15385"/>
            </a:avLst>
          </a:prstGeom>
          <a:solidFill>
            <a:srgbClr val="7030A0"/>
          </a:solidFill>
          <a:ln w="0">
            <a:noFill/>
          </a:ln>
        </p:spPr>
        <p:txBody>
          <a:bodyPr lIns="57150" tIns="38100" rIns="57150" bIns="38100" anchor="ctr">
            <a:normAutofit/>
          </a:bodyPr>
          <a:lstStyle/>
          <a:p>
            <a:pPr algn="ctr" rtl="1">
              <a:lnSpc>
                <a:spcPct val="10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01</a:t>
            </a:r>
          </a:p>
        </p:txBody>
      </p:sp>
      <p:sp>
        <p:nvSpPr>
          <p:cNvPr id="5" name="مستطيل 4">
            <a:extLst>
              <a:ext uri="{FF2B5EF4-FFF2-40B4-BE49-F238E27FC236}">
                <a16:creationId xmlns:a16="http://schemas.microsoft.com/office/drawing/2014/main" id="{F1784A14-1F75-4264-A382-92E70E6C11AF}"/>
              </a:ext>
            </a:extLst>
          </p:cNvPr>
          <p:cNvSpPr>
            <a:spLocks noGrp="1"/>
          </p:cNvSpPr>
          <p:nvPr/>
        </p:nvSpPr>
        <p:spPr>
          <a:xfrm>
            <a:off x="7810500" y="1571625"/>
            <a:ext cx="2047875" cy="495300"/>
          </a:xfrm>
          <a:prstGeom prst="rect">
            <a:avLst/>
          </a:prstGeom>
          <a:noFill/>
          <a:ln w="0">
            <a:noFill/>
          </a:ln>
        </p:spPr>
        <p:txBody>
          <a:bodyPr lIns="57150" tIns="38100" rIns="57150" bIns="38100" anchor="ctr">
            <a:normAutofit/>
          </a:bodyPr>
          <a:lstStyle/>
          <a:p>
            <a:pPr algn="r" rtl="1">
              <a:lnSpc>
                <a:spcPct val="105000"/>
              </a:lnSpc>
              <a:buNone/>
              <a:defRPr sz="1725" b="1">
                <a:solidFill>
                  <a:srgbClr val="542278"/>
                </a:solidFill>
                <a:latin typeface="DejaVu Sans"/>
                <a:ea typeface="DejaVu Sans"/>
                <a:cs typeface="DejaVu Sans"/>
              </a:defRPr>
            </a:pPr>
            <a:r>
              <a:rPr sz="1725" b="1">
                <a:solidFill>
                  <a:srgbClr val="542278"/>
                </a:solidFill>
                <a:latin typeface="DejaVu Sans"/>
                <a:ea typeface="DejaVu Sans"/>
                <a:cs typeface="DejaVu Sans"/>
              </a:rPr>
              <a:t>الجائزة</a:t>
            </a:r>
          </a:p>
        </p:txBody>
      </p:sp>
      <p:sp>
        <p:nvSpPr>
          <p:cNvPr id="6" name="مستطيل 5">
            <a:extLst>
              <a:ext uri="{FF2B5EF4-FFF2-40B4-BE49-F238E27FC236}">
                <a16:creationId xmlns:a16="http://schemas.microsoft.com/office/drawing/2014/main" id="{52B63054-B4B1-441F-A9A0-81180608B8AF}"/>
              </a:ext>
            </a:extLst>
          </p:cNvPr>
          <p:cNvSpPr>
            <a:spLocks noGrp="1"/>
          </p:cNvSpPr>
          <p:nvPr/>
        </p:nvSpPr>
        <p:spPr>
          <a:xfrm>
            <a:off x="1714500" y="1571625"/>
            <a:ext cx="5953125" cy="495300"/>
          </a:xfrm>
          <a:prstGeom prst="rect">
            <a:avLst/>
          </a:prstGeom>
          <a:noFill/>
          <a:ln w="0">
            <a:noFill/>
          </a:ln>
        </p:spPr>
        <p:txBody>
          <a:bodyPr lIns="57150" tIns="38100" rIns="57150" bIns="38100" anchor="ctr">
            <a:normAutofit/>
          </a:bodyPr>
          <a:lstStyle/>
          <a:p>
            <a:pPr algn="r" rtl="1">
              <a:lnSpc>
                <a:spcPct val="105000"/>
              </a:lnSpc>
              <a:buNone/>
              <a:defRPr sz="1500" b="0">
                <a:solidFill>
                  <a:srgbClr val="17121B"/>
                </a:solidFill>
                <a:latin typeface="DejaVu Sans"/>
                <a:ea typeface="DejaVu Sans"/>
                <a:cs typeface="DejaVu Sans"/>
              </a:defRPr>
            </a:pPr>
            <a:r>
              <a:rPr sz="1500" b="0">
                <a:solidFill>
                  <a:srgbClr val="17121B"/>
                </a:solidFill>
                <a:latin typeface="DejaVu Sans"/>
                <a:ea typeface="DejaVu Sans"/>
                <a:cs typeface="DejaVu Sans"/>
              </a:rPr>
              <a:t>الفكرة والرؤية والأهداف</a:t>
            </a:r>
          </a:p>
        </p:txBody>
      </p:sp>
      <p:sp>
        <p:nvSpPr>
          <p:cNvPr id="7" name="مستطيل: زوايا مستديرة 6">
            <a:extLst>
              <a:ext uri="{FF2B5EF4-FFF2-40B4-BE49-F238E27FC236}">
                <a16:creationId xmlns:a16="http://schemas.microsoft.com/office/drawing/2014/main" id="{3AD9CEAF-3F95-4AC0-BB91-49E0E02A4356}"/>
              </a:ext>
            </a:extLst>
          </p:cNvPr>
          <p:cNvSpPr>
            <a:spLocks noGrp="1"/>
          </p:cNvSpPr>
          <p:nvPr/>
        </p:nvSpPr>
        <p:spPr>
          <a:xfrm>
            <a:off x="10001250" y="2352675"/>
            <a:ext cx="685800" cy="495300"/>
          </a:xfrm>
          <a:prstGeom prst="roundRect">
            <a:avLst>
              <a:gd name="adj" fmla="val 15385"/>
            </a:avLst>
          </a:prstGeom>
          <a:solidFill>
            <a:srgbClr val="1F9FCC"/>
          </a:solidFill>
          <a:ln w="0">
            <a:noFill/>
          </a:ln>
        </p:spPr>
        <p:txBody>
          <a:bodyPr lIns="57150" tIns="38100" rIns="57150" bIns="38100" anchor="ctr">
            <a:normAutofit/>
          </a:bodyPr>
          <a:lstStyle/>
          <a:p>
            <a:pPr algn="ctr" rtl="1">
              <a:lnSpc>
                <a:spcPct val="10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02</a:t>
            </a:r>
          </a:p>
        </p:txBody>
      </p:sp>
      <p:sp>
        <p:nvSpPr>
          <p:cNvPr id="8" name="مستطيل 7">
            <a:extLst>
              <a:ext uri="{FF2B5EF4-FFF2-40B4-BE49-F238E27FC236}">
                <a16:creationId xmlns:a16="http://schemas.microsoft.com/office/drawing/2014/main" id="{37B046E0-FB49-4BD2-8FD5-8BFB9EE8E925}"/>
              </a:ext>
            </a:extLst>
          </p:cNvPr>
          <p:cNvSpPr>
            <a:spLocks noGrp="1"/>
          </p:cNvSpPr>
          <p:nvPr/>
        </p:nvSpPr>
        <p:spPr>
          <a:xfrm>
            <a:off x="7810500" y="2352675"/>
            <a:ext cx="2047875" cy="495300"/>
          </a:xfrm>
          <a:prstGeom prst="rect">
            <a:avLst/>
          </a:prstGeom>
          <a:noFill/>
          <a:ln w="0">
            <a:noFill/>
          </a:ln>
        </p:spPr>
        <p:txBody>
          <a:bodyPr lIns="57150" tIns="38100" rIns="57150" bIns="38100" anchor="ctr">
            <a:normAutofit/>
          </a:bodyPr>
          <a:lstStyle/>
          <a:p>
            <a:pPr algn="r" rtl="1">
              <a:lnSpc>
                <a:spcPct val="105000"/>
              </a:lnSpc>
              <a:buNone/>
              <a:defRPr sz="1725" b="1">
                <a:solidFill>
                  <a:srgbClr val="542278"/>
                </a:solidFill>
                <a:latin typeface="DejaVu Sans"/>
                <a:ea typeface="DejaVu Sans"/>
                <a:cs typeface="DejaVu Sans"/>
              </a:defRPr>
            </a:pPr>
            <a:r>
              <a:rPr sz="1725" b="1">
                <a:solidFill>
                  <a:srgbClr val="542278"/>
                </a:solidFill>
                <a:latin typeface="DejaVu Sans"/>
                <a:ea typeface="DejaVu Sans"/>
                <a:cs typeface="DejaVu Sans"/>
              </a:rPr>
              <a:t>المشاركة</a:t>
            </a:r>
          </a:p>
        </p:txBody>
      </p:sp>
      <p:sp>
        <p:nvSpPr>
          <p:cNvPr id="9" name="مستطيل 8">
            <a:extLst>
              <a:ext uri="{FF2B5EF4-FFF2-40B4-BE49-F238E27FC236}">
                <a16:creationId xmlns:a16="http://schemas.microsoft.com/office/drawing/2014/main" id="{E6900918-9E55-418C-A398-1E23865FE5F9}"/>
              </a:ext>
            </a:extLst>
          </p:cNvPr>
          <p:cNvSpPr>
            <a:spLocks noGrp="1"/>
          </p:cNvSpPr>
          <p:nvPr/>
        </p:nvSpPr>
        <p:spPr>
          <a:xfrm>
            <a:off x="1714500" y="2352675"/>
            <a:ext cx="5953125" cy="495300"/>
          </a:xfrm>
          <a:prstGeom prst="rect">
            <a:avLst/>
          </a:prstGeom>
          <a:noFill/>
          <a:ln w="0">
            <a:noFill/>
          </a:ln>
        </p:spPr>
        <p:txBody>
          <a:bodyPr lIns="57150" tIns="38100" rIns="57150" bIns="38100" anchor="ctr">
            <a:normAutofit/>
          </a:bodyPr>
          <a:lstStyle/>
          <a:p>
            <a:pPr algn="r" rtl="1">
              <a:lnSpc>
                <a:spcPct val="105000"/>
              </a:lnSpc>
              <a:buNone/>
              <a:defRPr sz="1500" b="0">
                <a:solidFill>
                  <a:srgbClr val="17121B"/>
                </a:solidFill>
                <a:latin typeface="DejaVu Sans"/>
                <a:ea typeface="DejaVu Sans"/>
                <a:cs typeface="DejaVu Sans"/>
              </a:defRPr>
            </a:pPr>
            <a:r>
              <a:rPr sz="1500" b="0">
                <a:solidFill>
                  <a:srgbClr val="17121B"/>
                </a:solidFill>
                <a:latin typeface="DejaVu Sans"/>
                <a:ea typeface="DejaVu Sans"/>
                <a:cs typeface="DejaVu Sans"/>
              </a:rPr>
              <a:t>الفئات والشروط والخطوات</a:t>
            </a:r>
          </a:p>
        </p:txBody>
      </p:sp>
      <p:sp>
        <p:nvSpPr>
          <p:cNvPr id="10" name="مستطيل: زوايا مستديرة 9">
            <a:extLst>
              <a:ext uri="{FF2B5EF4-FFF2-40B4-BE49-F238E27FC236}">
                <a16:creationId xmlns:a16="http://schemas.microsoft.com/office/drawing/2014/main" id="{A46DE3EE-6803-4437-9DEE-796AA878117B}"/>
              </a:ext>
            </a:extLst>
          </p:cNvPr>
          <p:cNvSpPr>
            <a:spLocks noGrp="1"/>
          </p:cNvSpPr>
          <p:nvPr/>
        </p:nvSpPr>
        <p:spPr>
          <a:xfrm>
            <a:off x="10001250" y="3133725"/>
            <a:ext cx="685800" cy="495300"/>
          </a:xfrm>
          <a:prstGeom prst="roundRect">
            <a:avLst>
              <a:gd name="adj" fmla="val 15385"/>
            </a:avLst>
          </a:prstGeom>
          <a:solidFill>
            <a:srgbClr val="7030A0"/>
          </a:solidFill>
          <a:ln w="0">
            <a:noFill/>
          </a:ln>
        </p:spPr>
        <p:txBody>
          <a:bodyPr lIns="57150" tIns="38100" rIns="57150" bIns="38100" anchor="ctr">
            <a:normAutofit/>
          </a:bodyPr>
          <a:lstStyle/>
          <a:p>
            <a:pPr algn="ctr" rtl="1">
              <a:lnSpc>
                <a:spcPct val="10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03</a:t>
            </a:r>
          </a:p>
        </p:txBody>
      </p:sp>
      <p:sp>
        <p:nvSpPr>
          <p:cNvPr id="11" name="مستطيل 10">
            <a:extLst>
              <a:ext uri="{FF2B5EF4-FFF2-40B4-BE49-F238E27FC236}">
                <a16:creationId xmlns:a16="http://schemas.microsoft.com/office/drawing/2014/main" id="{71294374-D3EA-426F-AEF8-84C1811B784E}"/>
              </a:ext>
            </a:extLst>
          </p:cNvPr>
          <p:cNvSpPr>
            <a:spLocks noGrp="1"/>
          </p:cNvSpPr>
          <p:nvPr/>
        </p:nvSpPr>
        <p:spPr>
          <a:xfrm>
            <a:off x="7810500" y="3133725"/>
            <a:ext cx="2047875" cy="495300"/>
          </a:xfrm>
          <a:prstGeom prst="rect">
            <a:avLst/>
          </a:prstGeom>
          <a:noFill/>
          <a:ln w="0">
            <a:noFill/>
          </a:ln>
        </p:spPr>
        <p:txBody>
          <a:bodyPr lIns="57150" tIns="38100" rIns="57150" bIns="38100" anchor="ctr">
            <a:normAutofit/>
          </a:bodyPr>
          <a:lstStyle/>
          <a:p>
            <a:pPr algn="r" rtl="1">
              <a:lnSpc>
                <a:spcPct val="105000"/>
              </a:lnSpc>
              <a:buNone/>
              <a:defRPr sz="1725" b="1">
                <a:solidFill>
                  <a:srgbClr val="542278"/>
                </a:solidFill>
                <a:latin typeface="DejaVu Sans"/>
                <a:ea typeface="DejaVu Sans"/>
                <a:cs typeface="DejaVu Sans"/>
              </a:defRPr>
            </a:pPr>
            <a:r>
              <a:rPr sz="1725" b="1">
                <a:solidFill>
                  <a:srgbClr val="542278"/>
                </a:solidFill>
                <a:latin typeface="DejaVu Sans"/>
                <a:ea typeface="DejaVu Sans"/>
                <a:cs typeface="DejaVu Sans"/>
              </a:rPr>
              <a:t>المسارات</a:t>
            </a:r>
          </a:p>
        </p:txBody>
      </p:sp>
      <p:sp>
        <p:nvSpPr>
          <p:cNvPr id="12" name="مستطيل 11">
            <a:extLst>
              <a:ext uri="{FF2B5EF4-FFF2-40B4-BE49-F238E27FC236}">
                <a16:creationId xmlns:a16="http://schemas.microsoft.com/office/drawing/2014/main" id="{F1CFB005-A6B0-4ECE-BA8C-3248DA298D65}"/>
              </a:ext>
            </a:extLst>
          </p:cNvPr>
          <p:cNvSpPr>
            <a:spLocks noGrp="1"/>
          </p:cNvSpPr>
          <p:nvPr/>
        </p:nvSpPr>
        <p:spPr>
          <a:xfrm>
            <a:off x="1714500" y="3133725"/>
            <a:ext cx="5953125" cy="495300"/>
          </a:xfrm>
          <a:prstGeom prst="rect">
            <a:avLst/>
          </a:prstGeom>
          <a:noFill/>
          <a:ln w="0">
            <a:noFill/>
          </a:ln>
        </p:spPr>
        <p:txBody>
          <a:bodyPr lIns="57150" tIns="38100" rIns="57150" bIns="38100" anchor="ctr">
            <a:normAutofit/>
          </a:bodyPr>
          <a:lstStyle/>
          <a:p>
            <a:pPr algn="r" rtl="1">
              <a:lnSpc>
                <a:spcPct val="105000"/>
              </a:lnSpc>
              <a:buNone/>
              <a:defRPr sz="1500" b="0">
                <a:solidFill>
                  <a:srgbClr val="17121B"/>
                </a:solidFill>
                <a:latin typeface="DejaVu Sans"/>
                <a:ea typeface="DejaVu Sans"/>
                <a:cs typeface="DejaVu Sans"/>
              </a:defRPr>
            </a:pPr>
            <a:r>
              <a:rPr sz="1500" b="0">
                <a:solidFill>
                  <a:srgbClr val="17121B"/>
                </a:solidFill>
                <a:latin typeface="DejaVu Sans"/>
                <a:ea typeface="DejaVu Sans"/>
                <a:cs typeface="DejaVu Sans"/>
              </a:rPr>
              <a:t>مساران للأفراد ومساران للمنظمات</a:t>
            </a:r>
          </a:p>
        </p:txBody>
      </p:sp>
      <p:sp>
        <p:nvSpPr>
          <p:cNvPr id="13" name="مستطيل: زوايا مستديرة 12">
            <a:extLst>
              <a:ext uri="{FF2B5EF4-FFF2-40B4-BE49-F238E27FC236}">
                <a16:creationId xmlns:a16="http://schemas.microsoft.com/office/drawing/2014/main" id="{59C93EB6-E4E1-48C2-9793-8622F84CE595}"/>
              </a:ext>
            </a:extLst>
          </p:cNvPr>
          <p:cNvSpPr>
            <a:spLocks noGrp="1"/>
          </p:cNvSpPr>
          <p:nvPr/>
        </p:nvSpPr>
        <p:spPr>
          <a:xfrm>
            <a:off x="10001250" y="3914775"/>
            <a:ext cx="685800" cy="495300"/>
          </a:xfrm>
          <a:prstGeom prst="roundRect">
            <a:avLst>
              <a:gd name="adj" fmla="val 15385"/>
            </a:avLst>
          </a:prstGeom>
          <a:solidFill>
            <a:srgbClr val="1F9FCC"/>
          </a:solidFill>
          <a:ln w="0">
            <a:noFill/>
          </a:ln>
        </p:spPr>
        <p:txBody>
          <a:bodyPr lIns="57150" tIns="38100" rIns="57150" bIns="38100" anchor="ctr">
            <a:normAutofit/>
          </a:bodyPr>
          <a:lstStyle/>
          <a:p>
            <a:pPr algn="ctr" rtl="1">
              <a:lnSpc>
                <a:spcPct val="10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04</a:t>
            </a:r>
          </a:p>
        </p:txBody>
      </p:sp>
      <p:sp>
        <p:nvSpPr>
          <p:cNvPr id="14" name="مستطيل 13">
            <a:extLst>
              <a:ext uri="{FF2B5EF4-FFF2-40B4-BE49-F238E27FC236}">
                <a16:creationId xmlns:a16="http://schemas.microsoft.com/office/drawing/2014/main" id="{38F15F9E-1E49-4611-9E5C-45AD70104B3B}"/>
              </a:ext>
            </a:extLst>
          </p:cNvPr>
          <p:cNvSpPr>
            <a:spLocks noGrp="1"/>
          </p:cNvSpPr>
          <p:nvPr/>
        </p:nvSpPr>
        <p:spPr>
          <a:xfrm>
            <a:off x="7810500" y="3914775"/>
            <a:ext cx="2047875" cy="495300"/>
          </a:xfrm>
          <a:prstGeom prst="rect">
            <a:avLst/>
          </a:prstGeom>
          <a:noFill/>
          <a:ln w="0">
            <a:noFill/>
          </a:ln>
        </p:spPr>
        <p:txBody>
          <a:bodyPr lIns="57150" tIns="38100" rIns="57150" bIns="38100" anchor="ctr">
            <a:normAutofit/>
          </a:bodyPr>
          <a:lstStyle/>
          <a:p>
            <a:pPr algn="r" rtl="1">
              <a:lnSpc>
                <a:spcPct val="105000"/>
              </a:lnSpc>
              <a:buNone/>
              <a:defRPr sz="1725" b="1">
                <a:solidFill>
                  <a:srgbClr val="542278"/>
                </a:solidFill>
                <a:latin typeface="DejaVu Sans"/>
                <a:ea typeface="DejaVu Sans"/>
                <a:cs typeface="DejaVu Sans"/>
              </a:defRPr>
            </a:pPr>
            <a:r>
              <a:rPr sz="1725" b="1">
                <a:solidFill>
                  <a:srgbClr val="542278"/>
                </a:solidFill>
                <a:latin typeface="DejaVu Sans"/>
                <a:ea typeface="DejaVu Sans"/>
                <a:cs typeface="DejaVu Sans"/>
              </a:rPr>
              <a:t>التقييم</a:t>
            </a:r>
          </a:p>
        </p:txBody>
      </p:sp>
      <p:sp>
        <p:nvSpPr>
          <p:cNvPr id="15" name="مستطيل 14">
            <a:extLst>
              <a:ext uri="{FF2B5EF4-FFF2-40B4-BE49-F238E27FC236}">
                <a16:creationId xmlns:a16="http://schemas.microsoft.com/office/drawing/2014/main" id="{3797777E-4059-4267-A7F8-F35FA04807EA}"/>
              </a:ext>
            </a:extLst>
          </p:cNvPr>
          <p:cNvSpPr>
            <a:spLocks noGrp="1"/>
          </p:cNvSpPr>
          <p:nvPr/>
        </p:nvSpPr>
        <p:spPr>
          <a:xfrm>
            <a:off x="1714500" y="3914775"/>
            <a:ext cx="5953125" cy="495300"/>
          </a:xfrm>
          <a:prstGeom prst="rect">
            <a:avLst/>
          </a:prstGeom>
          <a:noFill/>
          <a:ln w="0">
            <a:noFill/>
          </a:ln>
        </p:spPr>
        <p:txBody>
          <a:bodyPr lIns="57150" tIns="38100" rIns="57150" bIns="38100" anchor="ctr">
            <a:normAutofit/>
          </a:bodyPr>
          <a:lstStyle/>
          <a:p>
            <a:pPr algn="r" rtl="1">
              <a:lnSpc>
                <a:spcPct val="105000"/>
              </a:lnSpc>
              <a:buNone/>
              <a:defRPr sz="1500" b="0">
                <a:solidFill>
                  <a:srgbClr val="17121B"/>
                </a:solidFill>
                <a:latin typeface="DejaVu Sans"/>
                <a:ea typeface="DejaVu Sans"/>
                <a:cs typeface="DejaVu Sans"/>
              </a:defRPr>
            </a:pPr>
            <a:r>
              <a:rPr sz="1500" b="0">
                <a:solidFill>
                  <a:srgbClr val="17121B"/>
                </a:solidFill>
                <a:latin typeface="DejaVu Sans"/>
                <a:ea typeface="DejaVu Sans"/>
                <a:cs typeface="DejaVu Sans"/>
              </a:rPr>
              <a:t>الشواهد والمعايير والتحكيم</a:t>
            </a:r>
          </a:p>
        </p:txBody>
      </p:sp>
      <p:sp>
        <p:nvSpPr>
          <p:cNvPr id="16" name="مستطيل: زوايا مستديرة 15">
            <a:extLst>
              <a:ext uri="{FF2B5EF4-FFF2-40B4-BE49-F238E27FC236}">
                <a16:creationId xmlns:a16="http://schemas.microsoft.com/office/drawing/2014/main" id="{02D746B8-723B-428E-8995-50DF3F0D86A9}"/>
              </a:ext>
            </a:extLst>
          </p:cNvPr>
          <p:cNvSpPr>
            <a:spLocks noGrp="1"/>
          </p:cNvSpPr>
          <p:nvPr/>
        </p:nvSpPr>
        <p:spPr>
          <a:xfrm>
            <a:off x="10001250" y="4695825"/>
            <a:ext cx="685800" cy="495300"/>
          </a:xfrm>
          <a:prstGeom prst="roundRect">
            <a:avLst>
              <a:gd name="adj" fmla="val 15385"/>
            </a:avLst>
          </a:prstGeom>
          <a:solidFill>
            <a:srgbClr val="7030A0"/>
          </a:solidFill>
          <a:ln w="0">
            <a:noFill/>
          </a:ln>
        </p:spPr>
        <p:txBody>
          <a:bodyPr lIns="57150" tIns="38100" rIns="57150" bIns="38100" anchor="ctr">
            <a:normAutofit/>
          </a:bodyPr>
          <a:lstStyle/>
          <a:p>
            <a:pPr algn="ctr" rtl="1">
              <a:lnSpc>
                <a:spcPct val="10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05</a:t>
            </a:r>
          </a:p>
        </p:txBody>
      </p:sp>
      <p:sp>
        <p:nvSpPr>
          <p:cNvPr id="17" name="مستطيل 16">
            <a:extLst>
              <a:ext uri="{FF2B5EF4-FFF2-40B4-BE49-F238E27FC236}">
                <a16:creationId xmlns:a16="http://schemas.microsoft.com/office/drawing/2014/main" id="{D6E25A00-5BE8-4E52-90E8-680AA6FFD699}"/>
              </a:ext>
            </a:extLst>
          </p:cNvPr>
          <p:cNvSpPr>
            <a:spLocks noGrp="1"/>
          </p:cNvSpPr>
          <p:nvPr/>
        </p:nvSpPr>
        <p:spPr>
          <a:xfrm>
            <a:off x="7810500" y="4695825"/>
            <a:ext cx="2047875" cy="495300"/>
          </a:xfrm>
          <a:prstGeom prst="rect">
            <a:avLst/>
          </a:prstGeom>
          <a:noFill/>
          <a:ln w="0">
            <a:noFill/>
          </a:ln>
        </p:spPr>
        <p:txBody>
          <a:bodyPr lIns="57150" tIns="38100" rIns="57150" bIns="38100" anchor="ctr">
            <a:normAutofit/>
          </a:bodyPr>
          <a:lstStyle/>
          <a:p>
            <a:pPr algn="r" rtl="1">
              <a:lnSpc>
                <a:spcPct val="105000"/>
              </a:lnSpc>
              <a:buNone/>
              <a:defRPr sz="1725" b="1">
                <a:solidFill>
                  <a:srgbClr val="542278"/>
                </a:solidFill>
                <a:latin typeface="DejaVu Sans"/>
                <a:ea typeface="DejaVu Sans"/>
                <a:cs typeface="DejaVu Sans"/>
              </a:defRPr>
            </a:pPr>
            <a:r>
              <a:rPr sz="1725" b="1">
                <a:solidFill>
                  <a:srgbClr val="542278"/>
                </a:solidFill>
                <a:latin typeface="DejaVu Sans"/>
                <a:ea typeface="DejaVu Sans"/>
                <a:cs typeface="DejaVu Sans"/>
              </a:rPr>
              <a:t>التكريم</a:t>
            </a:r>
          </a:p>
        </p:txBody>
      </p:sp>
      <p:sp>
        <p:nvSpPr>
          <p:cNvPr id="18" name="مستطيل 17">
            <a:extLst>
              <a:ext uri="{FF2B5EF4-FFF2-40B4-BE49-F238E27FC236}">
                <a16:creationId xmlns:a16="http://schemas.microsoft.com/office/drawing/2014/main" id="{AB7255C6-98C2-4D65-B5F4-5F3775E1BEA9}"/>
              </a:ext>
            </a:extLst>
          </p:cNvPr>
          <p:cNvSpPr>
            <a:spLocks noGrp="1"/>
          </p:cNvSpPr>
          <p:nvPr/>
        </p:nvSpPr>
        <p:spPr>
          <a:xfrm>
            <a:off x="1714500" y="4695825"/>
            <a:ext cx="5953125" cy="495300"/>
          </a:xfrm>
          <a:prstGeom prst="rect">
            <a:avLst/>
          </a:prstGeom>
          <a:noFill/>
          <a:ln w="0">
            <a:noFill/>
          </a:ln>
        </p:spPr>
        <p:txBody>
          <a:bodyPr lIns="57150" tIns="38100" rIns="57150" bIns="38100" anchor="ctr">
            <a:normAutofit/>
          </a:bodyPr>
          <a:lstStyle/>
          <a:p>
            <a:pPr algn="r" rtl="1">
              <a:lnSpc>
                <a:spcPct val="105000"/>
              </a:lnSpc>
              <a:buNone/>
              <a:defRPr sz="1500" b="0">
                <a:solidFill>
                  <a:srgbClr val="17121B"/>
                </a:solidFill>
                <a:latin typeface="DejaVu Sans"/>
                <a:ea typeface="DejaVu Sans"/>
                <a:cs typeface="DejaVu Sans"/>
              </a:defRPr>
            </a:pPr>
            <a:r>
              <a:rPr sz="1500" b="0">
                <a:solidFill>
                  <a:srgbClr val="17121B"/>
                </a:solidFill>
                <a:latin typeface="DejaVu Sans"/>
                <a:ea typeface="DejaVu Sans"/>
                <a:cs typeface="DejaVu Sans"/>
              </a:rPr>
              <a:t>الجوائز والأحكام ومعلومات الدورة</a:t>
            </a:r>
          </a:p>
        </p:txBody>
      </p:sp>
    </p:spTree>
    <p:extLst>
      <p:ext uri="{BB962C8B-B14F-4D97-AF65-F5344CB8AC3E}">
        <p14:creationId xmlns:p14="http://schemas.microsoft.com/office/powerpoint/2010/main" val="1367928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3"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4251BFD1-44F0-4EEB-A667-975837598B4C}"/>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03</a:t>
            </a:r>
          </a:p>
        </p:txBody>
      </p:sp>
      <p:sp>
        <p:nvSpPr>
          <p:cNvPr id="3" name="slide-title">
            <a:extLst>
              <a:ext uri="{FF2B5EF4-FFF2-40B4-BE49-F238E27FC236}">
                <a16:creationId xmlns:a16="http://schemas.microsoft.com/office/drawing/2014/main" id="{A91353BE-9EDC-46CC-937A-61C2F02164BC}"/>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dirty="0" err="1">
                <a:solidFill>
                  <a:srgbClr val="542278"/>
                </a:solidFill>
                <a:latin typeface="DejaVu Sans"/>
                <a:ea typeface="DejaVu Sans"/>
                <a:cs typeface="DejaVu Sans"/>
              </a:rPr>
              <a:t>مقدمة</a:t>
            </a:r>
            <a:endParaRPr sz="2550" b="1" dirty="0">
              <a:solidFill>
                <a:srgbClr val="542278"/>
              </a:solidFill>
              <a:latin typeface="DejaVu Sans"/>
              <a:ea typeface="DejaVu Sans"/>
              <a:cs typeface="DejaVu Sans"/>
            </a:endParaRPr>
          </a:p>
        </p:txBody>
      </p:sp>
      <p:sp>
        <p:nvSpPr>
          <p:cNvPr id="4" name="slide-subtitle">
            <a:extLst>
              <a:ext uri="{FF2B5EF4-FFF2-40B4-BE49-F238E27FC236}">
                <a16:creationId xmlns:a16="http://schemas.microsoft.com/office/drawing/2014/main" id="{F566893D-70BB-49A5-A5A6-89E3032E7032}"/>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لماذا جائزة متخصصة في المبادرات القرائية؟</a:t>
            </a:r>
          </a:p>
        </p:txBody>
      </p:sp>
      <p:sp>
        <p:nvSpPr>
          <p:cNvPr id="5" name="مستطيل 4">
            <a:extLst>
              <a:ext uri="{FF2B5EF4-FFF2-40B4-BE49-F238E27FC236}">
                <a16:creationId xmlns:a16="http://schemas.microsoft.com/office/drawing/2014/main" id="{3D229CC3-06D6-4F85-9122-45823D1E2EA6}"/>
              </a:ext>
            </a:extLst>
          </p:cNvPr>
          <p:cNvSpPr>
            <a:spLocks noGrp="1"/>
          </p:cNvSpPr>
          <p:nvPr/>
        </p:nvSpPr>
        <p:spPr>
          <a:xfrm>
            <a:off x="1476375" y="1619250"/>
            <a:ext cx="9239250" cy="1285875"/>
          </a:xfrm>
          <a:prstGeom prst="rect">
            <a:avLst/>
          </a:prstGeom>
          <a:noFill/>
          <a:ln w="0">
            <a:noFill/>
          </a:ln>
        </p:spPr>
        <p:txBody>
          <a:bodyPr lIns="76200" tIns="57150" rIns="76200" bIns="57150" anchor="t">
            <a:normAutofit/>
          </a:bodyPr>
          <a:lstStyle/>
          <a:p>
            <a:pPr algn="r" rtl="1">
              <a:lnSpc>
                <a:spcPct val="112000"/>
              </a:lnSpc>
              <a:buNone/>
              <a:defRPr sz="1800" b="0">
                <a:solidFill>
                  <a:srgbClr val="17121B"/>
                </a:solidFill>
                <a:latin typeface="DejaVu Sans"/>
                <a:ea typeface="DejaVu Sans"/>
                <a:cs typeface="DejaVu Sans"/>
              </a:defRPr>
            </a:pPr>
            <a:r>
              <a:rPr sz="1800" b="0">
                <a:solidFill>
                  <a:srgbClr val="17121B"/>
                </a:solidFill>
                <a:latin typeface="DejaVu Sans"/>
                <a:ea typeface="DejaVu Sans"/>
                <a:cs typeface="DejaVu Sans"/>
              </a:rPr>
              <a:t>تتجاوز القراءة كونها نشاطًا فرديًا إلى ممارسة تصنع المعرفة، وتوسّع الخيال، وتنمّي الحوار، وتربط الإنسان بمجتمعه. وعندما تتحول الأفكار القرائية إلى مبادرات وتجارب ومنظومات جيدة التصميم يصبح أثرها أعمق وأكثر قدرة على الاستمرار والوصول.</a:t>
            </a:r>
          </a:p>
        </p:txBody>
      </p:sp>
      <p:sp>
        <p:nvSpPr>
          <p:cNvPr id="6" name="مستطيل 5">
            <a:extLst>
              <a:ext uri="{FF2B5EF4-FFF2-40B4-BE49-F238E27FC236}">
                <a16:creationId xmlns:a16="http://schemas.microsoft.com/office/drawing/2014/main" id="{10EB4853-C9C8-4482-B6A6-DF0FD9D3D91B}"/>
              </a:ext>
            </a:extLst>
          </p:cNvPr>
          <p:cNvSpPr>
            <a:spLocks noGrp="1"/>
          </p:cNvSpPr>
          <p:nvPr/>
        </p:nvSpPr>
        <p:spPr>
          <a:xfrm>
            <a:off x="1476375" y="3190875"/>
            <a:ext cx="9239250" cy="1095375"/>
          </a:xfrm>
          <a:prstGeom prst="rect">
            <a:avLst/>
          </a:prstGeom>
          <a:noFill/>
          <a:ln w="0">
            <a:noFill/>
          </a:ln>
        </p:spPr>
        <p:txBody>
          <a:bodyPr lIns="76200" tIns="57150" rIns="76200" bIns="57150" anchor="t">
            <a:normAutofit/>
          </a:bodyPr>
          <a:lstStyle/>
          <a:p>
            <a:pPr algn="r" rtl="1">
              <a:lnSpc>
                <a:spcPct val="112000"/>
              </a:lnSpc>
              <a:buNone/>
              <a:defRPr sz="1800" b="0">
                <a:solidFill>
                  <a:srgbClr val="17121B"/>
                </a:solidFill>
                <a:latin typeface="DejaVu Sans"/>
                <a:ea typeface="DejaVu Sans"/>
                <a:cs typeface="DejaVu Sans"/>
              </a:defRPr>
            </a:pPr>
            <a:r>
              <a:rPr sz="1800" b="0">
                <a:solidFill>
                  <a:srgbClr val="17121B"/>
                </a:solidFill>
                <a:latin typeface="DejaVu Sans"/>
                <a:ea typeface="DejaVu Sans"/>
                <a:cs typeface="DejaVu Sans"/>
              </a:rPr>
              <a:t>تأتي جائزة وهج الثقافية لتبرز أصحاب الأثر، وتكتشف الحلول الواعدة، وترفع جودة المبادرات المجتمعية، وتشجع المنظمات على الانتقال من الأنشطة الموسمية إلى نماذج قرائية مؤسسية قابلة للنمو.</a:t>
            </a:r>
          </a:p>
        </p:txBody>
      </p:sp>
      <p:sp>
        <p:nvSpPr>
          <p:cNvPr id="7" name="مستطيل 6">
            <a:extLst>
              <a:ext uri="{FF2B5EF4-FFF2-40B4-BE49-F238E27FC236}">
                <a16:creationId xmlns:a16="http://schemas.microsoft.com/office/drawing/2014/main" id="{792E3950-1086-4069-992D-E49AC0ED2DA9}"/>
              </a:ext>
            </a:extLst>
          </p:cNvPr>
          <p:cNvSpPr>
            <a:spLocks noGrp="1"/>
          </p:cNvSpPr>
          <p:nvPr/>
        </p:nvSpPr>
        <p:spPr>
          <a:xfrm>
            <a:off x="2000250" y="4762500"/>
            <a:ext cx="8191500" cy="714375"/>
          </a:xfrm>
          <a:prstGeom prst="rect">
            <a:avLst/>
          </a:prstGeom>
          <a:noFill/>
          <a:ln w="0">
            <a:noFill/>
          </a:ln>
        </p:spPr>
        <p:txBody>
          <a:bodyPr lIns="57150" tIns="38100" rIns="57150" bIns="38100" anchor="ctr">
            <a:normAutofit/>
          </a:bodyPr>
          <a:lstStyle/>
          <a:p>
            <a:pPr algn="ctr" rtl="1">
              <a:lnSpc>
                <a:spcPct val="105000"/>
              </a:lnSpc>
              <a:buNone/>
              <a:defRPr sz="1650" b="1">
                <a:solidFill>
                  <a:srgbClr val="542278"/>
                </a:solidFill>
                <a:latin typeface="DejaVu Sans"/>
                <a:ea typeface="DejaVu Sans"/>
                <a:cs typeface="DejaVu Sans"/>
              </a:defRPr>
            </a:pPr>
            <a:r>
              <a:rPr sz="1650" b="1">
                <a:solidFill>
                  <a:srgbClr val="542278"/>
                </a:solidFill>
                <a:latin typeface="DejaVu Sans"/>
                <a:ea typeface="DejaVu Sans"/>
                <a:cs typeface="DejaVu Sans"/>
              </a:rPr>
              <a:t>تكريم الأثر القائم، واكتشاف الفكرة الواعدة، والارتقاء بالتجربة المجتمعية، وترسيخ الاستدامة المؤسسية</a:t>
            </a:r>
          </a:p>
        </p:txBody>
      </p:sp>
    </p:spTree>
    <p:extLst>
      <p:ext uri="{BB962C8B-B14F-4D97-AF65-F5344CB8AC3E}">
        <p14:creationId xmlns:p14="http://schemas.microsoft.com/office/powerpoint/2010/main" val="2034568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4"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05502D13-C8EB-434C-9E8F-DA937890A306}"/>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04</a:t>
            </a:r>
          </a:p>
        </p:txBody>
      </p:sp>
      <p:sp>
        <p:nvSpPr>
          <p:cNvPr id="3" name="slide-title">
            <a:extLst>
              <a:ext uri="{FF2B5EF4-FFF2-40B4-BE49-F238E27FC236}">
                <a16:creationId xmlns:a16="http://schemas.microsoft.com/office/drawing/2014/main" id="{F50BDD15-ADBC-4895-8361-44A133C0E33B}"/>
              </a:ext>
            </a:extLst>
          </p:cNvPr>
          <p:cNvSpPr>
            <a:spLocks noGrp="1"/>
          </p:cNvSpPr>
          <p:nvPr/>
        </p:nvSpPr>
        <p:spPr>
          <a:xfrm>
            <a:off x="4191000" y="1428750"/>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عن جائزة وهج</a:t>
            </a:r>
          </a:p>
        </p:txBody>
      </p:sp>
      <p:sp>
        <p:nvSpPr>
          <p:cNvPr id="4" name="مستطيل 3">
            <a:extLst>
              <a:ext uri="{FF2B5EF4-FFF2-40B4-BE49-F238E27FC236}">
                <a16:creationId xmlns:a16="http://schemas.microsoft.com/office/drawing/2014/main" id="{A08B6D50-C936-4600-B8E8-47FD4018F50A}"/>
              </a:ext>
            </a:extLst>
          </p:cNvPr>
          <p:cNvSpPr>
            <a:spLocks noGrp="1"/>
          </p:cNvSpPr>
          <p:nvPr/>
        </p:nvSpPr>
        <p:spPr>
          <a:xfrm>
            <a:off x="7239000" y="2095500"/>
            <a:ext cx="3429000" cy="438150"/>
          </a:xfrm>
          <a:prstGeom prst="rect">
            <a:avLst/>
          </a:prstGeom>
          <a:noFill/>
          <a:ln w="0">
            <a:noFill/>
          </a:ln>
        </p:spPr>
        <p:txBody>
          <a:bodyPr lIns="57150" tIns="38100" rIns="57150" bIns="38100" anchor="t">
            <a:normAutofit/>
          </a:bodyPr>
          <a:lstStyle/>
          <a:p>
            <a:pPr algn="r" rtl="1">
              <a:lnSpc>
                <a:spcPct val="105000"/>
              </a:lnSpc>
              <a:buNone/>
              <a:defRPr sz="1950" b="1">
                <a:solidFill>
                  <a:srgbClr val="542278"/>
                </a:solidFill>
                <a:latin typeface="DejaVu Sans"/>
                <a:ea typeface="DejaVu Sans"/>
                <a:cs typeface="DejaVu Sans"/>
              </a:defRPr>
            </a:pPr>
            <a:r>
              <a:rPr sz="1950" b="1">
                <a:solidFill>
                  <a:srgbClr val="542278"/>
                </a:solidFill>
                <a:latin typeface="DejaVu Sans"/>
                <a:ea typeface="DejaVu Sans"/>
                <a:cs typeface="DejaVu Sans"/>
              </a:rPr>
              <a:t>فكرة الجائزة</a:t>
            </a:r>
          </a:p>
        </p:txBody>
      </p:sp>
      <p:sp>
        <p:nvSpPr>
          <p:cNvPr id="5" name="مستطيل 4">
            <a:extLst>
              <a:ext uri="{FF2B5EF4-FFF2-40B4-BE49-F238E27FC236}">
                <a16:creationId xmlns:a16="http://schemas.microsoft.com/office/drawing/2014/main" id="{4107A55A-8107-45D4-A468-4F52A2CE746E}"/>
              </a:ext>
            </a:extLst>
          </p:cNvPr>
          <p:cNvSpPr>
            <a:spLocks noGrp="1"/>
          </p:cNvSpPr>
          <p:nvPr/>
        </p:nvSpPr>
        <p:spPr>
          <a:xfrm>
            <a:off x="6191250" y="2571750"/>
            <a:ext cx="4476750" cy="1857375"/>
          </a:xfrm>
          <a:prstGeom prst="rect">
            <a:avLst/>
          </a:prstGeom>
          <a:noFill/>
          <a:ln w="0">
            <a:noFill/>
          </a:ln>
        </p:spPr>
        <p:txBody>
          <a:bodyPr lIns="76200" tIns="57150" rIns="76200" bIns="57150" anchor="t">
            <a:normAutofit/>
          </a:bodyPr>
          <a:lstStyle/>
          <a:p>
            <a:pPr algn="r" rtl="1">
              <a:lnSpc>
                <a:spcPct val="112000"/>
              </a:lnSpc>
              <a:buNone/>
              <a:defRPr sz="1650" b="0">
                <a:solidFill>
                  <a:srgbClr val="17121B"/>
                </a:solidFill>
                <a:latin typeface="DejaVu Sans"/>
                <a:ea typeface="DejaVu Sans"/>
                <a:cs typeface="DejaVu Sans"/>
              </a:defRPr>
            </a:pPr>
            <a:r>
              <a:rPr sz="1650" b="0">
                <a:solidFill>
                  <a:srgbClr val="17121B"/>
                </a:solidFill>
                <a:latin typeface="DejaVu Sans"/>
                <a:ea typeface="DejaVu Sans"/>
                <a:cs typeface="DejaVu Sans"/>
              </a:rPr>
              <a:t>منافسة ثقافية متخصصة تحتفي بالأعمال التي تجعل القراءة أكثر حضورًا وجاذبية ووصولًا واستمرارًا، سواء قادها فرد، أو بدأت كفكرة مبتكرة، أو نفذتها منظمة، أو تطورت إلى منظومة مؤسسية متكاملة.</a:t>
            </a:r>
          </a:p>
        </p:txBody>
      </p:sp>
      <p:sp>
        <p:nvSpPr>
          <p:cNvPr id="6" name="مستطيل 5">
            <a:extLst>
              <a:ext uri="{FF2B5EF4-FFF2-40B4-BE49-F238E27FC236}">
                <a16:creationId xmlns:a16="http://schemas.microsoft.com/office/drawing/2014/main" id="{D4234A12-4866-42D5-B56D-E0D8A2445A62}"/>
              </a:ext>
            </a:extLst>
          </p:cNvPr>
          <p:cNvSpPr>
            <a:spLocks noGrp="1"/>
          </p:cNvSpPr>
          <p:nvPr/>
        </p:nvSpPr>
        <p:spPr>
          <a:xfrm>
            <a:off x="2095500" y="2095500"/>
            <a:ext cx="3429000" cy="438150"/>
          </a:xfrm>
          <a:prstGeom prst="rect">
            <a:avLst/>
          </a:prstGeom>
          <a:noFill/>
          <a:ln w="0">
            <a:noFill/>
          </a:ln>
        </p:spPr>
        <p:txBody>
          <a:bodyPr lIns="57150" tIns="38100" rIns="57150" bIns="38100" anchor="t">
            <a:normAutofit/>
          </a:bodyPr>
          <a:lstStyle/>
          <a:p>
            <a:pPr algn="r" rtl="1">
              <a:lnSpc>
                <a:spcPct val="105000"/>
              </a:lnSpc>
              <a:buNone/>
              <a:defRPr sz="1950" b="1">
                <a:solidFill>
                  <a:srgbClr val="542278"/>
                </a:solidFill>
                <a:latin typeface="DejaVu Sans"/>
                <a:ea typeface="DejaVu Sans"/>
                <a:cs typeface="DejaVu Sans"/>
              </a:defRPr>
            </a:pPr>
            <a:r>
              <a:rPr sz="1950" b="1">
                <a:solidFill>
                  <a:srgbClr val="542278"/>
                </a:solidFill>
                <a:latin typeface="DejaVu Sans"/>
                <a:ea typeface="DejaVu Sans"/>
                <a:cs typeface="DejaVu Sans"/>
              </a:rPr>
              <a:t>تعريف الجائزة</a:t>
            </a:r>
          </a:p>
        </p:txBody>
      </p:sp>
      <p:sp>
        <p:nvSpPr>
          <p:cNvPr id="7" name="مستطيل 6">
            <a:extLst>
              <a:ext uri="{FF2B5EF4-FFF2-40B4-BE49-F238E27FC236}">
                <a16:creationId xmlns:a16="http://schemas.microsoft.com/office/drawing/2014/main" id="{FE68C745-902A-4F04-B1D3-DDBDEC988ACE}"/>
              </a:ext>
            </a:extLst>
          </p:cNvPr>
          <p:cNvSpPr>
            <a:spLocks noGrp="1"/>
          </p:cNvSpPr>
          <p:nvPr/>
        </p:nvSpPr>
        <p:spPr>
          <a:xfrm>
            <a:off x="1524000" y="2571750"/>
            <a:ext cx="4476750" cy="1857375"/>
          </a:xfrm>
          <a:prstGeom prst="rect">
            <a:avLst/>
          </a:prstGeom>
          <a:noFill/>
          <a:ln w="0">
            <a:noFill/>
          </a:ln>
        </p:spPr>
        <p:txBody>
          <a:bodyPr lIns="76200" tIns="57150" rIns="76200" bIns="57150" anchor="t">
            <a:normAutofit/>
          </a:bodyPr>
          <a:lstStyle/>
          <a:p>
            <a:pPr algn="r" rtl="1">
              <a:lnSpc>
                <a:spcPct val="112000"/>
              </a:lnSpc>
              <a:buNone/>
              <a:defRPr sz="1650" b="0">
                <a:solidFill>
                  <a:srgbClr val="17121B"/>
                </a:solidFill>
                <a:latin typeface="DejaVu Sans"/>
                <a:ea typeface="DejaVu Sans"/>
                <a:cs typeface="DejaVu Sans"/>
              </a:defRPr>
            </a:pPr>
            <a:r>
              <a:rPr sz="1650" b="0">
                <a:solidFill>
                  <a:srgbClr val="17121B"/>
                </a:solidFill>
                <a:latin typeface="DejaVu Sans"/>
                <a:ea typeface="DejaVu Sans"/>
                <a:cs typeface="DejaVu Sans"/>
              </a:rPr>
              <a:t>جائزة دورية تُعنى بتكريم وتطوير المبادرات والأفكار والنماذج المؤسسية المرتبطة بالقراءة، وفق مسارات محددة ومعايير معلنة وشواهد قابلة للتحقق، وبإشراف لجان فرز وتقييم وتحكيم متخصصة.</a:t>
            </a:r>
          </a:p>
        </p:txBody>
      </p:sp>
      <p:sp>
        <p:nvSpPr>
          <p:cNvPr id="8" name="مستطيل: زوايا مستديرة 7">
            <a:extLst>
              <a:ext uri="{FF2B5EF4-FFF2-40B4-BE49-F238E27FC236}">
                <a16:creationId xmlns:a16="http://schemas.microsoft.com/office/drawing/2014/main" id="{E491DA57-1086-49E4-9911-704643A5E834}"/>
              </a:ext>
            </a:extLst>
          </p:cNvPr>
          <p:cNvSpPr>
            <a:spLocks noGrp="1"/>
          </p:cNvSpPr>
          <p:nvPr/>
        </p:nvSpPr>
        <p:spPr>
          <a:xfrm>
            <a:off x="2476500" y="5095875"/>
            <a:ext cx="7239000" cy="552450"/>
          </a:xfrm>
          <a:prstGeom prst="roundRect">
            <a:avLst>
              <a:gd name="adj" fmla="val 17241"/>
            </a:avLst>
          </a:prstGeom>
          <a:solidFill>
            <a:srgbClr val="7030A0"/>
          </a:solidFill>
          <a:ln w="0">
            <a:noFill/>
          </a:ln>
        </p:spPr>
        <p:txBody>
          <a:bodyPr lIns="57150" tIns="38100" rIns="57150" bIns="38100" anchor="ctr">
            <a:normAutofit fontScale="93846"/>
          </a:bodyPr>
          <a:lstStyle/>
          <a:p>
            <a:pPr algn="ctr" rtl="1">
              <a:lnSpc>
                <a:spcPct val="105000"/>
              </a:lnSpc>
              <a:buNone/>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أربع زوايا للتقييم: أثر منفذ، فكرة جديدة، تجربة مجتمعية، ومنظومة مستدامة</a:t>
            </a:r>
          </a:p>
        </p:txBody>
      </p:sp>
    </p:spTree>
    <p:extLst>
      <p:ext uri="{BB962C8B-B14F-4D97-AF65-F5344CB8AC3E}">
        <p14:creationId xmlns:p14="http://schemas.microsoft.com/office/powerpoint/2010/main" val="125863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5"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9C377794-9287-4A60-A631-5F4842004840}"/>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05</a:t>
            </a:r>
          </a:p>
        </p:txBody>
      </p:sp>
      <p:sp>
        <p:nvSpPr>
          <p:cNvPr id="3" name="slide-title">
            <a:extLst>
              <a:ext uri="{FF2B5EF4-FFF2-40B4-BE49-F238E27FC236}">
                <a16:creationId xmlns:a16="http://schemas.microsoft.com/office/drawing/2014/main" id="{E1E7B6D9-651A-4B3A-8BB6-AB9A1DD9EE90}"/>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الرؤية والرسالة والقيم</a:t>
            </a:r>
          </a:p>
        </p:txBody>
      </p:sp>
      <p:sp>
        <p:nvSpPr>
          <p:cNvPr id="4" name="مستطيل 3">
            <a:extLst>
              <a:ext uri="{FF2B5EF4-FFF2-40B4-BE49-F238E27FC236}">
                <a16:creationId xmlns:a16="http://schemas.microsoft.com/office/drawing/2014/main" id="{138546DB-DDE3-4B68-82DB-77F2D4AC9E0E}"/>
              </a:ext>
            </a:extLst>
          </p:cNvPr>
          <p:cNvSpPr>
            <a:spLocks noGrp="1"/>
          </p:cNvSpPr>
          <p:nvPr/>
        </p:nvSpPr>
        <p:spPr>
          <a:xfrm>
            <a:off x="8667750" y="1524000"/>
            <a:ext cx="2095500" cy="419100"/>
          </a:xfrm>
          <a:prstGeom prst="rect">
            <a:avLst/>
          </a:prstGeom>
          <a:noFill/>
          <a:ln w="0">
            <a:noFill/>
          </a:ln>
        </p:spPr>
        <p:txBody>
          <a:bodyPr lIns="57150" tIns="38100" rIns="57150" bIns="38100" anchor="t">
            <a:normAutofit/>
          </a:bodyPr>
          <a:lstStyle/>
          <a:p>
            <a:pPr algn="r" rtl="1">
              <a:lnSpc>
                <a:spcPct val="105000"/>
              </a:lnSpc>
              <a:buNone/>
              <a:defRPr sz="1875" b="1">
                <a:solidFill>
                  <a:srgbClr val="542278"/>
                </a:solidFill>
                <a:latin typeface="DejaVu Sans"/>
                <a:ea typeface="DejaVu Sans"/>
                <a:cs typeface="DejaVu Sans"/>
              </a:defRPr>
            </a:pPr>
            <a:r>
              <a:rPr sz="1875" b="1">
                <a:solidFill>
                  <a:srgbClr val="542278"/>
                </a:solidFill>
                <a:latin typeface="DejaVu Sans"/>
                <a:ea typeface="DejaVu Sans"/>
                <a:cs typeface="DejaVu Sans"/>
              </a:rPr>
              <a:t>الرؤية</a:t>
            </a:r>
          </a:p>
        </p:txBody>
      </p:sp>
      <p:sp>
        <p:nvSpPr>
          <p:cNvPr id="5" name="مستطيل 4">
            <a:extLst>
              <a:ext uri="{FF2B5EF4-FFF2-40B4-BE49-F238E27FC236}">
                <a16:creationId xmlns:a16="http://schemas.microsoft.com/office/drawing/2014/main" id="{DAAA6975-875D-4CAF-91D7-2982F56E346D}"/>
              </a:ext>
            </a:extLst>
          </p:cNvPr>
          <p:cNvSpPr>
            <a:spLocks noGrp="1"/>
          </p:cNvSpPr>
          <p:nvPr/>
        </p:nvSpPr>
        <p:spPr>
          <a:xfrm>
            <a:off x="6191250" y="2000250"/>
            <a:ext cx="4572000" cy="904875"/>
          </a:xfrm>
          <a:prstGeom prst="rect">
            <a:avLst/>
          </a:prstGeom>
          <a:noFill/>
          <a:ln w="0">
            <a:noFill/>
          </a:ln>
        </p:spPr>
        <p:txBody>
          <a:bodyPr lIns="76200" tIns="57150" rIns="76200" bIns="57150" anchor="t">
            <a:normAutofit/>
          </a:bodyPr>
          <a:lstStyle/>
          <a:p>
            <a:pPr algn="r" rtl="1">
              <a:lnSpc>
                <a:spcPct val="112000"/>
              </a:lnSpc>
              <a:buNone/>
              <a:defRPr sz="1725" b="0">
                <a:solidFill>
                  <a:srgbClr val="17121B"/>
                </a:solidFill>
                <a:latin typeface="DejaVu Sans"/>
                <a:ea typeface="DejaVu Sans"/>
                <a:cs typeface="DejaVu Sans"/>
              </a:defRPr>
            </a:pPr>
            <a:r>
              <a:rPr sz="1725" b="0">
                <a:solidFill>
                  <a:srgbClr val="17121B"/>
                </a:solidFill>
                <a:latin typeface="DejaVu Sans"/>
                <a:ea typeface="DejaVu Sans"/>
                <a:cs typeface="DejaVu Sans"/>
              </a:rPr>
              <a:t>مبادرات قرائية مبتكرة ومستدامة تصنع قارئًا فاعلًا ومجتمعًا أكثر معرفةً وتواصلًا.</a:t>
            </a:r>
          </a:p>
        </p:txBody>
      </p:sp>
      <p:sp>
        <p:nvSpPr>
          <p:cNvPr id="6" name="مستطيل 5">
            <a:extLst>
              <a:ext uri="{FF2B5EF4-FFF2-40B4-BE49-F238E27FC236}">
                <a16:creationId xmlns:a16="http://schemas.microsoft.com/office/drawing/2014/main" id="{46A041FD-CCAE-46F6-A26B-893CB3DCBC2E}"/>
              </a:ext>
            </a:extLst>
          </p:cNvPr>
          <p:cNvSpPr>
            <a:spLocks noGrp="1"/>
          </p:cNvSpPr>
          <p:nvPr/>
        </p:nvSpPr>
        <p:spPr>
          <a:xfrm>
            <a:off x="8667750" y="3143250"/>
            <a:ext cx="2095500" cy="419100"/>
          </a:xfrm>
          <a:prstGeom prst="rect">
            <a:avLst/>
          </a:prstGeom>
          <a:noFill/>
          <a:ln w="0">
            <a:noFill/>
          </a:ln>
        </p:spPr>
        <p:txBody>
          <a:bodyPr lIns="57150" tIns="38100" rIns="57150" bIns="38100" anchor="t">
            <a:normAutofit/>
          </a:bodyPr>
          <a:lstStyle/>
          <a:p>
            <a:pPr algn="r" rtl="1">
              <a:lnSpc>
                <a:spcPct val="105000"/>
              </a:lnSpc>
              <a:buNone/>
              <a:defRPr sz="1875" b="1">
                <a:solidFill>
                  <a:srgbClr val="542278"/>
                </a:solidFill>
                <a:latin typeface="DejaVu Sans"/>
                <a:ea typeface="DejaVu Sans"/>
                <a:cs typeface="DejaVu Sans"/>
              </a:defRPr>
            </a:pPr>
            <a:r>
              <a:rPr sz="1875" b="1">
                <a:solidFill>
                  <a:srgbClr val="542278"/>
                </a:solidFill>
                <a:latin typeface="DejaVu Sans"/>
                <a:ea typeface="DejaVu Sans"/>
                <a:cs typeface="DejaVu Sans"/>
              </a:rPr>
              <a:t>الرسالة</a:t>
            </a:r>
          </a:p>
        </p:txBody>
      </p:sp>
      <p:sp>
        <p:nvSpPr>
          <p:cNvPr id="7" name="مستطيل 6">
            <a:extLst>
              <a:ext uri="{FF2B5EF4-FFF2-40B4-BE49-F238E27FC236}">
                <a16:creationId xmlns:a16="http://schemas.microsoft.com/office/drawing/2014/main" id="{7A90CB33-43DE-4889-8FA5-78C266F0C1F3}"/>
              </a:ext>
            </a:extLst>
          </p:cNvPr>
          <p:cNvSpPr>
            <a:spLocks noGrp="1"/>
          </p:cNvSpPr>
          <p:nvPr/>
        </p:nvSpPr>
        <p:spPr>
          <a:xfrm>
            <a:off x="6191250" y="3619500"/>
            <a:ext cx="4572000" cy="1190625"/>
          </a:xfrm>
          <a:prstGeom prst="rect">
            <a:avLst/>
          </a:prstGeom>
          <a:noFill/>
          <a:ln w="0">
            <a:noFill/>
          </a:ln>
        </p:spPr>
        <p:txBody>
          <a:bodyPr lIns="76200" tIns="57150" rIns="76200" bIns="57150" anchor="t">
            <a:normAutofit fontScale="98439"/>
          </a:bodyPr>
          <a:lstStyle/>
          <a:p>
            <a:pPr algn="r" rtl="1">
              <a:lnSpc>
                <a:spcPct val="112000"/>
              </a:lnSpc>
              <a:buNone/>
              <a:defRPr sz="1650" b="0">
                <a:solidFill>
                  <a:srgbClr val="17121B"/>
                </a:solidFill>
                <a:latin typeface="DejaVu Sans"/>
                <a:ea typeface="DejaVu Sans"/>
                <a:cs typeface="DejaVu Sans"/>
              </a:defRPr>
            </a:pPr>
            <a:r>
              <a:rPr sz="1650" b="0">
                <a:solidFill>
                  <a:srgbClr val="17121B"/>
                </a:solidFill>
                <a:latin typeface="DejaVu Sans"/>
                <a:ea typeface="DejaVu Sans"/>
                <a:cs typeface="DejaVu Sans"/>
              </a:rPr>
              <a:t>تحفيز الأفراد والمنظمات على ابتكار وتنفيذ وتطوير مبادرات قرائية عالية الجودة، وإبراز النماذج الملهمة، ورفع القدرة على قياس الأثر واستدامته وتوسيعه.</a:t>
            </a:r>
          </a:p>
        </p:txBody>
      </p:sp>
      <p:sp>
        <p:nvSpPr>
          <p:cNvPr id="8" name="مستطيل 7">
            <a:extLst>
              <a:ext uri="{FF2B5EF4-FFF2-40B4-BE49-F238E27FC236}">
                <a16:creationId xmlns:a16="http://schemas.microsoft.com/office/drawing/2014/main" id="{011A5211-7B12-494E-8438-272138104376}"/>
              </a:ext>
            </a:extLst>
          </p:cNvPr>
          <p:cNvSpPr>
            <a:spLocks noGrp="1"/>
          </p:cNvSpPr>
          <p:nvPr/>
        </p:nvSpPr>
        <p:spPr>
          <a:xfrm>
            <a:off x="2000250" y="1524000"/>
            <a:ext cx="3429000" cy="419100"/>
          </a:xfrm>
          <a:prstGeom prst="rect">
            <a:avLst/>
          </a:prstGeom>
          <a:noFill/>
          <a:ln w="0">
            <a:noFill/>
          </a:ln>
        </p:spPr>
        <p:txBody>
          <a:bodyPr lIns="57150" tIns="38100" rIns="57150" bIns="38100" anchor="t">
            <a:normAutofit/>
          </a:bodyPr>
          <a:lstStyle/>
          <a:p>
            <a:pPr algn="r" rtl="1">
              <a:lnSpc>
                <a:spcPct val="105000"/>
              </a:lnSpc>
              <a:buNone/>
              <a:defRPr sz="1875" b="1">
                <a:solidFill>
                  <a:srgbClr val="542278"/>
                </a:solidFill>
                <a:latin typeface="DejaVu Sans"/>
                <a:ea typeface="DejaVu Sans"/>
                <a:cs typeface="DejaVu Sans"/>
              </a:defRPr>
            </a:pPr>
            <a:r>
              <a:rPr sz="1875" b="1">
                <a:solidFill>
                  <a:srgbClr val="542278"/>
                </a:solidFill>
                <a:latin typeface="DejaVu Sans"/>
                <a:ea typeface="DejaVu Sans"/>
                <a:cs typeface="DejaVu Sans"/>
              </a:rPr>
              <a:t>القيم الحاكمة</a:t>
            </a:r>
          </a:p>
        </p:txBody>
      </p:sp>
      <p:sp>
        <p:nvSpPr>
          <p:cNvPr id="9" name="مستطيل 8">
            <a:extLst>
              <a:ext uri="{FF2B5EF4-FFF2-40B4-BE49-F238E27FC236}">
                <a16:creationId xmlns:a16="http://schemas.microsoft.com/office/drawing/2014/main" id="{C0838865-8C31-4CD7-B8F0-4DBF267D3125}"/>
              </a:ext>
            </a:extLst>
          </p:cNvPr>
          <p:cNvSpPr>
            <a:spLocks noGrp="1"/>
          </p:cNvSpPr>
          <p:nvPr/>
        </p:nvSpPr>
        <p:spPr>
          <a:xfrm>
            <a:off x="3905250" y="2076450"/>
            <a:ext cx="1714500" cy="361950"/>
          </a:xfrm>
          <a:prstGeom prst="rect">
            <a:avLst/>
          </a:prstGeom>
          <a:noFill/>
          <a:ln w="0">
            <a:noFill/>
          </a:ln>
        </p:spPr>
        <p:txBody>
          <a:bodyPr lIns="57150" tIns="38100" rIns="57150" bIns="38100" anchor="ctr">
            <a:normAutofit/>
          </a:bodyPr>
          <a:lstStyle/>
          <a:p>
            <a:pPr algn="r" rtl="1">
              <a:lnSpc>
                <a:spcPct val="105000"/>
              </a:lnSpc>
              <a:buNone/>
              <a:defRPr sz="1425" b="1">
                <a:solidFill>
                  <a:srgbClr val="7030A0"/>
                </a:solidFill>
                <a:latin typeface="DejaVu Sans"/>
                <a:ea typeface="DejaVu Sans"/>
                <a:cs typeface="DejaVu Sans"/>
              </a:defRPr>
            </a:pPr>
            <a:r>
              <a:rPr sz="1425" b="1">
                <a:solidFill>
                  <a:srgbClr val="7030A0"/>
                </a:solidFill>
                <a:latin typeface="DejaVu Sans"/>
                <a:ea typeface="DejaVu Sans"/>
                <a:cs typeface="DejaVu Sans"/>
              </a:rPr>
              <a:t>الأثر</a:t>
            </a:r>
          </a:p>
        </p:txBody>
      </p:sp>
      <p:sp>
        <p:nvSpPr>
          <p:cNvPr id="10" name="مستطيل 9">
            <a:extLst>
              <a:ext uri="{FF2B5EF4-FFF2-40B4-BE49-F238E27FC236}">
                <a16:creationId xmlns:a16="http://schemas.microsoft.com/office/drawing/2014/main" id="{9387B6BE-5DE0-4F89-908D-4F361D09AF4A}"/>
              </a:ext>
            </a:extLst>
          </p:cNvPr>
          <p:cNvSpPr>
            <a:spLocks noGrp="1"/>
          </p:cNvSpPr>
          <p:nvPr/>
        </p:nvSpPr>
        <p:spPr>
          <a:xfrm>
            <a:off x="1333500" y="2076450"/>
            <a:ext cx="2476500" cy="361950"/>
          </a:xfrm>
          <a:prstGeom prst="rect">
            <a:avLst/>
          </a:prstGeom>
          <a:noFill/>
          <a:ln w="0">
            <a:noFill/>
          </a:ln>
        </p:spPr>
        <p:txBody>
          <a:bodyPr lIns="57150" tIns="38100" rIns="57150" bIns="38100" anchor="ctr">
            <a:normAutofit/>
          </a:bodyPr>
          <a:lstStyle/>
          <a:p>
            <a:pPr algn="r" rtl="1">
              <a:lnSpc>
                <a:spcPct val="105000"/>
              </a:lnSpc>
              <a:buNone/>
              <a:defRPr sz="1350" b="0">
                <a:solidFill>
                  <a:srgbClr val="17121B"/>
                </a:solidFill>
                <a:latin typeface="DejaVu Sans"/>
                <a:ea typeface="DejaVu Sans"/>
                <a:cs typeface="DejaVu Sans"/>
              </a:defRPr>
            </a:pPr>
            <a:r>
              <a:rPr sz="1350" b="0">
                <a:solidFill>
                  <a:srgbClr val="17121B"/>
                </a:solidFill>
                <a:latin typeface="DejaVu Sans"/>
                <a:ea typeface="DejaVu Sans"/>
                <a:cs typeface="DejaVu Sans"/>
              </a:rPr>
              <a:t>نتائج قابلة للإثبات</a:t>
            </a:r>
          </a:p>
        </p:txBody>
      </p:sp>
      <p:sp>
        <p:nvSpPr>
          <p:cNvPr id="11" name="مستطيل 10">
            <a:extLst>
              <a:ext uri="{FF2B5EF4-FFF2-40B4-BE49-F238E27FC236}">
                <a16:creationId xmlns:a16="http://schemas.microsoft.com/office/drawing/2014/main" id="{801EF7EA-1401-45B6-999A-0DE7C2715D15}"/>
              </a:ext>
            </a:extLst>
          </p:cNvPr>
          <p:cNvSpPr>
            <a:spLocks noGrp="1"/>
          </p:cNvSpPr>
          <p:nvPr/>
        </p:nvSpPr>
        <p:spPr>
          <a:xfrm>
            <a:off x="3905250" y="2590800"/>
            <a:ext cx="1714500" cy="361950"/>
          </a:xfrm>
          <a:prstGeom prst="rect">
            <a:avLst/>
          </a:prstGeom>
          <a:noFill/>
          <a:ln w="0">
            <a:noFill/>
          </a:ln>
        </p:spPr>
        <p:txBody>
          <a:bodyPr lIns="57150" tIns="38100" rIns="57150" bIns="38100" anchor="ctr">
            <a:normAutofit/>
          </a:bodyPr>
          <a:lstStyle/>
          <a:p>
            <a:pPr algn="r" rtl="1">
              <a:lnSpc>
                <a:spcPct val="105000"/>
              </a:lnSpc>
              <a:buNone/>
              <a:defRPr sz="1425" b="1">
                <a:solidFill>
                  <a:srgbClr val="1F9FCC"/>
                </a:solidFill>
                <a:latin typeface="DejaVu Sans"/>
                <a:ea typeface="DejaVu Sans"/>
                <a:cs typeface="DejaVu Sans"/>
              </a:defRPr>
            </a:pPr>
            <a:r>
              <a:rPr sz="1425" b="1">
                <a:solidFill>
                  <a:srgbClr val="1F9FCC"/>
                </a:solidFill>
                <a:latin typeface="DejaVu Sans"/>
                <a:ea typeface="DejaVu Sans"/>
                <a:cs typeface="DejaVu Sans"/>
              </a:rPr>
              <a:t>الابتكار</a:t>
            </a:r>
          </a:p>
        </p:txBody>
      </p:sp>
      <p:sp>
        <p:nvSpPr>
          <p:cNvPr id="12" name="مستطيل 11">
            <a:extLst>
              <a:ext uri="{FF2B5EF4-FFF2-40B4-BE49-F238E27FC236}">
                <a16:creationId xmlns:a16="http://schemas.microsoft.com/office/drawing/2014/main" id="{58CD06EB-3C37-40F6-909F-F5A116A2A68D}"/>
              </a:ext>
            </a:extLst>
          </p:cNvPr>
          <p:cNvSpPr>
            <a:spLocks noGrp="1"/>
          </p:cNvSpPr>
          <p:nvPr/>
        </p:nvSpPr>
        <p:spPr>
          <a:xfrm>
            <a:off x="1333500" y="2590800"/>
            <a:ext cx="2476500" cy="361950"/>
          </a:xfrm>
          <a:prstGeom prst="rect">
            <a:avLst/>
          </a:prstGeom>
          <a:noFill/>
          <a:ln w="0">
            <a:noFill/>
          </a:ln>
        </p:spPr>
        <p:txBody>
          <a:bodyPr lIns="57150" tIns="38100" rIns="57150" bIns="38100" anchor="ctr">
            <a:normAutofit/>
          </a:bodyPr>
          <a:lstStyle/>
          <a:p>
            <a:pPr algn="r" rtl="1">
              <a:lnSpc>
                <a:spcPct val="105000"/>
              </a:lnSpc>
              <a:buNone/>
              <a:defRPr sz="1350" b="0">
                <a:solidFill>
                  <a:srgbClr val="17121B"/>
                </a:solidFill>
                <a:latin typeface="DejaVu Sans"/>
                <a:ea typeface="DejaVu Sans"/>
                <a:cs typeface="DejaVu Sans"/>
              </a:defRPr>
            </a:pPr>
            <a:r>
              <a:rPr sz="1350" b="0">
                <a:solidFill>
                  <a:srgbClr val="17121B"/>
                </a:solidFill>
                <a:latin typeface="DejaVu Sans"/>
                <a:ea typeface="DejaVu Sans"/>
                <a:cs typeface="DejaVu Sans"/>
              </a:rPr>
              <a:t>قيمة جديدة</a:t>
            </a:r>
          </a:p>
        </p:txBody>
      </p:sp>
      <p:sp>
        <p:nvSpPr>
          <p:cNvPr id="13" name="مستطيل 12">
            <a:extLst>
              <a:ext uri="{FF2B5EF4-FFF2-40B4-BE49-F238E27FC236}">
                <a16:creationId xmlns:a16="http://schemas.microsoft.com/office/drawing/2014/main" id="{B7481002-3A00-466C-BBC6-59DD0230136B}"/>
              </a:ext>
            </a:extLst>
          </p:cNvPr>
          <p:cNvSpPr>
            <a:spLocks noGrp="1"/>
          </p:cNvSpPr>
          <p:nvPr/>
        </p:nvSpPr>
        <p:spPr>
          <a:xfrm>
            <a:off x="3905250" y="3105150"/>
            <a:ext cx="1714500" cy="361950"/>
          </a:xfrm>
          <a:prstGeom prst="rect">
            <a:avLst/>
          </a:prstGeom>
          <a:noFill/>
          <a:ln w="0">
            <a:noFill/>
          </a:ln>
        </p:spPr>
        <p:txBody>
          <a:bodyPr lIns="57150" tIns="38100" rIns="57150" bIns="38100" anchor="ctr">
            <a:normAutofit/>
          </a:bodyPr>
          <a:lstStyle/>
          <a:p>
            <a:pPr algn="r" rtl="1">
              <a:lnSpc>
                <a:spcPct val="105000"/>
              </a:lnSpc>
              <a:buNone/>
              <a:defRPr sz="1425" b="1">
                <a:solidFill>
                  <a:srgbClr val="7030A0"/>
                </a:solidFill>
                <a:latin typeface="DejaVu Sans"/>
                <a:ea typeface="DejaVu Sans"/>
                <a:cs typeface="DejaVu Sans"/>
              </a:defRPr>
            </a:pPr>
            <a:r>
              <a:rPr sz="1425" b="1">
                <a:solidFill>
                  <a:srgbClr val="7030A0"/>
                </a:solidFill>
                <a:latin typeface="DejaVu Sans"/>
                <a:ea typeface="DejaVu Sans"/>
                <a:cs typeface="DejaVu Sans"/>
              </a:rPr>
              <a:t>العدالة</a:t>
            </a:r>
          </a:p>
        </p:txBody>
      </p:sp>
      <p:sp>
        <p:nvSpPr>
          <p:cNvPr id="14" name="مستطيل 13">
            <a:extLst>
              <a:ext uri="{FF2B5EF4-FFF2-40B4-BE49-F238E27FC236}">
                <a16:creationId xmlns:a16="http://schemas.microsoft.com/office/drawing/2014/main" id="{A5B90CE9-345F-4B64-B5B2-E248477E8E19}"/>
              </a:ext>
            </a:extLst>
          </p:cNvPr>
          <p:cNvSpPr>
            <a:spLocks noGrp="1"/>
          </p:cNvSpPr>
          <p:nvPr/>
        </p:nvSpPr>
        <p:spPr>
          <a:xfrm>
            <a:off x="1333500" y="3105150"/>
            <a:ext cx="2476500" cy="361950"/>
          </a:xfrm>
          <a:prstGeom prst="rect">
            <a:avLst/>
          </a:prstGeom>
          <a:noFill/>
          <a:ln w="0">
            <a:noFill/>
          </a:ln>
        </p:spPr>
        <p:txBody>
          <a:bodyPr lIns="57150" tIns="38100" rIns="57150" bIns="38100" anchor="ctr">
            <a:normAutofit/>
          </a:bodyPr>
          <a:lstStyle/>
          <a:p>
            <a:pPr algn="r" rtl="1">
              <a:lnSpc>
                <a:spcPct val="105000"/>
              </a:lnSpc>
              <a:buNone/>
              <a:defRPr sz="1350" b="0">
                <a:solidFill>
                  <a:srgbClr val="17121B"/>
                </a:solidFill>
                <a:latin typeface="DejaVu Sans"/>
                <a:ea typeface="DejaVu Sans"/>
                <a:cs typeface="DejaVu Sans"/>
              </a:defRPr>
            </a:pPr>
            <a:r>
              <a:rPr sz="1350" b="0">
                <a:solidFill>
                  <a:srgbClr val="17121B"/>
                </a:solidFill>
                <a:latin typeface="DejaVu Sans"/>
                <a:ea typeface="DejaVu Sans"/>
                <a:cs typeface="DejaVu Sans"/>
              </a:rPr>
              <a:t>فرص ومعايير واضحة</a:t>
            </a:r>
          </a:p>
        </p:txBody>
      </p:sp>
      <p:sp>
        <p:nvSpPr>
          <p:cNvPr id="15" name="مستطيل 14">
            <a:extLst>
              <a:ext uri="{FF2B5EF4-FFF2-40B4-BE49-F238E27FC236}">
                <a16:creationId xmlns:a16="http://schemas.microsoft.com/office/drawing/2014/main" id="{D8AD5812-6EED-4AE2-828F-D06D06ACBA6A}"/>
              </a:ext>
            </a:extLst>
          </p:cNvPr>
          <p:cNvSpPr>
            <a:spLocks noGrp="1"/>
          </p:cNvSpPr>
          <p:nvPr/>
        </p:nvSpPr>
        <p:spPr>
          <a:xfrm>
            <a:off x="3905250" y="3619500"/>
            <a:ext cx="1714500" cy="361950"/>
          </a:xfrm>
          <a:prstGeom prst="rect">
            <a:avLst/>
          </a:prstGeom>
          <a:noFill/>
          <a:ln w="0">
            <a:noFill/>
          </a:ln>
        </p:spPr>
        <p:txBody>
          <a:bodyPr lIns="57150" tIns="38100" rIns="57150" bIns="38100" anchor="ctr">
            <a:normAutofit/>
          </a:bodyPr>
          <a:lstStyle/>
          <a:p>
            <a:pPr algn="r" rtl="1">
              <a:lnSpc>
                <a:spcPct val="105000"/>
              </a:lnSpc>
              <a:buNone/>
              <a:defRPr sz="1425" b="1">
                <a:solidFill>
                  <a:srgbClr val="1F9FCC"/>
                </a:solidFill>
                <a:latin typeface="DejaVu Sans"/>
                <a:ea typeface="DejaVu Sans"/>
                <a:cs typeface="DejaVu Sans"/>
              </a:defRPr>
            </a:pPr>
            <a:r>
              <a:rPr sz="1425" b="1">
                <a:solidFill>
                  <a:srgbClr val="1F9FCC"/>
                </a:solidFill>
                <a:latin typeface="DejaVu Sans"/>
                <a:ea typeface="DejaVu Sans"/>
                <a:cs typeface="DejaVu Sans"/>
              </a:rPr>
              <a:t>الشمول</a:t>
            </a:r>
          </a:p>
        </p:txBody>
      </p:sp>
      <p:sp>
        <p:nvSpPr>
          <p:cNvPr id="16" name="مستطيل 15">
            <a:extLst>
              <a:ext uri="{FF2B5EF4-FFF2-40B4-BE49-F238E27FC236}">
                <a16:creationId xmlns:a16="http://schemas.microsoft.com/office/drawing/2014/main" id="{A0F9D062-5285-47A6-8E10-C0D2D711DEF8}"/>
              </a:ext>
            </a:extLst>
          </p:cNvPr>
          <p:cNvSpPr>
            <a:spLocks noGrp="1"/>
          </p:cNvSpPr>
          <p:nvPr/>
        </p:nvSpPr>
        <p:spPr>
          <a:xfrm>
            <a:off x="1333500" y="3619500"/>
            <a:ext cx="2476500" cy="361950"/>
          </a:xfrm>
          <a:prstGeom prst="rect">
            <a:avLst/>
          </a:prstGeom>
          <a:noFill/>
          <a:ln w="0">
            <a:noFill/>
          </a:ln>
        </p:spPr>
        <p:txBody>
          <a:bodyPr lIns="57150" tIns="38100" rIns="57150" bIns="38100" anchor="ctr">
            <a:normAutofit/>
          </a:bodyPr>
          <a:lstStyle/>
          <a:p>
            <a:pPr algn="r" rtl="1">
              <a:lnSpc>
                <a:spcPct val="105000"/>
              </a:lnSpc>
              <a:buNone/>
              <a:defRPr sz="1350" b="0">
                <a:solidFill>
                  <a:srgbClr val="17121B"/>
                </a:solidFill>
                <a:latin typeface="DejaVu Sans"/>
                <a:ea typeface="DejaVu Sans"/>
                <a:cs typeface="DejaVu Sans"/>
              </a:defRPr>
            </a:pPr>
            <a:r>
              <a:rPr sz="1350" b="0">
                <a:solidFill>
                  <a:srgbClr val="17121B"/>
                </a:solidFill>
                <a:latin typeface="DejaVu Sans"/>
                <a:ea typeface="DejaVu Sans"/>
                <a:cs typeface="DejaVu Sans"/>
              </a:rPr>
              <a:t>وصول لمختلف الفئات</a:t>
            </a:r>
          </a:p>
        </p:txBody>
      </p:sp>
      <p:sp>
        <p:nvSpPr>
          <p:cNvPr id="17" name="مستطيل 16">
            <a:extLst>
              <a:ext uri="{FF2B5EF4-FFF2-40B4-BE49-F238E27FC236}">
                <a16:creationId xmlns:a16="http://schemas.microsoft.com/office/drawing/2014/main" id="{88FBCD30-F8C5-4C4B-9883-6229DB1C861A}"/>
              </a:ext>
            </a:extLst>
          </p:cNvPr>
          <p:cNvSpPr>
            <a:spLocks noGrp="1"/>
          </p:cNvSpPr>
          <p:nvPr/>
        </p:nvSpPr>
        <p:spPr>
          <a:xfrm>
            <a:off x="3905250" y="4133850"/>
            <a:ext cx="1714500" cy="361950"/>
          </a:xfrm>
          <a:prstGeom prst="rect">
            <a:avLst/>
          </a:prstGeom>
          <a:noFill/>
          <a:ln w="0">
            <a:noFill/>
          </a:ln>
        </p:spPr>
        <p:txBody>
          <a:bodyPr lIns="57150" tIns="38100" rIns="57150" bIns="38100" anchor="ctr">
            <a:normAutofit/>
          </a:bodyPr>
          <a:lstStyle/>
          <a:p>
            <a:pPr algn="r" rtl="1">
              <a:lnSpc>
                <a:spcPct val="105000"/>
              </a:lnSpc>
              <a:buNone/>
              <a:defRPr sz="1425" b="1">
                <a:solidFill>
                  <a:srgbClr val="7030A0"/>
                </a:solidFill>
                <a:latin typeface="DejaVu Sans"/>
                <a:ea typeface="DejaVu Sans"/>
                <a:cs typeface="DejaVu Sans"/>
              </a:defRPr>
            </a:pPr>
            <a:r>
              <a:rPr sz="1425" b="1">
                <a:solidFill>
                  <a:srgbClr val="7030A0"/>
                </a:solidFill>
                <a:latin typeface="DejaVu Sans"/>
                <a:ea typeface="DejaVu Sans"/>
                <a:cs typeface="DejaVu Sans"/>
              </a:rPr>
              <a:t>الاستدامة</a:t>
            </a:r>
          </a:p>
        </p:txBody>
      </p:sp>
      <p:sp>
        <p:nvSpPr>
          <p:cNvPr id="18" name="مستطيل 17">
            <a:extLst>
              <a:ext uri="{FF2B5EF4-FFF2-40B4-BE49-F238E27FC236}">
                <a16:creationId xmlns:a16="http://schemas.microsoft.com/office/drawing/2014/main" id="{A7D44F08-98E5-4FFB-93DE-3CADA1316DF2}"/>
              </a:ext>
            </a:extLst>
          </p:cNvPr>
          <p:cNvSpPr>
            <a:spLocks noGrp="1"/>
          </p:cNvSpPr>
          <p:nvPr/>
        </p:nvSpPr>
        <p:spPr>
          <a:xfrm>
            <a:off x="1333500" y="4133850"/>
            <a:ext cx="2476500" cy="361950"/>
          </a:xfrm>
          <a:prstGeom prst="rect">
            <a:avLst/>
          </a:prstGeom>
          <a:noFill/>
          <a:ln w="0">
            <a:noFill/>
          </a:ln>
        </p:spPr>
        <p:txBody>
          <a:bodyPr lIns="57150" tIns="38100" rIns="57150" bIns="38100" anchor="ctr">
            <a:normAutofit/>
          </a:bodyPr>
          <a:lstStyle/>
          <a:p>
            <a:pPr algn="r" rtl="1">
              <a:lnSpc>
                <a:spcPct val="105000"/>
              </a:lnSpc>
              <a:buNone/>
              <a:defRPr sz="1350" b="0">
                <a:solidFill>
                  <a:srgbClr val="17121B"/>
                </a:solidFill>
                <a:latin typeface="DejaVu Sans"/>
                <a:ea typeface="DejaVu Sans"/>
                <a:cs typeface="DejaVu Sans"/>
              </a:defRPr>
            </a:pPr>
            <a:r>
              <a:rPr sz="1350" b="0">
                <a:solidFill>
                  <a:srgbClr val="17121B"/>
                </a:solidFill>
                <a:latin typeface="DejaVu Sans"/>
                <a:ea typeface="DejaVu Sans"/>
                <a:cs typeface="DejaVu Sans"/>
              </a:rPr>
              <a:t>استمرار ونمو</a:t>
            </a:r>
          </a:p>
        </p:txBody>
      </p:sp>
      <p:sp>
        <p:nvSpPr>
          <p:cNvPr id="19" name="مستطيل 18">
            <a:extLst>
              <a:ext uri="{FF2B5EF4-FFF2-40B4-BE49-F238E27FC236}">
                <a16:creationId xmlns:a16="http://schemas.microsoft.com/office/drawing/2014/main" id="{ACD54CD0-91E0-4140-B215-B50E77F4E622}"/>
              </a:ext>
            </a:extLst>
          </p:cNvPr>
          <p:cNvSpPr>
            <a:spLocks noGrp="1"/>
          </p:cNvSpPr>
          <p:nvPr/>
        </p:nvSpPr>
        <p:spPr>
          <a:xfrm>
            <a:off x="3905250" y="4648200"/>
            <a:ext cx="1714500" cy="361950"/>
          </a:xfrm>
          <a:prstGeom prst="rect">
            <a:avLst/>
          </a:prstGeom>
          <a:noFill/>
          <a:ln w="0">
            <a:noFill/>
          </a:ln>
        </p:spPr>
        <p:txBody>
          <a:bodyPr lIns="57150" tIns="38100" rIns="57150" bIns="38100" anchor="ctr">
            <a:normAutofit/>
          </a:bodyPr>
          <a:lstStyle/>
          <a:p>
            <a:pPr algn="r" rtl="1">
              <a:lnSpc>
                <a:spcPct val="105000"/>
              </a:lnSpc>
              <a:buNone/>
              <a:defRPr sz="1425" b="1">
                <a:solidFill>
                  <a:srgbClr val="1F9FCC"/>
                </a:solidFill>
                <a:latin typeface="DejaVu Sans"/>
                <a:ea typeface="DejaVu Sans"/>
                <a:cs typeface="DejaVu Sans"/>
              </a:defRPr>
            </a:pPr>
            <a:r>
              <a:rPr sz="1425" b="1">
                <a:solidFill>
                  <a:srgbClr val="1F9FCC"/>
                </a:solidFill>
                <a:latin typeface="DejaVu Sans"/>
                <a:ea typeface="DejaVu Sans"/>
                <a:cs typeface="DejaVu Sans"/>
              </a:rPr>
              <a:t>النزاهة</a:t>
            </a:r>
          </a:p>
        </p:txBody>
      </p:sp>
      <p:sp>
        <p:nvSpPr>
          <p:cNvPr id="20" name="مستطيل 19">
            <a:extLst>
              <a:ext uri="{FF2B5EF4-FFF2-40B4-BE49-F238E27FC236}">
                <a16:creationId xmlns:a16="http://schemas.microsoft.com/office/drawing/2014/main" id="{B17B0102-CB29-4264-8866-068CAF5667BB}"/>
              </a:ext>
            </a:extLst>
          </p:cNvPr>
          <p:cNvSpPr>
            <a:spLocks noGrp="1"/>
          </p:cNvSpPr>
          <p:nvPr/>
        </p:nvSpPr>
        <p:spPr>
          <a:xfrm>
            <a:off x="1333500" y="4648200"/>
            <a:ext cx="2476500" cy="361950"/>
          </a:xfrm>
          <a:prstGeom prst="rect">
            <a:avLst/>
          </a:prstGeom>
          <a:noFill/>
          <a:ln w="0">
            <a:noFill/>
          </a:ln>
        </p:spPr>
        <p:txBody>
          <a:bodyPr lIns="57150" tIns="38100" rIns="57150" bIns="38100" anchor="ctr">
            <a:normAutofit/>
          </a:bodyPr>
          <a:lstStyle/>
          <a:p>
            <a:pPr algn="r" rtl="1">
              <a:lnSpc>
                <a:spcPct val="105000"/>
              </a:lnSpc>
              <a:buNone/>
              <a:defRPr sz="1350" b="0">
                <a:solidFill>
                  <a:srgbClr val="17121B"/>
                </a:solidFill>
                <a:latin typeface="DejaVu Sans"/>
                <a:ea typeface="DejaVu Sans"/>
                <a:cs typeface="DejaVu Sans"/>
              </a:defRPr>
            </a:pPr>
            <a:r>
              <a:rPr sz="1350" b="0">
                <a:solidFill>
                  <a:srgbClr val="17121B"/>
                </a:solidFill>
                <a:latin typeface="DejaVu Sans"/>
                <a:ea typeface="DejaVu Sans"/>
                <a:cs typeface="DejaVu Sans"/>
              </a:rPr>
              <a:t>شفافية وموضوعية</a:t>
            </a:r>
          </a:p>
        </p:txBody>
      </p:sp>
    </p:spTree>
    <p:extLst>
      <p:ext uri="{BB962C8B-B14F-4D97-AF65-F5344CB8AC3E}">
        <p14:creationId xmlns:p14="http://schemas.microsoft.com/office/powerpoint/2010/main" val="82543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6"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DCD6D4FB-55BE-4CD2-AA4C-901D27FAD4B9}"/>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06</a:t>
            </a:r>
          </a:p>
        </p:txBody>
      </p:sp>
      <p:sp>
        <p:nvSpPr>
          <p:cNvPr id="3" name="slide-title">
            <a:extLst>
              <a:ext uri="{FF2B5EF4-FFF2-40B4-BE49-F238E27FC236}">
                <a16:creationId xmlns:a16="http://schemas.microsoft.com/office/drawing/2014/main" id="{E2E190B3-63E1-45EE-BC79-CEE6F1DFD6E9}"/>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أهداف الجائزة</a:t>
            </a:r>
          </a:p>
        </p:txBody>
      </p:sp>
      <p:sp>
        <p:nvSpPr>
          <p:cNvPr id="4" name="شكل بيضاوي 3">
            <a:extLst>
              <a:ext uri="{FF2B5EF4-FFF2-40B4-BE49-F238E27FC236}">
                <a16:creationId xmlns:a16="http://schemas.microsoft.com/office/drawing/2014/main" id="{E5A5EF2A-3966-463B-BE9A-80B53AF263D7}"/>
              </a:ext>
            </a:extLst>
          </p:cNvPr>
          <p:cNvSpPr>
            <a:spLocks noGrp="1"/>
          </p:cNvSpPr>
          <p:nvPr/>
        </p:nvSpPr>
        <p:spPr>
          <a:xfrm>
            <a:off x="10467975" y="1779984"/>
            <a:ext cx="95250" cy="95250"/>
          </a:xfrm>
          <a:prstGeom prst="ellipse">
            <a:avLst/>
          </a:prstGeom>
          <a:solidFill>
            <a:srgbClr val="7030A0"/>
          </a:solidFill>
          <a:ln w="0">
            <a:noFill/>
          </a:ln>
        </p:spPr>
        <p:txBody>
          <a:bodyPr/>
          <a:lstStyle/>
          <a:p>
            <a:endParaRPr lang="en-US"/>
          </a:p>
        </p:txBody>
      </p:sp>
      <p:sp>
        <p:nvSpPr>
          <p:cNvPr id="5" name="مستطيل 4">
            <a:extLst>
              <a:ext uri="{FF2B5EF4-FFF2-40B4-BE49-F238E27FC236}">
                <a16:creationId xmlns:a16="http://schemas.microsoft.com/office/drawing/2014/main" id="{9B52D074-1105-4B7C-8481-633918A40807}"/>
              </a:ext>
            </a:extLst>
          </p:cNvPr>
          <p:cNvSpPr>
            <a:spLocks noGrp="1"/>
          </p:cNvSpPr>
          <p:nvPr/>
        </p:nvSpPr>
        <p:spPr>
          <a:xfrm>
            <a:off x="1762125" y="1571625"/>
            <a:ext cx="8553450" cy="511969"/>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تعزيز حضور القراءة بوصفها ممارسة معرفية وثقافية ومجتمعية مستمرة.</a:t>
            </a:r>
          </a:p>
        </p:txBody>
      </p:sp>
      <p:sp>
        <p:nvSpPr>
          <p:cNvPr id="6" name="شكل بيضاوي 5">
            <a:extLst>
              <a:ext uri="{FF2B5EF4-FFF2-40B4-BE49-F238E27FC236}">
                <a16:creationId xmlns:a16="http://schemas.microsoft.com/office/drawing/2014/main" id="{06AC3CC2-EB96-4FBE-AFC0-670F7A73E3DA}"/>
              </a:ext>
            </a:extLst>
          </p:cNvPr>
          <p:cNvSpPr>
            <a:spLocks noGrp="1"/>
          </p:cNvSpPr>
          <p:nvPr/>
        </p:nvSpPr>
        <p:spPr>
          <a:xfrm>
            <a:off x="10467975" y="2291953"/>
            <a:ext cx="95250" cy="95250"/>
          </a:xfrm>
          <a:prstGeom prst="ellipse">
            <a:avLst/>
          </a:prstGeom>
          <a:solidFill>
            <a:srgbClr val="1F9FCC"/>
          </a:solidFill>
          <a:ln w="0">
            <a:noFill/>
          </a:ln>
        </p:spPr>
        <p:txBody>
          <a:bodyPr/>
          <a:lstStyle/>
          <a:p>
            <a:endParaRPr lang="en-US"/>
          </a:p>
        </p:txBody>
      </p:sp>
      <p:sp>
        <p:nvSpPr>
          <p:cNvPr id="7" name="مستطيل 6">
            <a:extLst>
              <a:ext uri="{FF2B5EF4-FFF2-40B4-BE49-F238E27FC236}">
                <a16:creationId xmlns:a16="http://schemas.microsoft.com/office/drawing/2014/main" id="{5613BBFB-5625-41F2-A40A-77384D712CEF}"/>
              </a:ext>
            </a:extLst>
          </p:cNvPr>
          <p:cNvSpPr>
            <a:spLocks noGrp="1"/>
          </p:cNvSpPr>
          <p:nvPr/>
        </p:nvSpPr>
        <p:spPr>
          <a:xfrm>
            <a:off x="1762125" y="2083594"/>
            <a:ext cx="8553450" cy="511969"/>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تكريم الأفراد والمنظمات الذين صنعوا أثرًا قرائيًا موثقًا.</a:t>
            </a:r>
          </a:p>
        </p:txBody>
      </p:sp>
      <p:sp>
        <p:nvSpPr>
          <p:cNvPr id="8" name="شكل بيضاوي 7">
            <a:extLst>
              <a:ext uri="{FF2B5EF4-FFF2-40B4-BE49-F238E27FC236}">
                <a16:creationId xmlns:a16="http://schemas.microsoft.com/office/drawing/2014/main" id="{25AE90E9-4D4D-4CEA-9A7F-095979647FB7}"/>
              </a:ext>
            </a:extLst>
          </p:cNvPr>
          <p:cNvSpPr>
            <a:spLocks noGrp="1"/>
          </p:cNvSpPr>
          <p:nvPr/>
        </p:nvSpPr>
        <p:spPr>
          <a:xfrm>
            <a:off x="10467975" y="2803922"/>
            <a:ext cx="95250" cy="95250"/>
          </a:xfrm>
          <a:prstGeom prst="ellipse">
            <a:avLst/>
          </a:prstGeom>
          <a:solidFill>
            <a:srgbClr val="7030A0"/>
          </a:solidFill>
          <a:ln w="0">
            <a:noFill/>
          </a:ln>
        </p:spPr>
        <p:txBody>
          <a:bodyPr/>
          <a:lstStyle/>
          <a:p>
            <a:endParaRPr lang="en-US"/>
          </a:p>
        </p:txBody>
      </p:sp>
      <p:sp>
        <p:nvSpPr>
          <p:cNvPr id="9" name="مستطيل 8">
            <a:extLst>
              <a:ext uri="{FF2B5EF4-FFF2-40B4-BE49-F238E27FC236}">
                <a16:creationId xmlns:a16="http://schemas.microsoft.com/office/drawing/2014/main" id="{B8DF03D9-781C-44AB-BB8B-0302C8A2C9A4}"/>
              </a:ext>
            </a:extLst>
          </p:cNvPr>
          <p:cNvSpPr>
            <a:spLocks noGrp="1"/>
          </p:cNvSpPr>
          <p:nvPr/>
        </p:nvSpPr>
        <p:spPr>
          <a:xfrm>
            <a:off x="1762125" y="2595563"/>
            <a:ext cx="8553450" cy="511969"/>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اكتشاف الأفكار والحلول والمنتجات القرائية الواعدة.</a:t>
            </a:r>
          </a:p>
        </p:txBody>
      </p:sp>
      <p:sp>
        <p:nvSpPr>
          <p:cNvPr id="10" name="شكل بيضاوي 9">
            <a:extLst>
              <a:ext uri="{FF2B5EF4-FFF2-40B4-BE49-F238E27FC236}">
                <a16:creationId xmlns:a16="http://schemas.microsoft.com/office/drawing/2014/main" id="{F9BAEA4C-BE74-4EE8-A2FB-F5825D589E68}"/>
              </a:ext>
            </a:extLst>
          </p:cNvPr>
          <p:cNvSpPr>
            <a:spLocks noGrp="1"/>
          </p:cNvSpPr>
          <p:nvPr/>
        </p:nvSpPr>
        <p:spPr>
          <a:xfrm>
            <a:off x="10467975" y="3315891"/>
            <a:ext cx="95250" cy="95250"/>
          </a:xfrm>
          <a:prstGeom prst="ellipse">
            <a:avLst/>
          </a:prstGeom>
          <a:solidFill>
            <a:srgbClr val="1F9FCC"/>
          </a:solidFill>
          <a:ln w="0">
            <a:noFill/>
          </a:ln>
        </p:spPr>
        <p:txBody>
          <a:bodyPr/>
          <a:lstStyle/>
          <a:p>
            <a:endParaRPr lang="en-US"/>
          </a:p>
        </p:txBody>
      </p:sp>
      <p:sp>
        <p:nvSpPr>
          <p:cNvPr id="11" name="مستطيل 10">
            <a:extLst>
              <a:ext uri="{FF2B5EF4-FFF2-40B4-BE49-F238E27FC236}">
                <a16:creationId xmlns:a16="http://schemas.microsoft.com/office/drawing/2014/main" id="{F270674F-3283-4BE5-BF5B-8EBDCAA4D9E9}"/>
              </a:ext>
            </a:extLst>
          </p:cNvPr>
          <p:cNvSpPr>
            <a:spLocks noGrp="1"/>
          </p:cNvSpPr>
          <p:nvPr/>
        </p:nvSpPr>
        <p:spPr>
          <a:xfrm>
            <a:off x="1762125" y="3107531"/>
            <a:ext cx="8553450" cy="511969"/>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رفع جودة تصميم المبادرات وتنفيذها وتجربة المستفيد فيها.</a:t>
            </a:r>
          </a:p>
        </p:txBody>
      </p:sp>
      <p:sp>
        <p:nvSpPr>
          <p:cNvPr id="12" name="شكل بيضاوي 11">
            <a:extLst>
              <a:ext uri="{FF2B5EF4-FFF2-40B4-BE49-F238E27FC236}">
                <a16:creationId xmlns:a16="http://schemas.microsoft.com/office/drawing/2014/main" id="{145413B4-2481-4B34-91A5-E364EE82E3F6}"/>
              </a:ext>
            </a:extLst>
          </p:cNvPr>
          <p:cNvSpPr>
            <a:spLocks noGrp="1"/>
          </p:cNvSpPr>
          <p:nvPr/>
        </p:nvSpPr>
        <p:spPr>
          <a:xfrm>
            <a:off x="10467975" y="3827859"/>
            <a:ext cx="95250" cy="95250"/>
          </a:xfrm>
          <a:prstGeom prst="ellipse">
            <a:avLst/>
          </a:prstGeom>
          <a:solidFill>
            <a:srgbClr val="7030A0"/>
          </a:solidFill>
          <a:ln w="0">
            <a:noFill/>
          </a:ln>
        </p:spPr>
        <p:txBody>
          <a:bodyPr/>
          <a:lstStyle/>
          <a:p>
            <a:endParaRPr lang="en-US"/>
          </a:p>
        </p:txBody>
      </p:sp>
      <p:sp>
        <p:nvSpPr>
          <p:cNvPr id="13" name="مستطيل 12">
            <a:extLst>
              <a:ext uri="{FF2B5EF4-FFF2-40B4-BE49-F238E27FC236}">
                <a16:creationId xmlns:a16="http://schemas.microsoft.com/office/drawing/2014/main" id="{83A57D7F-11C1-4947-A8FF-8E61BC6D73DC}"/>
              </a:ext>
            </a:extLst>
          </p:cNvPr>
          <p:cNvSpPr>
            <a:spLocks noGrp="1"/>
          </p:cNvSpPr>
          <p:nvPr/>
        </p:nvSpPr>
        <p:spPr>
          <a:xfrm>
            <a:off x="1762125" y="3619500"/>
            <a:ext cx="8553450" cy="511969"/>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توسيع الوصول إلى الكتاب والقراءة لدى الفئات والمناطق الأقل حصولًا على الفرص.</a:t>
            </a:r>
          </a:p>
        </p:txBody>
      </p:sp>
      <p:sp>
        <p:nvSpPr>
          <p:cNvPr id="14" name="شكل بيضاوي 13">
            <a:extLst>
              <a:ext uri="{FF2B5EF4-FFF2-40B4-BE49-F238E27FC236}">
                <a16:creationId xmlns:a16="http://schemas.microsoft.com/office/drawing/2014/main" id="{95160916-7C39-4C9C-ACD2-D1D06B1EE0E9}"/>
              </a:ext>
            </a:extLst>
          </p:cNvPr>
          <p:cNvSpPr>
            <a:spLocks noGrp="1"/>
          </p:cNvSpPr>
          <p:nvPr/>
        </p:nvSpPr>
        <p:spPr>
          <a:xfrm>
            <a:off x="10467975" y="4339828"/>
            <a:ext cx="95250" cy="95250"/>
          </a:xfrm>
          <a:prstGeom prst="ellipse">
            <a:avLst/>
          </a:prstGeom>
          <a:solidFill>
            <a:srgbClr val="1F9FCC"/>
          </a:solidFill>
          <a:ln w="0">
            <a:noFill/>
          </a:ln>
        </p:spPr>
        <p:txBody>
          <a:bodyPr/>
          <a:lstStyle/>
          <a:p>
            <a:endParaRPr lang="en-US"/>
          </a:p>
        </p:txBody>
      </p:sp>
      <p:sp>
        <p:nvSpPr>
          <p:cNvPr id="15" name="مستطيل 14">
            <a:extLst>
              <a:ext uri="{FF2B5EF4-FFF2-40B4-BE49-F238E27FC236}">
                <a16:creationId xmlns:a16="http://schemas.microsoft.com/office/drawing/2014/main" id="{B22A4ED3-AE22-47F9-9D04-A2410AF3C61F}"/>
              </a:ext>
            </a:extLst>
          </p:cNvPr>
          <p:cNvSpPr>
            <a:spLocks noGrp="1"/>
          </p:cNvSpPr>
          <p:nvPr/>
        </p:nvSpPr>
        <p:spPr>
          <a:xfrm>
            <a:off x="1762125" y="4131469"/>
            <a:ext cx="8553450" cy="511969"/>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دعم بناء أندية ومجتمعات قرائية متفاعلة ومستدامة.</a:t>
            </a:r>
          </a:p>
        </p:txBody>
      </p:sp>
      <p:sp>
        <p:nvSpPr>
          <p:cNvPr id="16" name="شكل بيضاوي 15">
            <a:extLst>
              <a:ext uri="{FF2B5EF4-FFF2-40B4-BE49-F238E27FC236}">
                <a16:creationId xmlns:a16="http://schemas.microsoft.com/office/drawing/2014/main" id="{D257EEBD-BDAB-4B3B-81EF-C0C4778B56D2}"/>
              </a:ext>
            </a:extLst>
          </p:cNvPr>
          <p:cNvSpPr>
            <a:spLocks noGrp="1"/>
          </p:cNvSpPr>
          <p:nvPr/>
        </p:nvSpPr>
        <p:spPr>
          <a:xfrm>
            <a:off x="10467975" y="4851797"/>
            <a:ext cx="95250" cy="95250"/>
          </a:xfrm>
          <a:prstGeom prst="ellipse">
            <a:avLst/>
          </a:prstGeom>
          <a:solidFill>
            <a:srgbClr val="7030A0"/>
          </a:solidFill>
          <a:ln w="0">
            <a:noFill/>
          </a:ln>
        </p:spPr>
        <p:txBody>
          <a:bodyPr/>
          <a:lstStyle/>
          <a:p>
            <a:endParaRPr lang="en-US"/>
          </a:p>
        </p:txBody>
      </p:sp>
      <p:sp>
        <p:nvSpPr>
          <p:cNvPr id="17" name="مستطيل 16">
            <a:extLst>
              <a:ext uri="{FF2B5EF4-FFF2-40B4-BE49-F238E27FC236}">
                <a16:creationId xmlns:a16="http://schemas.microsoft.com/office/drawing/2014/main" id="{BCC048CB-1574-4565-B454-8807016E9940}"/>
              </a:ext>
            </a:extLst>
          </p:cNvPr>
          <p:cNvSpPr>
            <a:spLocks noGrp="1"/>
          </p:cNvSpPr>
          <p:nvPr/>
        </p:nvSpPr>
        <p:spPr>
          <a:xfrm>
            <a:off x="1762125" y="4643438"/>
            <a:ext cx="8553450" cy="511969"/>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تحفيز المنظمات على تطوير الحوكمة والشراكات والتقنية وقياس الأثر.</a:t>
            </a:r>
          </a:p>
        </p:txBody>
      </p:sp>
      <p:sp>
        <p:nvSpPr>
          <p:cNvPr id="18" name="شكل بيضاوي 17">
            <a:extLst>
              <a:ext uri="{FF2B5EF4-FFF2-40B4-BE49-F238E27FC236}">
                <a16:creationId xmlns:a16="http://schemas.microsoft.com/office/drawing/2014/main" id="{9FF4DAFD-2CA0-42E2-BA70-6EE5026DC3B8}"/>
              </a:ext>
            </a:extLst>
          </p:cNvPr>
          <p:cNvSpPr>
            <a:spLocks noGrp="1"/>
          </p:cNvSpPr>
          <p:nvPr/>
        </p:nvSpPr>
        <p:spPr>
          <a:xfrm>
            <a:off x="10467975" y="5363766"/>
            <a:ext cx="95250" cy="95250"/>
          </a:xfrm>
          <a:prstGeom prst="ellipse">
            <a:avLst/>
          </a:prstGeom>
          <a:solidFill>
            <a:srgbClr val="1F9FCC"/>
          </a:solidFill>
          <a:ln w="0">
            <a:noFill/>
          </a:ln>
        </p:spPr>
        <p:txBody>
          <a:bodyPr/>
          <a:lstStyle/>
          <a:p>
            <a:endParaRPr lang="en-US"/>
          </a:p>
        </p:txBody>
      </p:sp>
      <p:sp>
        <p:nvSpPr>
          <p:cNvPr id="19" name="مستطيل 18">
            <a:extLst>
              <a:ext uri="{FF2B5EF4-FFF2-40B4-BE49-F238E27FC236}">
                <a16:creationId xmlns:a16="http://schemas.microsoft.com/office/drawing/2014/main" id="{46DE4A73-C7A8-447D-B59A-7BFCA801FD52}"/>
              </a:ext>
            </a:extLst>
          </p:cNvPr>
          <p:cNvSpPr>
            <a:spLocks noGrp="1"/>
          </p:cNvSpPr>
          <p:nvPr/>
        </p:nvSpPr>
        <p:spPr>
          <a:xfrm>
            <a:off x="1762125" y="5155406"/>
            <a:ext cx="8553450" cy="511969"/>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توثيق الممارسات المتميزة ونشرها بما يتيح التعلم والتكرار والتوسع.</a:t>
            </a:r>
          </a:p>
        </p:txBody>
      </p:sp>
    </p:spTree>
    <p:extLst>
      <p:ext uri="{BB962C8B-B14F-4D97-AF65-F5344CB8AC3E}">
        <p14:creationId xmlns:p14="http://schemas.microsoft.com/office/powerpoint/2010/main" val="38936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7"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FDBC9207-7E36-465E-8329-F6D9907AB7AC}"/>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07</a:t>
            </a:r>
          </a:p>
        </p:txBody>
      </p:sp>
      <p:sp>
        <p:nvSpPr>
          <p:cNvPr id="3" name="slide-title">
            <a:extLst>
              <a:ext uri="{FF2B5EF4-FFF2-40B4-BE49-F238E27FC236}">
                <a16:creationId xmlns:a16="http://schemas.microsoft.com/office/drawing/2014/main" id="{7D4B53E9-A09A-4E6E-B838-55F1B3FECD0D}"/>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النطاق والفئات المستهدفة</a:t>
            </a:r>
          </a:p>
        </p:txBody>
      </p:sp>
      <p:sp>
        <p:nvSpPr>
          <p:cNvPr id="4" name="مستطيل 3">
            <a:extLst>
              <a:ext uri="{FF2B5EF4-FFF2-40B4-BE49-F238E27FC236}">
                <a16:creationId xmlns:a16="http://schemas.microsoft.com/office/drawing/2014/main" id="{DD4FBC78-C3D0-44D1-BB6A-8E5039766AC8}"/>
              </a:ext>
            </a:extLst>
          </p:cNvPr>
          <p:cNvSpPr>
            <a:spLocks noGrp="1"/>
          </p:cNvSpPr>
          <p:nvPr/>
        </p:nvSpPr>
        <p:spPr>
          <a:xfrm>
            <a:off x="8524875" y="1524000"/>
            <a:ext cx="2381250" cy="419100"/>
          </a:xfrm>
          <a:prstGeom prst="rect">
            <a:avLst/>
          </a:prstGeom>
          <a:noFill/>
          <a:ln w="0">
            <a:noFill/>
          </a:ln>
        </p:spPr>
        <p:txBody>
          <a:bodyPr lIns="57150" tIns="38100" rIns="57150" bIns="38100" anchor="t">
            <a:normAutofit/>
          </a:bodyPr>
          <a:lstStyle/>
          <a:p>
            <a:pPr algn="r" rtl="1">
              <a:lnSpc>
                <a:spcPct val="105000"/>
              </a:lnSpc>
              <a:buNone/>
              <a:defRPr sz="1800" b="1">
                <a:solidFill>
                  <a:srgbClr val="542278"/>
                </a:solidFill>
                <a:latin typeface="DejaVu Sans"/>
                <a:ea typeface="DejaVu Sans"/>
                <a:cs typeface="DejaVu Sans"/>
              </a:defRPr>
            </a:pPr>
            <a:r>
              <a:rPr sz="1800" b="1">
                <a:solidFill>
                  <a:srgbClr val="542278"/>
                </a:solidFill>
                <a:latin typeface="DejaVu Sans"/>
                <a:ea typeface="DejaVu Sans"/>
                <a:cs typeface="DejaVu Sans"/>
              </a:rPr>
              <a:t>النطاق الجغرافي</a:t>
            </a:r>
          </a:p>
        </p:txBody>
      </p:sp>
      <p:sp>
        <p:nvSpPr>
          <p:cNvPr id="5" name="مستطيل 4">
            <a:extLst>
              <a:ext uri="{FF2B5EF4-FFF2-40B4-BE49-F238E27FC236}">
                <a16:creationId xmlns:a16="http://schemas.microsoft.com/office/drawing/2014/main" id="{9F40EED1-EF57-41F4-B3EA-7FE276E82C3B}"/>
              </a:ext>
            </a:extLst>
          </p:cNvPr>
          <p:cNvSpPr>
            <a:spLocks noGrp="1"/>
          </p:cNvSpPr>
          <p:nvPr/>
        </p:nvSpPr>
        <p:spPr>
          <a:xfrm>
            <a:off x="4526280" y="2047875"/>
            <a:ext cx="6379845" cy="742950"/>
          </a:xfrm>
          <a:prstGeom prst="rect">
            <a:avLst/>
          </a:prstGeom>
          <a:noFill/>
          <a:ln w="0">
            <a:noFill/>
          </a:ln>
        </p:spPr>
        <p:txBody>
          <a:bodyPr lIns="76200" tIns="57150" rIns="76200" bIns="57150" anchor="t">
            <a:normAutofit/>
          </a:bodyPr>
          <a:lstStyle/>
          <a:p>
            <a:pPr algn="r" rtl="1">
              <a:lnSpc>
                <a:spcPct val="112000"/>
              </a:lnSpc>
              <a:buNone/>
              <a:defRPr sz="1650" b="0">
                <a:solidFill>
                  <a:srgbClr val="17121B"/>
                </a:solidFill>
                <a:latin typeface="DejaVu Sans"/>
                <a:ea typeface="DejaVu Sans"/>
                <a:cs typeface="DejaVu Sans"/>
              </a:defRPr>
            </a:pPr>
            <a:r>
              <a:rPr sz="1650" b="0" dirty="0" err="1">
                <a:solidFill>
                  <a:srgbClr val="17121B"/>
                </a:solidFill>
                <a:latin typeface="DejaVu Sans"/>
                <a:ea typeface="DejaVu Sans"/>
                <a:cs typeface="DejaVu Sans"/>
              </a:rPr>
              <a:t>المملكة</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العربية</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السعودية</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وفق</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ما</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تعتمده</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الجهة</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المنظمة</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في</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كل</a:t>
            </a:r>
            <a:r>
              <a:rPr sz="1650" b="0" dirty="0">
                <a:solidFill>
                  <a:srgbClr val="17121B"/>
                </a:solidFill>
                <a:latin typeface="DejaVu Sans"/>
                <a:ea typeface="DejaVu Sans"/>
                <a:cs typeface="DejaVu Sans"/>
              </a:rPr>
              <a:t> </a:t>
            </a:r>
            <a:r>
              <a:rPr sz="1650" b="0" dirty="0" err="1">
                <a:solidFill>
                  <a:srgbClr val="17121B"/>
                </a:solidFill>
                <a:latin typeface="DejaVu Sans"/>
                <a:ea typeface="DejaVu Sans"/>
                <a:cs typeface="DejaVu Sans"/>
              </a:rPr>
              <a:t>دورة</a:t>
            </a:r>
            <a:r>
              <a:rPr sz="1650" b="0" dirty="0">
                <a:solidFill>
                  <a:srgbClr val="17121B"/>
                </a:solidFill>
                <a:latin typeface="DejaVu Sans"/>
                <a:ea typeface="DejaVu Sans"/>
                <a:cs typeface="DejaVu Sans"/>
              </a:rPr>
              <a:t>.</a:t>
            </a:r>
          </a:p>
        </p:txBody>
      </p:sp>
      <p:graphicFrame>
        <p:nvGraphicFramePr>
          <p:cNvPr id="12" name="جدول 11"/>
          <p:cNvGraphicFramePr/>
          <p:nvPr/>
        </p:nvGraphicFramePr>
        <p:xfrm>
          <a:off x="1571625" y="3143250"/>
          <a:ext cx="9144000" cy="2190752"/>
        </p:xfrm>
        <a:graphic>
          <a:graphicData uri="http://schemas.openxmlformats.org/drawingml/2006/table">
            <a:tbl>
              <a:tblPr/>
              <a:tblGrid>
                <a:gridCol w="6858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47688">
                <a:tc>
                  <a:txBody>
                    <a:bodyPr/>
                    <a:lstStyle/>
                    <a:p>
                      <a:pPr algn="ctr" rtl="1"/>
                      <a:r>
                        <a:rPr sz="1350" b="1">
                          <a:solidFill>
                            <a:srgbClr val="FFFFFF"/>
                          </a:solidFill>
                          <a:latin typeface="DejaVu Sans"/>
                          <a:ea typeface="DejaVu Sans"/>
                          <a:cs typeface="DejaVu Sans"/>
                        </a:rPr>
                        <a:t>التفصيل</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الفئة</a:t>
                      </a:r>
                    </a:p>
                  </a:txBody>
                  <a:tcPr marL="76200" marR="76200" marT="66675" marB="66675" anchor="ctr">
                    <a:solidFill>
                      <a:srgbClr val="7030A0"/>
                    </a:solidFill>
                  </a:tcPr>
                </a:tc>
                <a:extLst>
                  <a:ext uri="{0D108BD9-81ED-4DB2-BD59-A6C34878D82A}">
                    <a16:rowId xmlns:a16="http://schemas.microsoft.com/office/drawing/2014/main" val="10000"/>
                  </a:ext>
                </a:extLst>
              </a:tr>
              <a:tr h="547688">
                <a:tc>
                  <a:txBody>
                    <a:bodyPr/>
                    <a:lstStyle/>
                    <a:p>
                      <a:pPr algn="r" rtl="1"/>
                      <a:r>
                        <a:rPr sz="1275">
                          <a:solidFill>
                            <a:srgbClr val="17121B"/>
                          </a:solidFill>
                          <a:latin typeface="DejaVu Sans"/>
                          <a:ea typeface="DejaVu Sans"/>
                          <a:cs typeface="DejaVu Sans"/>
                        </a:rPr>
                        <a:t>ممن يقودون مبادرة منفذة أو يقدمون فكرة أو حلًا قرائيًا مبتكرًا.</a:t>
                      </a:r>
                    </a:p>
                  </a:txBody>
                  <a:tcPr marL="76200" marR="76200" marT="57150" marB="57150" anchor="ctr">
                    <a:solidFill>
                      <a:srgbClr val="FFFFFF"/>
                    </a:solidFill>
                  </a:tcPr>
                </a:tc>
                <a:tc>
                  <a:txBody>
                    <a:bodyPr/>
                    <a:lstStyle/>
                    <a:p>
                      <a:pPr algn="r" rtl="1"/>
                      <a:r>
                        <a:rPr sz="1275">
                          <a:solidFill>
                            <a:srgbClr val="17121B"/>
                          </a:solidFill>
                          <a:latin typeface="DejaVu Sans"/>
                          <a:ea typeface="DejaVu Sans"/>
                          <a:cs typeface="DejaVu Sans"/>
                        </a:rPr>
                        <a:t>الأفراد</a:t>
                      </a:r>
                    </a:p>
                  </a:txBody>
                  <a:tcPr marL="76200" marR="76200" marT="57150" marB="57150" anchor="ctr">
                    <a:solidFill>
                      <a:srgbClr val="FFFFFF"/>
                    </a:solidFill>
                  </a:tcPr>
                </a:tc>
                <a:extLst>
                  <a:ext uri="{0D108BD9-81ED-4DB2-BD59-A6C34878D82A}">
                    <a16:rowId xmlns:a16="http://schemas.microsoft.com/office/drawing/2014/main" val="10001"/>
                  </a:ext>
                </a:extLst>
              </a:tr>
              <a:tr h="547688">
                <a:tc>
                  <a:txBody>
                    <a:bodyPr/>
                    <a:lstStyle/>
                    <a:p>
                      <a:pPr algn="r" rtl="1"/>
                      <a:r>
                        <a:rPr sz="1275">
                          <a:solidFill>
                            <a:srgbClr val="17121B"/>
                          </a:solidFill>
                          <a:latin typeface="DejaVu Sans"/>
                          <a:ea typeface="DejaVu Sans"/>
                          <a:cs typeface="DejaVu Sans"/>
                        </a:rPr>
                        <a:t>يجوز قبولها في مسار الفكرة وفق آلية تمثيل الفريق وحقوق أعضائه.</a:t>
                      </a:r>
                    </a:p>
                  </a:txBody>
                  <a:tcPr marL="76200" marR="76200" marT="57150" marB="57150" anchor="ctr">
                    <a:solidFill>
                      <a:srgbClr val="F5EFF8"/>
                    </a:solidFill>
                  </a:tcPr>
                </a:tc>
                <a:tc>
                  <a:txBody>
                    <a:bodyPr/>
                    <a:lstStyle/>
                    <a:p>
                      <a:pPr algn="r" rtl="1"/>
                      <a:r>
                        <a:rPr sz="1275">
                          <a:solidFill>
                            <a:srgbClr val="17121B"/>
                          </a:solidFill>
                          <a:latin typeface="DejaVu Sans"/>
                          <a:ea typeface="DejaVu Sans"/>
                          <a:cs typeface="DejaVu Sans"/>
                        </a:rPr>
                        <a:t>الفرق الصغيرة</a:t>
                      </a:r>
                    </a:p>
                  </a:txBody>
                  <a:tcPr marL="76200" marR="76200" marT="57150" marB="57150" anchor="ctr">
                    <a:solidFill>
                      <a:srgbClr val="F5EFF8"/>
                    </a:solidFill>
                  </a:tcPr>
                </a:tc>
                <a:extLst>
                  <a:ext uri="{0D108BD9-81ED-4DB2-BD59-A6C34878D82A}">
                    <a16:rowId xmlns:a16="http://schemas.microsoft.com/office/drawing/2014/main" val="10002"/>
                  </a:ext>
                </a:extLst>
              </a:tr>
              <a:tr h="547688">
                <a:tc>
                  <a:txBody>
                    <a:bodyPr/>
                    <a:lstStyle/>
                    <a:p>
                      <a:pPr algn="r" rtl="1"/>
                      <a:r>
                        <a:rPr sz="1275">
                          <a:solidFill>
                            <a:srgbClr val="17121B"/>
                          </a:solidFill>
                          <a:latin typeface="DejaVu Sans"/>
                          <a:ea typeface="DejaVu Sans"/>
                          <a:cs typeface="DejaVu Sans"/>
                        </a:rPr>
                        <a:t>الجمعيات والمؤسسات والأندية والجهات الثقافية والتعليمية والمجتمعية المؤهلة.</a:t>
                      </a:r>
                    </a:p>
                  </a:txBody>
                  <a:tcPr marL="76200" marR="76200" marT="57150" marB="57150" anchor="ctr">
                    <a:solidFill>
                      <a:srgbClr val="FFFFFF"/>
                    </a:solidFill>
                  </a:tcPr>
                </a:tc>
                <a:tc>
                  <a:txBody>
                    <a:bodyPr/>
                    <a:lstStyle/>
                    <a:p>
                      <a:pPr algn="r" rtl="1"/>
                      <a:r>
                        <a:rPr sz="1275">
                          <a:solidFill>
                            <a:srgbClr val="17121B"/>
                          </a:solidFill>
                          <a:latin typeface="DejaVu Sans"/>
                          <a:ea typeface="DejaVu Sans"/>
                          <a:cs typeface="DejaVu Sans"/>
                        </a:rPr>
                        <a:t>المنظمات</a:t>
                      </a:r>
                    </a:p>
                  </a:txBody>
                  <a:tcPr marL="76200" marR="76200" marT="57150" marB="5715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6494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8"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C094B1D5-17CC-4C5D-8EFE-A9F63C4995B7}"/>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08</a:t>
            </a:r>
          </a:p>
        </p:txBody>
      </p:sp>
      <p:sp>
        <p:nvSpPr>
          <p:cNvPr id="3" name="slide-title">
            <a:extLst>
              <a:ext uri="{FF2B5EF4-FFF2-40B4-BE49-F238E27FC236}">
                <a16:creationId xmlns:a16="http://schemas.microsoft.com/office/drawing/2014/main" id="{BCB14F4B-0219-48F9-8352-98E0E76F83B0}"/>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مزايا المشاركة</a:t>
            </a:r>
          </a:p>
        </p:txBody>
      </p:sp>
      <p:sp>
        <p:nvSpPr>
          <p:cNvPr id="4" name="شكل بيضاوي 3">
            <a:extLst>
              <a:ext uri="{FF2B5EF4-FFF2-40B4-BE49-F238E27FC236}">
                <a16:creationId xmlns:a16="http://schemas.microsoft.com/office/drawing/2014/main" id="{D900C90E-7564-4949-9FE1-AFB391334CD8}"/>
              </a:ext>
            </a:extLst>
          </p:cNvPr>
          <p:cNvSpPr>
            <a:spLocks noGrp="1"/>
          </p:cNvSpPr>
          <p:nvPr/>
        </p:nvSpPr>
        <p:spPr>
          <a:xfrm>
            <a:off x="10182225" y="2000250"/>
            <a:ext cx="95250" cy="95250"/>
          </a:xfrm>
          <a:prstGeom prst="ellipse">
            <a:avLst/>
          </a:prstGeom>
          <a:solidFill>
            <a:srgbClr val="7030A0"/>
          </a:solidFill>
          <a:ln w="0">
            <a:noFill/>
          </a:ln>
        </p:spPr>
        <p:txBody>
          <a:bodyPr/>
          <a:lstStyle/>
          <a:p>
            <a:endParaRPr lang="en-US"/>
          </a:p>
        </p:txBody>
      </p:sp>
      <p:sp>
        <p:nvSpPr>
          <p:cNvPr id="5" name="مستطيل 4">
            <a:extLst>
              <a:ext uri="{FF2B5EF4-FFF2-40B4-BE49-F238E27FC236}">
                <a16:creationId xmlns:a16="http://schemas.microsoft.com/office/drawing/2014/main" id="{370F66C5-4B56-4CEB-B0DF-AA18CF7A2F4B}"/>
              </a:ext>
            </a:extLst>
          </p:cNvPr>
          <p:cNvSpPr>
            <a:spLocks noGrp="1"/>
          </p:cNvSpPr>
          <p:nvPr/>
        </p:nvSpPr>
        <p:spPr>
          <a:xfrm>
            <a:off x="1952625" y="1762125"/>
            <a:ext cx="8077200" cy="571500"/>
          </a:xfrm>
          <a:prstGeom prst="rect">
            <a:avLst/>
          </a:prstGeom>
          <a:noFill/>
          <a:ln w="0">
            <a:noFill/>
          </a:ln>
        </p:spPr>
        <p:txBody>
          <a:bodyPr lIns="38100" tIns="19050" rIns="38100" bIns="19050" anchor="ctr">
            <a:normAutofit/>
          </a:bodyPr>
          <a:lstStyle/>
          <a:p>
            <a:pPr algn="r" rtl="1">
              <a:lnSpc>
                <a:spcPct val="105000"/>
              </a:lnSpc>
              <a:buNone/>
              <a:defRPr sz="1725" b="0">
                <a:solidFill>
                  <a:srgbClr val="17121B"/>
                </a:solidFill>
                <a:latin typeface="DejaVu Sans"/>
                <a:ea typeface="DejaVu Sans"/>
                <a:cs typeface="DejaVu Sans"/>
              </a:defRPr>
            </a:pPr>
            <a:r>
              <a:rPr sz="1725" b="0">
                <a:solidFill>
                  <a:srgbClr val="17121B"/>
                </a:solidFill>
                <a:latin typeface="DejaVu Sans"/>
                <a:ea typeface="DejaVu Sans"/>
                <a:cs typeface="DejaVu Sans"/>
              </a:rPr>
              <a:t>إبراز المشاركات المتميزة ومنفذيها عبر قنوات الجائزة وشركائها.</a:t>
            </a:r>
          </a:p>
        </p:txBody>
      </p:sp>
      <p:sp>
        <p:nvSpPr>
          <p:cNvPr id="6" name="شكل بيضاوي 5">
            <a:extLst>
              <a:ext uri="{FF2B5EF4-FFF2-40B4-BE49-F238E27FC236}">
                <a16:creationId xmlns:a16="http://schemas.microsoft.com/office/drawing/2014/main" id="{B423BC70-5272-456B-B3B4-209600F51801}"/>
              </a:ext>
            </a:extLst>
          </p:cNvPr>
          <p:cNvSpPr>
            <a:spLocks noGrp="1"/>
          </p:cNvSpPr>
          <p:nvPr/>
        </p:nvSpPr>
        <p:spPr>
          <a:xfrm>
            <a:off x="10182225" y="2571750"/>
            <a:ext cx="95250" cy="95250"/>
          </a:xfrm>
          <a:prstGeom prst="ellipse">
            <a:avLst/>
          </a:prstGeom>
          <a:solidFill>
            <a:srgbClr val="1F9FCC"/>
          </a:solidFill>
          <a:ln w="0">
            <a:noFill/>
          </a:ln>
        </p:spPr>
        <p:txBody>
          <a:bodyPr/>
          <a:lstStyle/>
          <a:p>
            <a:endParaRPr lang="en-US"/>
          </a:p>
        </p:txBody>
      </p:sp>
      <p:sp>
        <p:nvSpPr>
          <p:cNvPr id="7" name="مستطيل 6">
            <a:extLst>
              <a:ext uri="{FF2B5EF4-FFF2-40B4-BE49-F238E27FC236}">
                <a16:creationId xmlns:a16="http://schemas.microsoft.com/office/drawing/2014/main" id="{75CB05D8-CF66-4106-BD07-B94ACF37EBD5}"/>
              </a:ext>
            </a:extLst>
          </p:cNvPr>
          <p:cNvSpPr>
            <a:spLocks noGrp="1"/>
          </p:cNvSpPr>
          <p:nvPr/>
        </p:nvSpPr>
        <p:spPr>
          <a:xfrm>
            <a:off x="1952625" y="2333625"/>
            <a:ext cx="8077200" cy="571500"/>
          </a:xfrm>
          <a:prstGeom prst="rect">
            <a:avLst/>
          </a:prstGeom>
          <a:noFill/>
          <a:ln w="0">
            <a:noFill/>
          </a:ln>
        </p:spPr>
        <p:txBody>
          <a:bodyPr lIns="38100" tIns="19050" rIns="38100" bIns="19050" anchor="ctr">
            <a:normAutofit/>
          </a:bodyPr>
          <a:lstStyle/>
          <a:p>
            <a:pPr algn="r" rtl="1">
              <a:lnSpc>
                <a:spcPct val="105000"/>
              </a:lnSpc>
              <a:buNone/>
              <a:defRPr sz="1725" b="0">
                <a:solidFill>
                  <a:srgbClr val="17121B"/>
                </a:solidFill>
                <a:latin typeface="DejaVu Sans"/>
                <a:ea typeface="DejaVu Sans"/>
                <a:cs typeface="DejaVu Sans"/>
              </a:defRPr>
            </a:pPr>
            <a:r>
              <a:rPr sz="1725" b="0">
                <a:solidFill>
                  <a:srgbClr val="17121B"/>
                </a:solidFill>
                <a:latin typeface="DejaVu Sans"/>
                <a:ea typeface="DejaVu Sans"/>
                <a:cs typeface="DejaVu Sans"/>
              </a:rPr>
              <a:t>الحصول على تقييم متخصص يوضح نقاط القوة وفرص التحسين.</a:t>
            </a:r>
          </a:p>
        </p:txBody>
      </p:sp>
      <p:sp>
        <p:nvSpPr>
          <p:cNvPr id="8" name="شكل بيضاوي 7">
            <a:extLst>
              <a:ext uri="{FF2B5EF4-FFF2-40B4-BE49-F238E27FC236}">
                <a16:creationId xmlns:a16="http://schemas.microsoft.com/office/drawing/2014/main" id="{6730E1DC-18B1-4B5C-8B8C-6259F885E897}"/>
              </a:ext>
            </a:extLst>
          </p:cNvPr>
          <p:cNvSpPr>
            <a:spLocks noGrp="1"/>
          </p:cNvSpPr>
          <p:nvPr/>
        </p:nvSpPr>
        <p:spPr>
          <a:xfrm>
            <a:off x="10182225" y="3143250"/>
            <a:ext cx="95250" cy="95250"/>
          </a:xfrm>
          <a:prstGeom prst="ellipse">
            <a:avLst/>
          </a:prstGeom>
          <a:solidFill>
            <a:srgbClr val="7030A0"/>
          </a:solidFill>
          <a:ln w="0">
            <a:noFill/>
          </a:ln>
        </p:spPr>
        <p:txBody>
          <a:bodyPr/>
          <a:lstStyle/>
          <a:p>
            <a:endParaRPr lang="en-US"/>
          </a:p>
        </p:txBody>
      </p:sp>
      <p:sp>
        <p:nvSpPr>
          <p:cNvPr id="9" name="مستطيل 8">
            <a:extLst>
              <a:ext uri="{FF2B5EF4-FFF2-40B4-BE49-F238E27FC236}">
                <a16:creationId xmlns:a16="http://schemas.microsoft.com/office/drawing/2014/main" id="{2BC28437-3D05-4F5D-9F93-5F1DDE5D6931}"/>
              </a:ext>
            </a:extLst>
          </p:cNvPr>
          <p:cNvSpPr>
            <a:spLocks noGrp="1"/>
          </p:cNvSpPr>
          <p:nvPr/>
        </p:nvSpPr>
        <p:spPr>
          <a:xfrm>
            <a:off x="1952625" y="2905125"/>
            <a:ext cx="8077200" cy="571500"/>
          </a:xfrm>
          <a:prstGeom prst="rect">
            <a:avLst/>
          </a:prstGeom>
          <a:noFill/>
          <a:ln w="0">
            <a:noFill/>
          </a:ln>
        </p:spPr>
        <p:txBody>
          <a:bodyPr lIns="38100" tIns="19050" rIns="38100" bIns="19050" anchor="ctr">
            <a:normAutofit/>
          </a:bodyPr>
          <a:lstStyle/>
          <a:p>
            <a:pPr algn="r" rtl="1">
              <a:lnSpc>
                <a:spcPct val="105000"/>
              </a:lnSpc>
              <a:buNone/>
              <a:defRPr sz="1725" b="0">
                <a:solidFill>
                  <a:srgbClr val="17121B"/>
                </a:solidFill>
                <a:latin typeface="DejaVu Sans"/>
                <a:ea typeface="DejaVu Sans"/>
                <a:cs typeface="DejaVu Sans"/>
              </a:defRPr>
            </a:pPr>
            <a:r>
              <a:rPr sz="1725" b="0">
                <a:solidFill>
                  <a:srgbClr val="17121B"/>
                </a:solidFill>
                <a:latin typeface="DejaVu Sans"/>
                <a:ea typeface="DejaVu Sans"/>
                <a:cs typeface="DejaVu Sans"/>
              </a:rPr>
              <a:t>رفع جودة التخطيط والتنفيذ والقياس والتوثيق في المبادرات القرائية.</a:t>
            </a:r>
          </a:p>
        </p:txBody>
      </p:sp>
      <p:sp>
        <p:nvSpPr>
          <p:cNvPr id="10" name="شكل بيضاوي 9">
            <a:extLst>
              <a:ext uri="{FF2B5EF4-FFF2-40B4-BE49-F238E27FC236}">
                <a16:creationId xmlns:a16="http://schemas.microsoft.com/office/drawing/2014/main" id="{607FB8E3-476A-4A47-991A-CB28A010A360}"/>
              </a:ext>
            </a:extLst>
          </p:cNvPr>
          <p:cNvSpPr>
            <a:spLocks noGrp="1"/>
          </p:cNvSpPr>
          <p:nvPr/>
        </p:nvSpPr>
        <p:spPr>
          <a:xfrm>
            <a:off x="10182225" y="3714750"/>
            <a:ext cx="95250" cy="95250"/>
          </a:xfrm>
          <a:prstGeom prst="ellipse">
            <a:avLst/>
          </a:prstGeom>
          <a:solidFill>
            <a:srgbClr val="1F9FCC"/>
          </a:solidFill>
          <a:ln w="0">
            <a:noFill/>
          </a:ln>
        </p:spPr>
        <p:txBody>
          <a:bodyPr/>
          <a:lstStyle/>
          <a:p>
            <a:endParaRPr lang="en-US"/>
          </a:p>
        </p:txBody>
      </p:sp>
      <p:sp>
        <p:nvSpPr>
          <p:cNvPr id="11" name="مستطيل 10">
            <a:extLst>
              <a:ext uri="{FF2B5EF4-FFF2-40B4-BE49-F238E27FC236}">
                <a16:creationId xmlns:a16="http://schemas.microsoft.com/office/drawing/2014/main" id="{16FE33D3-C4DC-4538-9930-63B6401A7CFE}"/>
              </a:ext>
            </a:extLst>
          </p:cNvPr>
          <p:cNvSpPr>
            <a:spLocks noGrp="1"/>
          </p:cNvSpPr>
          <p:nvPr/>
        </p:nvSpPr>
        <p:spPr>
          <a:xfrm>
            <a:off x="1952625" y="3476625"/>
            <a:ext cx="8077200" cy="571500"/>
          </a:xfrm>
          <a:prstGeom prst="rect">
            <a:avLst/>
          </a:prstGeom>
          <a:noFill/>
          <a:ln w="0">
            <a:noFill/>
          </a:ln>
        </p:spPr>
        <p:txBody>
          <a:bodyPr lIns="38100" tIns="19050" rIns="38100" bIns="19050" anchor="ctr">
            <a:normAutofit/>
          </a:bodyPr>
          <a:lstStyle/>
          <a:p>
            <a:pPr algn="r" rtl="1">
              <a:lnSpc>
                <a:spcPct val="105000"/>
              </a:lnSpc>
              <a:buNone/>
              <a:defRPr sz="1725" b="0">
                <a:solidFill>
                  <a:srgbClr val="17121B"/>
                </a:solidFill>
                <a:latin typeface="DejaVu Sans"/>
                <a:ea typeface="DejaVu Sans"/>
                <a:cs typeface="DejaVu Sans"/>
              </a:defRPr>
            </a:pPr>
            <a:r>
              <a:rPr sz="1725" b="0">
                <a:solidFill>
                  <a:srgbClr val="17121B"/>
                </a:solidFill>
                <a:latin typeface="DejaVu Sans"/>
                <a:ea typeface="DejaVu Sans"/>
                <a:cs typeface="DejaVu Sans"/>
              </a:rPr>
              <a:t>فتح فرص للتواصل والشراكات والتوسع ونقل التجارب الناجحة.</a:t>
            </a:r>
          </a:p>
        </p:txBody>
      </p:sp>
      <p:sp>
        <p:nvSpPr>
          <p:cNvPr id="12" name="شكل بيضاوي 11">
            <a:extLst>
              <a:ext uri="{FF2B5EF4-FFF2-40B4-BE49-F238E27FC236}">
                <a16:creationId xmlns:a16="http://schemas.microsoft.com/office/drawing/2014/main" id="{BF3C8533-59D8-44E8-AE86-E40FBF934472}"/>
              </a:ext>
            </a:extLst>
          </p:cNvPr>
          <p:cNvSpPr>
            <a:spLocks noGrp="1"/>
          </p:cNvSpPr>
          <p:nvPr/>
        </p:nvSpPr>
        <p:spPr>
          <a:xfrm>
            <a:off x="10182225" y="4286250"/>
            <a:ext cx="95250" cy="95250"/>
          </a:xfrm>
          <a:prstGeom prst="ellipse">
            <a:avLst/>
          </a:prstGeom>
          <a:solidFill>
            <a:srgbClr val="7030A0"/>
          </a:solidFill>
          <a:ln w="0">
            <a:noFill/>
          </a:ln>
        </p:spPr>
        <p:txBody>
          <a:bodyPr/>
          <a:lstStyle/>
          <a:p>
            <a:endParaRPr lang="en-US"/>
          </a:p>
        </p:txBody>
      </p:sp>
      <p:sp>
        <p:nvSpPr>
          <p:cNvPr id="13" name="مستطيل 12">
            <a:extLst>
              <a:ext uri="{FF2B5EF4-FFF2-40B4-BE49-F238E27FC236}">
                <a16:creationId xmlns:a16="http://schemas.microsoft.com/office/drawing/2014/main" id="{BFA5CD40-A260-4EA1-BE5C-752173633422}"/>
              </a:ext>
            </a:extLst>
          </p:cNvPr>
          <p:cNvSpPr>
            <a:spLocks noGrp="1"/>
          </p:cNvSpPr>
          <p:nvPr/>
        </p:nvSpPr>
        <p:spPr>
          <a:xfrm>
            <a:off x="1952625" y="4048125"/>
            <a:ext cx="8077200" cy="571500"/>
          </a:xfrm>
          <a:prstGeom prst="rect">
            <a:avLst/>
          </a:prstGeom>
          <a:noFill/>
          <a:ln w="0">
            <a:noFill/>
          </a:ln>
        </p:spPr>
        <p:txBody>
          <a:bodyPr lIns="38100" tIns="19050" rIns="38100" bIns="19050" anchor="ctr">
            <a:normAutofit/>
          </a:bodyPr>
          <a:lstStyle/>
          <a:p>
            <a:pPr algn="r" rtl="1">
              <a:lnSpc>
                <a:spcPct val="105000"/>
              </a:lnSpc>
              <a:buNone/>
              <a:defRPr sz="1725" b="0">
                <a:solidFill>
                  <a:srgbClr val="17121B"/>
                </a:solidFill>
                <a:latin typeface="DejaVu Sans"/>
                <a:ea typeface="DejaVu Sans"/>
                <a:cs typeface="DejaVu Sans"/>
              </a:defRPr>
            </a:pPr>
            <a:r>
              <a:rPr sz="1725" b="0">
                <a:solidFill>
                  <a:srgbClr val="17121B"/>
                </a:solidFill>
                <a:latin typeface="DejaVu Sans"/>
                <a:ea typeface="DejaVu Sans"/>
                <a:cs typeface="DejaVu Sans"/>
              </a:rPr>
              <a:t>المنافسة وفق معايير مهنية تشجع التعلم والتطوير المستمر.</a:t>
            </a:r>
          </a:p>
        </p:txBody>
      </p:sp>
      <p:sp>
        <p:nvSpPr>
          <p:cNvPr id="14" name="شكل بيضاوي 13">
            <a:extLst>
              <a:ext uri="{FF2B5EF4-FFF2-40B4-BE49-F238E27FC236}">
                <a16:creationId xmlns:a16="http://schemas.microsoft.com/office/drawing/2014/main" id="{215C9AF5-91A1-4C43-AA02-4EF209EDDE16}"/>
              </a:ext>
            </a:extLst>
          </p:cNvPr>
          <p:cNvSpPr>
            <a:spLocks noGrp="1"/>
          </p:cNvSpPr>
          <p:nvPr/>
        </p:nvSpPr>
        <p:spPr>
          <a:xfrm>
            <a:off x="10182225" y="4857750"/>
            <a:ext cx="95250" cy="95250"/>
          </a:xfrm>
          <a:prstGeom prst="ellipse">
            <a:avLst/>
          </a:prstGeom>
          <a:solidFill>
            <a:srgbClr val="1F9FCC"/>
          </a:solidFill>
          <a:ln w="0">
            <a:noFill/>
          </a:ln>
        </p:spPr>
        <p:txBody>
          <a:bodyPr/>
          <a:lstStyle/>
          <a:p>
            <a:endParaRPr lang="en-US"/>
          </a:p>
        </p:txBody>
      </p:sp>
      <p:sp>
        <p:nvSpPr>
          <p:cNvPr id="15" name="مستطيل 14">
            <a:extLst>
              <a:ext uri="{FF2B5EF4-FFF2-40B4-BE49-F238E27FC236}">
                <a16:creationId xmlns:a16="http://schemas.microsoft.com/office/drawing/2014/main" id="{1E5DB6CE-58D3-445E-9724-3E965B1BB7E0}"/>
              </a:ext>
            </a:extLst>
          </p:cNvPr>
          <p:cNvSpPr>
            <a:spLocks noGrp="1"/>
          </p:cNvSpPr>
          <p:nvPr/>
        </p:nvSpPr>
        <p:spPr>
          <a:xfrm>
            <a:off x="1952625" y="4619625"/>
            <a:ext cx="8077200" cy="571500"/>
          </a:xfrm>
          <a:prstGeom prst="rect">
            <a:avLst/>
          </a:prstGeom>
          <a:noFill/>
          <a:ln w="0">
            <a:noFill/>
          </a:ln>
        </p:spPr>
        <p:txBody>
          <a:bodyPr lIns="38100" tIns="19050" rIns="38100" bIns="19050" anchor="ctr">
            <a:normAutofit/>
          </a:bodyPr>
          <a:lstStyle/>
          <a:p>
            <a:pPr algn="r" rtl="1">
              <a:lnSpc>
                <a:spcPct val="105000"/>
              </a:lnSpc>
              <a:buNone/>
              <a:defRPr sz="1725" b="0">
                <a:solidFill>
                  <a:srgbClr val="17121B"/>
                </a:solidFill>
                <a:latin typeface="DejaVu Sans"/>
                <a:ea typeface="DejaVu Sans"/>
                <a:cs typeface="DejaVu Sans"/>
              </a:defRPr>
            </a:pPr>
            <a:r>
              <a:rPr sz="1725" b="0">
                <a:solidFill>
                  <a:srgbClr val="17121B"/>
                </a:solidFill>
                <a:latin typeface="DejaVu Sans"/>
                <a:ea typeface="DejaVu Sans"/>
                <a:cs typeface="DejaVu Sans"/>
              </a:rPr>
              <a:t>التأهل للتكريم والجوائز والمزايا التطويرية التي تعتمدها الجائزة.</a:t>
            </a:r>
          </a:p>
        </p:txBody>
      </p:sp>
    </p:spTree>
    <p:extLst>
      <p:ext uri="{BB962C8B-B14F-4D97-AF65-F5344CB8AC3E}">
        <p14:creationId xmlns:p14="http://schemas.microsoft.com/office/powerpoint/2010/main" val="9424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9"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26AC0051-78C4-4571-8A12-E3FF8C197687}"/>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09</a:t>
            </a:r>
          </a:p>
        </p:txBody>
      </p:sp>
      <p:sp>
        <p:nvSpPr>
          <p:cNvPr id="3" name="slide-title">
            <a:extLst>
              <a:ext uri="{FF2B5EF4-FFF2-40B4-BE49-F238E27FC236}">
                <a16:creationId xmlns:a16="http://schemas.microsoft.com/office/drawing/2014/main" id="{2D9AF72E-14A9-4BA7-AFC8-C4CEF81C0B6E}"/>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مجالات ومسارات الجائزة</a:t>
            </a:r>
          </a:p>
        </p:txBody>
      </p:sp>
      <p:sp>
        <p:nvSpPr>
          <p:cNvPr id="4" name="slide-subtitle">
            <a:extLst>
              <a:ext uri="{FF2B5EF4-FFF2-40B4-BE49-F238E27FC236}">
                <a16:creationId xmlns:a16="http://schemas.microsoft.com/office/drawing/2014/main" id="{506706BD-B8F6-4D75-B503-863051DB24D1}"/>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مجالان رئيسيان وأربعة مسارات متمايزة</a:t>
            </a:r>
          </a:p>
        </p:txBody>
      </p:sp>
      <p:graphicFrame>
        <p:nvGraphicFramePr>
          <p:cNvPr id="11" name="جدول 10"/>
          <p:cNvGraphicFramePr/>
          <p:nvPr/>
        </p:nvGraphicFramePr>
        <p:xfrm>
          <a:off x="857250" y="1666875"/>
          <a:ext cx="10429875" cy="3048000"/>
        </p:xfrm>
        <a:graphic>
          <a:graphicData uri="http://schemas.openxmlformats.org/drawingml/2006/table">
            <a:tbl>
              <a:tblPr/>
              <a:tblGrid>
                <a:gridCol w="3143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357187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609600">
                <a:tc>
                  <a:txBody>
                    <a:bodyPr/>
                    <a:lstStyle/>
                    <a:p>
                      <a:pPr algn="ctr" rtl="1"/>
                      <a:r>
                        <a:rPr sz="1275" b="1">
                          <a:solidFill>
                            <a:srgbClr val="FFFFFF"/>
                          </a:solidFill>
                          <a:latin typeface="DejaVu Sans"/>
                          <a:ea typeface="DejaVu Sans"/>
                          <a:cs typeface="DejaVu Sans"/>
                        </a:rPr>
                        <a:t>السؤال الحاسم</a:t>
                      </a:r>
                    </a:p>
                  </a:txBody>
                  <a:tcPr marL="76200" marR="76200" marT="66675" marB="66675" anchor="ctr">
                    <a:solidFill>
                      <a:srgbClr val="7030A0"/>
                    </a:solidFill>
                  </a:tcPr>
                </a:tc>
                <a:tc>
                  <a:txBody>
                    <a:bodyPr/>
                    <a:lstStyle/>
                    <a:p>
                      <a:pPr algn="ctr" rtl="1"/>
                      <a:r>
                        <a:rPr sz="1275" b="1">
                          <a:solidFill>
                            <a:srgbClr val="FFFFFF"/>
                          </a:solidFill>
                          <a:latin typeface="DejaVu Sans"/>
                          <a:ea typeface="DejaVu Sans"/>
                          <a:cs typeface="DejaVu Sans"/>
                        </a:rPr>
                        <a:t>جوهر المسار</a:t>
                      </a:r>
                    </a:p>
                  </a:txBody>
                  <a:tcPr marL="76200" marR="76200" marT="66675" marB="66675" anchor="ctr">
                    <a:solidFill>
                      <a:srgbClr val="7030A0"/>
                    </a:solidFill>
                  </a:tcPr>
                </a:tc>
                <a:tc>
                  <a:txBody>
                    <a:bodyPr/>
                    <a:lstStyle/>
                    <a:p>
                      <a:pPr algn="ctr" rtl="1"/>
                      <a:r>
                        <a:rPr sz="1275" b="1">
                          <a:solidFill>
                            <a:srgbClr val="FFFFFF"/>
                          </a:solidFill>
                          <a:latin typeface="DejaVu Sans"/>
                          <a:ea typeface="DejaVu Sans"/>
                          <a:cs typeface="DejaVu Sans"/>
                        </a:rPr>
                        <a:t>المسار</a:t>
                      </a:r>
                    </a:p>
                  </a:txBody>
                  <a:tcPr marL="76200" marR="76200" marT="66675" marB="66675" anchor="ctr">
                    <a:solidFill>
                      <a:srgbClr val="7030A0"/>
                    </a:solidFill>
                  </a:tcPr>
                </a:tc>
                <a:tc>
                  <a:txBody>
                    <a:bodyPr/>
                    <a:lstStyle/>
                    <a:p>
                      <a:pPr algn="ctr" rtl="1"/>
                      <a:r>
                        <a:rPr sz="1275" b="1">
                          <a:solidFill>
                            <a:srgbClr val="FFFFFF"/>
                          </a:solidFill>
                          <a:latin typeface="DejaVu Sans"/>
                          <a:ea typeface="DejaVu Sans"/>
                          <a:cs typeface="DejaVu Sans"/>
                        </a:rPr>
                        <a:t>المجال</a:t>
                      </a:r>
                    </a:p>
                  </a:txBody>
                  <a:tcPr marL="76200" marR="76200" marT="66675" marB="66675" anchor="ctr">
                    <a:solidFill>
                      <a:srgbClr val="7030A0"/>
                    </a:solidFill>
                  </a:tcPr>
                </a:tc>
                <a:extLst>
                  <a:ext uri="{0D108BD9-81ED-4DB2-BD59-A6C34878D82A}">
                    <a16:rowId xmlns:a16="http://schemas.microsoft.com/office/drawing/2014/main" val="10000"/>
                  </a:ext>
                </a:extLst>
              </a:tr>
              <a:tr h="609600">
                <a:tc>
                  <a:txBody>
                    <a:bodyPr/>
                    <a:lstStyle/>
                    <a:p>
                      <a:pPr algn="r" rtl="1"/>
                      <a:r>
                        <a:rPr sz="1163">
                          <a:solidFill>
                            <a:srgbClr val="17121B"/>
                          </a:solidFill>
                          <a:latin typeface="DejaVu Sans"/>
                          <a:ea typeface="DejaVu Sans"/>
                          <a:cs typeface="DejaVu Sans"/>
                        </a:rPr>
                        <a:t>ماذا غيّرت المبادرة في سلوك القراءة؟</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التنفيذ والأثر</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المبادرة القرائية الفردية المؤثرة</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الأفراد</a:t>
                      </a:r>
                    </a:p>
                  </a:txBody>
                  <a:tcPr marL="76200" marR="76200" marT="57150" marB="57150" anchor="ctr">
                    <a:solidFill>
                      <a:srgbClr val="FFFFFF"/>
                    </a:solidFill>
                  </a:tcPr>
                </a:tc>
                <a:extLst>
                  <a:ext uri="{0D108BD9-81ED-4DB2-BD59-A6C34878D82A}">
                    <a16:rowId xmlns:a16="http://schemas.microsoft.com/office/drawing/2014/main" val="10001"/>
                  </a:ext>
                </a:extLst>
              </a:tr>
              <a:tr h="609600">
                <a:tc>
                  <a:txBody>
                    <a:bodyPr/>
                    <a:lstStyle/>
                    <a:p>
                      <a:pPr algn="r" rtl="1"/>
                      <a:r>
                        <a:rPr sz="1163">
                          <a:solidFill>
                            <a:srgbClr val="17121B"/>
                          </a:solidFill>
                          <a:latin typeface="DejaVu Sans"/>
                          <a:ea typeface="DejaVu Sans"/>
                          <a:cs typeface="DejaVu Sans"/>
                        </a:rPr>
                        <a:t>ما الجديد الذي تقدمه الفكرة للقراءة؟</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الفكرة والحل الجديد</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الفكرة القرائية المبتكرة</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الأفراد</a:t>
                      </a:r>
                    </a:p>
                  </a:txBody>
                  <a:tcPr marL="76200" marR="76200" marT="57150" marB="57150" anchor="ctr">
                    <a:solidFill>
                      <a:srgbClr val="F5EFF8"/>
                    </a:solidFill>
                  </a:tcPr>
                </a:tc>
                <a:extLst>
                  <a:ext uri="{0D108BD9-81ED-4DB2-BD59-A6C34878D82A}">
                    <a16:rowId xmlns:a16="http://schemas.microsoft.com/office/drawing/2014/main" val="10002"/>
                  </a:ext>
                </a:extLst>
              </a:tr>
              <a:tr h="609600">
                <a:tc>
                  <a:txBody>
                    <a:bodyPr/>
                    <a:lstStyle/>
                    <a:p>
                      <a:pPr algn="r" rtl="1"/>
                      <a:r>
                        <a:rPr sz="1163">
                          <a:solidFill>
                            <a:srgbClr val="17121B"/>
                          </a:solidFill>
                          <a:latin typeface="DejaVu Sans"/>
                          <a:ea typeface="DejaVu Sans"/>
                          <a:cs typeface="DejaVu Sans"/>
                        </a:rPr>
                        <a:t>كيف شارك المستفيدون وماذا تغيّر لديهم؟</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جودة التجربة والمشاركة</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المبادرة القرائية المجتمعية المتميزة</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المنظمات</a:t>
                      </a:r>
                    </a:p>
                  </a:txBody>
                  <a:tcPr marL="76200" marR="76200" marT="57150" marB="57150" anchor="ctr">
                    <a:solidFill>
                      <a:srgbClr val="FFFFFF"/>
                    </a:solidFill>
                  </a:tcPr>
                </a:tc>
                <a:extLst>
                  <a:ext uri="{0D108BD9-81ED-4DB2-BD59-A6C34878D82A}">
                    <a16:rowId xmlns:a16="http://schemas.microsoft.com/office/drawing/2014/main" val="10003"/>
                  </a:ext>
                </a:extLst>
              </a:tr>
              <a:tr h="609600">
                <a:tc>
                  <a:txBody>
                    <a:bodyPr/>
                    <a:lstStyle/>
                    <a:p>
                      <a:pPr algn="r" rtl="1"/>
                      <a:r>
                        <a:rPr sz="1163">
                          <a:solidFill>
                            <a:srgbClr val="17121B"/>
                          </a:solidFill>
                          <a:latin typeface="DejaVu Sans"/>
                          <a:ea typeface="DejaVu Sans"/>
                          <a:cs typeface="DejaVu Sans"/>
                        </a:rPr>
                        <a:t>كيف تستمر الممارسة القرائية وتتوسع؟</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النضج والاستدامة</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المنظومة القرائية المستدامة</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المنظمات</a:t>
                      </a:r>
                    </a:p>
                  </a:txBody>
                  <a:tcPr marL="76200" marR="76200" marT="57150" marB="57150" anchor="ctr">
                    <a:solidFill>
                      <a:srgbClr val="F5EFF8"/>
                    </a:solidFill>
                  </a:tcPr>
                </a:tc>
                <a:extLst>
                  <a:ext uri="{0D108BD9-81ED-4DB2-BD59-A6C34878D82A}">
                    <a16:rowId xmlns:a16="http://schemas.microsoft.com/office/drawing/2014/main" val="10004"/>
                  </a:ext>
                </a:extLst>
              </a:tr>
            </a:tbl>
          </a:graphicData>
        </a:graphic>
      </p:graphicFrame>
      <p:sp>
        <p:nvSpPr>
          <p:cNvPr id="6" name="مستطيل 5">
            <a:extLst>
              <a:ext uri="{FF2B5EF4-FFF2-40B4-BE49-F238E27FC236}">
                <a16:creationId xmlns:a16="http://schemas.microsoft.com/office/drawing/2014/main" id="{98F218E7-B188-48C8-A447-AB05FC7D28B1}"/>
              </a:ext>
            </a:extLst>
          </p:cNvPr>
          <p:cNvSpPr>
            <a:spLocks noGrp="1"/>
          </p:cNvSpPr>
          <p:nvPr/>
        </p:nvSpPr>
        <p:spPr>
          <a:xfrm>
            <a:off x="2000250" y="5000625"/>
            <a:ext cx="8191500" cy="523875"/>
          </a:xfrm>
          <a:prstGeom prst="rect">
            <a:avLst/>
          </a:prstGeom>
          <a:noFill/>
          <a:ln w="0">
            <a:noFill/>
          </a:ln>
        </p:spPr>
        <p:txBody>
          <a:bodyPr lIns="57150" tIns="38100" rIns="57150" bIns="38100" anchor="ctr">
            <a:normAutofit/>
          </a:bodyPr>
          <a:lstStyle/>
          <a:p>
            <a:pPr algn="ctr" rtl="1">
              <a:lnSpc>
                <a:spcPct val="105000"/>
              </a:lnSpc>
              <a:buNone/>
              <a:defRPr sz="1500" b="1">
                <a:solidFill>
                  <a:srgbClr val="542278"/>
                </a:solidFill>
                <a:latin typeface="DejaVu Sans"/>
                <a:ea typeface="DejaVu Sans"/>
                <a:cs typeface="DejaVu Sans"/>
              </a:defRPr>
            </a:pPr>
            <a:r>
              <a:rPr sz="1500" b="1">
                <a:solidFill>
                  <a:srgbClr val="542278"/>
                </a:solidFill>
                <a:latin typeface="DejaVu Sans"/>
                <a:ea typeface="DejaVu Sans"/>
                <a:cs typeface="DejaVu Sans"/>
              </a:rPr>
              <a:t>تُقدّم المشاركة الواحدة في مسار واحد فقط، ويحدد موضوع التقييم المسار الأنسب.</a:t>
            </a:r>
          </a:p>
        </p:txBody>
      </p:sp>
    </p:spTree>
    <p:extLst>
      <p:ext uri="{BB962C8B-B14F-4D97-AF65-F5344CB8AC3E}">
        <p14:creationId xmlns:p14="http://schemas.microsoft.com/office/powerpoint/2010/main" val="283975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0"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3FCE9570-00EB-4468-838D-11F842CE2F21}"/>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10</a:t>
            </a:r>
          </a:p>
        </p:txBody>
      </p:sp>
      <p:sp>
        <p:nvSpPr>
          <p:cNvPr id="3" name="slide-title">
            <a:extLst>
              <a:ext uri="{FF2B5EF4-FFF2-40B4-BE49-F238E27FC236}">
                <a16:creationId xmlns:a16="http://schemas.microsoft.com/office/drawing/2014/main" id="{C232D6B7-6A9F-4DC4-A32D-9B2B4EEA7F5F}"/>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شروط الأهلية العامة</a:t>
            </a:r>
          </a:p>
        </p:txBody>
      </p:sp>
      <p:sp>
        <p:nvSpPr>
          <p:cNvPr id="4" name="شكل بيضاوي 3">
            <a:extLst>
              <a:ext uri="{FF2B5EF4-FFF2-40B4-BE49-F238E27FC236}">
                <a16:creationId xmlns:a16="http://schemas.microsoft.com/office/drawing/2014/main" id="{FBE384C6-4CD8-4835-A49C-254AB65C77AB}"/>
              </a:ext>
            </a:extLst>
          </p:cNvPr>
          <p:cNvSpPr>
            <a:spLocks noGrp="1"/>
          </p:cNvSpPr>
          <p:nvPr/>
        </p:nvSpPr>
        <p:spPr>
          <a:xfrm>
            <a:off x="10467975" y="1857375"/>
            <a:ext cx="95250" cy="95250"/>
          </a:xfrm>
          <a:prstGeom prst="ellipse">
            <a:avLst/>
          </a:prstGeom>
          <a:solidFill>
            <a:srgbClr val="7030A0"/>
          </a:solidFill>
          <a:ln w="0">
            <a:noFill/>
          </a:ln>
        </p:spPr>
        <p:txBody>
          <a:bodyPr/>
          <a:lstStyle/>
          <a:p>
            <a:endParaRPr lang="en-US"/>
          </a:p>
        </p:txBody>
      </p:sp>
      <p:sp>
        <p:nvSpPr>
          <p:cNvPr id="5" name="مستطيل 4">
            <a:extLst>
              <a:ext uri="{FF2B5EF4-FFF2-40B4-BE49-F238E27FC236}">
                <a16:creationId xmlns:a16="http://schemas.microsoft.com/office/drawing/2014/main" id="{B1636027-5A49-4F6E-BA80-8C6C47F1D4A2}"/>
              </a:ext>
            </a:extLst>
          </p:cNvPr>
          <p:cNvSpPr>
            <a:spLocks noGrp="1"/>
          </p:cNvSpPr>
          <p:nvPr/>
        </p:nvSpPr>
        <p:spPr>
          <a:xfrm>
            <a:off x="1762125" y="1619250"/>
            <a:ext cx="8553450" cy="571500"/>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اختيار مسار واحد للمشاركة نفسها في الدورة الواحدة.</a:t>
            </a:r>
          </a:p>
        </p:txBody>
      </p:sp>
      <p:sp>
        <p:nvSpPr>
          <p:cNvPr id="6" name="شكل بيضاوي 5">
            <a:extLst>
              <a:ext uri="{FF2B5EF4-FFF2-40B4-BE49-F238E27FC236}">
                <a16:creationId xmlns:a16="http://schemas.microsoft.com/office/drawing/2014/main" id="{3226E66D-D23A-40F9-83DF-1D5C29B81DBD}"/>
              </a:ext>
            </a:extLst>
          </p:cNvPr>
          <p:cNvSpPr>
            <a:spLocks noGrp="1"/>
          </p:cNvSpPr>
          <p:nvPr/>
        </p:nvSpPr>
        <p:spPr>
          <a:xfrm>
            <a:off x="10467975" y="2428875"/>
            <a:ext cx="95250" cy="95250"/>
          </a:xfrm>
          <a:prstGeom prst="ellipse">
            <a:avLst/>
          </a:prstGeom>
          <a:solidFill>
            <a:srgbClr val="1F9FCC"/>
          </a:solidFill>
          <a:ln w="0">
            <a:noFill/>
          </a:ln>
        </p:spPr>
        <p:txBody>
          <a:bodyPr/>
          <a:lstStyle/>
          <a:p>
            <a:endParaRPr lang="en-US"/>
          </a:p>
        </p:txBody>
      </p:sp>
      <p:sp>
        <p:nvSpPr>
          <p:cNvPr id="7" name="مستطيل 6">
            <a:extLst>
              <a:ext uri="{FF2B5EF4-FFF2-40B4-BE49-F238E27FC236}">
                <a16:creationId xmlns:a16="http://schemas.microsoft.com/office/drawing/2014/main" id="{50429490-E76C-41CC-ABA1-F83E6B145EBB}"/>
              </a:ext>
            </a:extLst>
          </p:cNvPr>
          <p:cNvSpPr>
            <a:spLocks noGrp="1"/>
          </p:cNvSpPr>
          <p:nvPr/>
        </p:nvSpPr>
        <p:spPr>
          <a:xfrm>
            <a:off x="1762125" y="2190750"/>
            <a:ext cx="8553450" cy="571500"/>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ارتباط المشاركة بتعزيز القراءة أو تحسين تجربة القارئ أو الوصول إلى الكتاب.</a:t>
            </a:r>
          </a:p>
        </p:txBody>
      </p:sp>
      <p:sp>
        <p:nvSpPr>
          <p:cNvPr id="8" name="شكل بيضاوي 7">
            <a:extLst>
              <a:ext uri="{FF2B5EF4-FFF2-40B4-BE49-F238E27FC236}">
                <a16:creationId xmlns:a16="http://schemas.microsoft.com/office/drawing/2014/main" id="{6479B239-06C2-4940-9CAF-E03BC9E4D31B}"/>
              </a:ext>
            </a:extLst>
          </p:cNvPr>
          <p:cNvSpPr>
            <a:spLocks noGrp="1"/>
          </p:cNvSpPr>
          <p:nvPr/>
        </p:nvSpPr>
        <p:spPr>
          <a:xfrm>
            <a:off x="10467975" y="3000375"/>
            <a:ext cx="95250" cy="95250"/>
          </a:xfrm>
          <a:prstGeom prst="ellipse">
            <a:avLst/>
          </a:prstGeom>
          <a:solidFill>
            <a:srgbClr val="7030A0"/>
          </a:solidFill>
          <a:ln w="0">
            <a:noFill/>
          </a:ln>
        </p:spPr>
        <p:txBody>
          <a:bodyPr/>
          <a:lstStyle/>
          <a:p>
            <a:endParaRPr lang="en-US"/>
          </a:p>
        </p:txBody>
      </p:sp>
      <p:sp>
        <p:nvSpPr>
          <p:cNvPr id="9" name="مستطيل 8">
            <a:extLst>
              <a:ext uri="{FF2B5EF4-FFF2-40B4-BE49-F238E27FC236}">
                <a16:creationId xmlns:a16="http://schemas.microsoft.com/office/drawing/2014/main" id="{8F2C2164-1DAC-411B-AD04-69112973F05B}"/>
              </a:ext>
            </a:extLst>
          </p:cNvPr>
          <p:cNvSpPr>
            <a:spLocks noGrp="1"/>
          </p:cNvSpPr>
          <p:nvPr/>
        </p:nvSpPr>
        <p:spPr>
          <a:xfrm>
            <a:off x="1762125" y="2762250"/>
            <a:ext cx="8553450" cy="571500"/>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وجود المتقدم أو الجهة ضمن النطاق الجغرافي المعتمد داخل المملكة.</a:t>
            </a:r>
          </a:p>
        </p:txBody>
      </p:sp>
      <p:sp>
        <p:nvSpPr>
          <p:cNvPr id="10" name="شكل بيضاوي 9">
            <a:extLst>
              <a:ext uri="{FF2B5EF4-FFF2-40B4-BE49-F238E27FC236}">
                <a16:creationId xmlns:a16="http://schemas.microsoft.com/office/drawing/2014/main" id="{1C015CE6-80AD-481C-9D83-B6353043BF30}"/>
              </a:ext>
            </a:extLst>
          </p:cNvPr>
          <p:cNvSpPr>
            <a:spLocks noGrp="1"/>
          </p:cNvSpPr>
          <p:nvPr/>
        </p:nvSpPr>
        <p:spPr>
          <a:xfrm>
            <a:off x="10467975" y="3571875"/>
            <a:ext cx="95250" cy="95250"/>
          </a:xfrm>
          <a:prstGeom prst="ellipse">
            <a:avLst/>
          </a:prstGeom>
          <a:solidFill>
            <a:srgbClr val="1F9FCC"/>
          </a:solidFill>
          <a:ln w="0">
            <a:noFill/>
          </a:ln>
        </p:spPr>
        <p:txBody>
          <a:bodyPr/>
          <a:lstStyle/>
          <a:p>
            <a:endParaRPr lang="en-US"/>
          </a:p>
        </p:txBody>
      </p:sp>
      <p:sp>
        <p:nvSpPr>
          <p:cNvPr id="11" name="مستطيل 10">
            <a:extLst>
              <a:ext uri="{FF2B5EF4-FFF2-40B4-BE49-F238E27FC236}">
                <a16:creationId xmlns:a16="http://schemas.microsoft.com/office/drawing/2014/main" id="{A42D64D6-0B87-4301-8F03-7A75AA1F6B8E}"/>
              </a:ext>
            </a:extLst>
          </p:cNvPr>
          <p:cNvSpPr>
            <a:spLocks noGrp="1"/>
          </p:cNvSpPr>
          <p:nvPr/>
        </p:nvSpPr>
        <p:spPr>
          <a:xfrm>
            <a:off x="1762125" y="3333750"/>
            <a:ext cx="8553450" cy="571500"/>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وقوع المبادرات المنفذة ضمن الفترة المؤهلة، مع استثناء مسار الفكرة من التنفيذ الكامل.</a:t>
            </a:r>
          </a:p>
        </p:txBody>
      </p:sp>
      <p:sp>
        <p:nvSpPr>
          <p:cNvPr id="12" name="شكل بيضاوي 11">
            <a:extLst>
              <a:ext uri="{FF2B5EF4-FFF2-40B4-BE49-F238E27FC236}">
                <a16:creationId xmlns:a16="http://schemas.microsoft.com/office/drawing/2014/main" id="{EB64459E-1DC8-431F-985C-AF5E5867C17B}"/>
              </a:ext>
            </a:extLst>
          </p:cNvPr>
          <p:cNvSpPr>
            <a:spLocks noGrp="1"/>
          </p:cNvSpPr>
          <p:nvPr/>
        </p:nvSpPr>
        <p:spPr>
          <a:xfrm>
            <a:off x="10467975" y="4143375"/>
            <a:ext cx="95250" cy="95250"/>
          </a:xfrm>
          <a:prstGeom prst="ellipse">
            <a:avLst/>
          </a:prstGeom>
          <a:solidFill>
            <a:srgbClr val="7030A0"/>
          </a:solidFill>
          <a:ln w="0">
            <a:noFill/>
          </a:ln>
        </p:spPr>
        <p:txBody>
          <a:bodyPr/>
          <a:lstStyle/>
          <a:p>
            <a:endParaRPr lang="en-US"/>
          </a:p>
        </p:txBody>
      </p:sp>
      <p:sp>
        <p:nvSpPr>
          <p:cNvPr id="13" name="مستطيل 12">
            <a:extLst>
              <a:ext uri="{FF2B5EF4-FFF2-40B4-BE49-F238E27FC236}">
                <a16:creationId xmlns:a16="http://schemas.microsoft.com/office/drawing/2014/main" id="{930E5F9C-BB1F-48C5-8F6B-94F5687932AD}"/>
              </a:ext>
            </a:extLst>
          </p:cNvPr>
          <p:cNvSpPr>
            <a:spLocks noGrp="1"/>
          </p:cNvSpPr>
          <p:nvPr/>
        </p:nvSpPr>
        <p:spPr>
          <a:xfrm>
            <a:off x="1762125" y="3905250"/>
            <a:ext cx="8553450" cy="571500"/>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تقديم نموذج ترشح مكتمل والإقرار بصحة البيانات وحقوق استخدام المواد.</a:t>
            </a:r>
          </a:p>
        </p:txBody>
      </p:sp>
      <p:sp>
        <p:nvSpPr>
          <p:cNvPr id="14" name="شكل بيضاوي 13">
            <a:extLst>
              <a:ext uri="{FF2B5EF4-FFF2-40B4-BE49-F238E27FC236}">
                <a16:creationId xmlns:a16="http://schemas.microsoft.com/office/drawing/2014/main" id="{6BE8B5CB-7F38-45DA-9C0B-4892CE13E7F9}"/>
              </a:ext>
            </a:extLst>
          </p:cNvPr>
          <p:cNvSpPr>
            <a:spLocks noGrp="1"/>
          </p:cNvSpPr>
          <p:nvPr/>
        </p:nvSpPr>
        <p:spPr>
          <a:xfrm>
            <a:off x="10467975" y="4714875"/>
            <a:ext cx="95250" cy="95250"/>
          </a:xfrm>
          <a:prstGeom prst="ellipse">
            <a:avLst/>
          </a:prstGeom>
          <a:solidFill>
            <a:srgbClr val="1F9FCC"/>
          </a:solidFill>
          <a:ln w="0">
            <a:noFill/>
          </a:ln>
        </p:spPr>
        <p:txBody>
          <a:bodyPr/>
          <a:lstStyle/>
          <a:p>
            <a:endParaRPr lang="en-US"/>
          </a:p>
        </p:txBody>
      </p:sp>
      <p:sp>
        <p:nvSpPr>
          <p:cNvPr id="15" name="مستطيل 14">
            <a:extLst>
              <a:ext uri="{FF2B5EF4-FFF2-40B4-BE49-F238E27FC236}">
                <a16:creationId xmlns:a16="http://schemas.microsoft.com/office/drawing/2014/main" id="{C56E27DF-0104-4493-A9F4-4D89514EF555}"/>
              </a:ext>
            </a:extLst>
          </p:cNvPr>
          <p:cNvSpPr>
            <a:spLocks noGrp="1"/>
          </p:cNvSpPr>
          <p:nvPr/>
        </p:nvSpPr>
        <p:spPr>
          <a:xfrm>
            <a:off x="1762125" y="4476750"/>
            <a:ext cx="8553450" cy="571500"/>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إرفاق شواهد موثوقة ومناسبة لطبيعة المسار.</a:t>
            </a:r>
          </a:p>
        </p:txBody>
      </p:sp>
      <p:sp>
        <p:nvSpPr>
          <p:cNvPr id="16" name="شكل بيضاوي 15">
            <a:extLst>
              <a:ext uri="{FF2B5EF4-FFF2-40B4-BE49-F238E27FC236}">
                <a16:creationId xmlns:a16="http://schemas.microsoft.com/office/drawing/2014/main" id="{A048E6FB-395E-467F-890D-98F590092673}"/>
              </a:ext>
            </a:extLst>
          </p:cNvPr>
          <p:cNvSpPr>
            <a:spLocks noGrp="1"/>
          </p:cNvSpPr>
          <p:nvPr/>
        </p:nvSpPr>
        <p:spPr>
          <a:xfrm>
            <a:off x="10467975" y="5286375"/>
            <a:ext cx="95250" cy="95250"/>
          </a:xfrm>
          <a:prstGeom prst="ellipse">
            <a:avLst/>
          </a:prstGeom>
          <a:solidFill>
            <a:srgbClr val="7030A0"/>
          </a:solidFill>
          <a:ln w="0">
            <a:noFill/>
          </a:ln>
        </p:spPr>
        <p:txBody>
          <a:bodyPr/>
          <a:lstStyle/>
          <a:p>
            <a:endParaRPr lang="en-US"/>
          </a:p>
        </p:txBody>
      </p:sp>
      <p:sp>
        <p:nvSpPr>
          <p:cNvPr id="17" name="مستطيل 16">
            <a:extLst>
              <a:ext uri="{FF2B5EF4-FFF2-40B4-BE49-F238E27FC236}">
                <a16:creationId xmlns:a16="http://schemas.microsoft.com/office/drawing/2014/main" id="{C25B9FFE-F998-4DDE-89EE-0754EB6F4D18}"/>
              </a:ext>
            </a:extLst>
          </p:cNvPr>
          <p:cNvSpPr>
            <a:spLocks noGrp="1"/>
          </p:cNvSpPr>
          <p:nvPr/>
        </p:nvSpPr>
        <p:spPr>
          <a:xfrm>
            <a:off x="1762125" y="5048250"/>
            <a:ext cx="8553450" cy="571500"/>
          </a:xfrm>
          <a:prstGeom prst="rect">
            <a:avLst/>
          </a:prstGeom>
          <a:noFill/>
          <a:ln w="0">
            <a:noFill/>
          </a:ln>
        </p:spPr>
        <p:txBody>
          <a:bodyPr lIns="38100" tIns="19050" rIns="38100" bIns="19050" anchor="ctr">
            <a:normAutofit/>
          </a:bodyPr>
          <a:lstStyle/>
          <a:p>
            <a:pPr algn="r" rtl="1">
              <a:lnSpc>
                <a:spcPct val="105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الالتزام بحماية بيانات المستفيدين والملكية الفكرية والأنظمة ذات العلاقة.</a:t>
            </a:r>
          </a:p>
        </p:txBody>
      </p:sp>
    </p:spTree>
    <p:extLst>
      <p:ext uri="{BB962C8B-B14F-4D97-AF65-F5344CB8AC3E}">
        <p14:creationId xmlns:p14="http://schemas.microsoft.com/office/powerpoint/2010/main" val="1564032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262D5B22-C07D-4CAE-A3F6-9EDB1F0D08FD}"/>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11</a:t>
            </a:r>
          </a:p>
        </p:txBody>
      </p:sp>
      <p:sp>
        <p:nvSpPr>
          <p:cNvPr id="3" name="slide-title">
            <a:extLst>
              <a:ext uri="{FF2B5EF4-FFF2-40B4-BE49-F238E27FC236}">
                <a16:creationId xmlns:a16="http://schemas.microsoft.com/office/drawing/2014/main" id="{06BE8752-653F-461B-A684-5CB27CEC6855}"/>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خطوات المشاركة</a:t>
            </a:r>
          </a:p>
        </p:txBody>
      </p:sp>
      <p:sp>
        <p:nvSpPr>
          <p:cNvPr id="4" name="مستطيل: زوايا مستديرة 3">
            <a:extLst>
              <a:ext uri="{FF2B5EF4-FFF2-40B4-BE49-F238E27FC236}">
                <a16:creationId xmlns:a16="http://schemas.microsoft.com/office/drawing/2014/main" id="{4E5E81E3-CEF4-4BF4-87D6-45ADEBAC99FA}"/>
              </a:ext>
            </a:extLst>
          </p:cNvPr>
          <p:cNvSpPr>
            <a:spLocks noGrp="1"/>
          </p:cNvSpPr>
          <p:nvPr/>
        </p:nvSpPr>
        <p:spPr>
          <a:xfrm>
            <a:off x="4857750" y="1571625"/>
            <a:ext cx="647700" cy="552450"/>
          </a:xfrm>
          <a:prstGeom prst="roundRect">
            <a:avLst>
              <a:gd name="adj" fmla="val 13793"/>
            </a:avLst>
          </a:prstGeom>
          <a:solidFill>
            <a:srgbClr val="7030A0"/>
          </a:solidFill>
          <a:ln w="0">
            <a:noFill/>
          </a:ln>
        </p:spPr>
        <p:txBody>
          <a:bodyPr lIns="57150" tIns="38100" rIns="57150" bIns="38100" anchor="ctr">
            <a:normAutofit/>
          </a:bodyPr>
          <a:lstStyle/>
          <a:p>
            <a:pPr algn="ctr" rtl="1">
              <a:lnSpc>
                <a:spcPct val="10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01</a:t>
            </a:r>
          </a:p>
        </p:txBody>
      </p:sp>
      <p:sp>
        <p:nvSpPr>
          <p:cNvPr id="5" name="مستطيل 4">
            <a:extLst>
              <a:ext uri="{FF2B5EF4-FFF2-40B4-BE49-F238E27FC236}">
                <a16:creationId xmlns:a16="http://schemas.microsoft.com/office/drawing/2014/main" id="{54A77719-D5F0-4DD3-A240-7C539165C27D}"/>
              </a:ext>
            </a:extLst>
          </p:cNvPr>
          <p:cNvSpPr>
            <a:spLocks noGrp="1"/>
          </p:cNvSpPr>
          <p:nvPr/>
        </p:nvSpPr>
        <p:spPr>
          <a:xfrm>
            <a:off x="1524000" y="1571625"/>
            <a:ext cx="3190875" cy="552450"/>
          </a:xfrm>
          <a:prstGeom prst="rect">
            <a:avLst/>
          </a:prstGeom>
          <a:noFill/>
          <a:ln w="0">
            <a:noFill/>
          </a:ln>
        </p:spPr>
        <p:txBody>
          <a:bodyPr lIns="57150" tIns="38100" rIns="57150" bIns="38100" anchor="ctr">
            <a:normAutofit/>
          </a:bodyPr>
          <a:lstStyle/>
          <a:p>
            <a:pPr algn="r" rtl="1">
              <a:lnSpc>
                <a:spcPct val="105000"/>
              </a:lnSpc>
              <a:buNone/>
              <a:defRPr sz="1575" b="1">
                <a:solidFill>
                  <a:srgbClr val="17121B"/>
                </a:solidFill>
                <a:latin typeface="DejaVu Sans"/>
                <a:ea typeface="DejaVu Sans"/>
                <a:cs typeface="DejaVu Sans"/>
              </a:defRPr>
            </a:pPr>
            <a:r>
              <a:rPr sz="1575" b="1">
                <a:solidFill>
                  <a:srgbClr val="17121B"/>
                </a:solidFill>
                <a:latin typeface="DejaVu Sans"/>
                <a:ea typeface="DejaVu Sans"/>
                <a:cs typeface="DejaVu Sans"/>
              </a:rPr>
              <a:t>تحديد المجال والمسار</a:t>
            </a:r>
          </a:p>
        </p:txBody>
      </p:sp>
      <p:sp>
        <p:nvSpPr>
          <p:cNvPr id="6" name="مستطيل: زوايا مستديرة 5">
            <a:extLst>
              <a:ext uri="{FF2B5EF4-FFF2-40B4-BE49-F238E27FC236}">
                <a16:creationId xmlns:a16="http://schemas.microsoft.com/office/drawing/2014/main" id="{150AA6E2-5011-457F-9E2F-AB9B05AAC465}"/>
              </a:ext>
            </a:extLst>
          </p:cNvPr>
          <p:cNvSpPr>
            <a:spLocks noGrp="1"/>
          </p:cNvSpPr>
          <p:nvPr/>
        </p:nvSpPr>
        <p:spPr>
          <a:xfrm>
            <a:off x="9763125" y="1571625"/>
            <a:ext cx="647700" cy="552450"/>
          </a:xfrm>
          <a:prstGeom prst="roundRect">
            <a:avLst>
              <a:gd name="adj" fmla="val 13793"/>
            </a:avLst>
          </a:prstGeom>
          <a:solidFill>
            <a:srgbClr val="1F9FCC"/>
          </a:solidFill>
          <a:ln w="0">
            <a:noFill/>
          </a:ln>
        </p:spPr>
        <p:txBody>
          <a:bodyPr lIns="57150" tIns="38100" rIns="57150" bIns="38100" anchor="ctr">
            <a:normAutofit/>
          </a:bodyPr>
          <a:lstStyle/>
          <a:p>
            <a:pPr algn="ctr" rtl="1">
              <a:lnSpc>
                <a:spcPct val="10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02</a:t>
            </a:r>
          </a:p>
        </p:txBody>
      </p:sp>
      <p:sp>
        <p:nvSpPr>
          <p:cNvPr id="7" name="مستطيل 6">
            <a:extLst>
              <a:ext uri="{FF2B5EF4-FFF2-40B4-BE49-F238E27FC236}">
                <a16:creationId xmlns:a16="http://schemas.microsoft.com/office/drawing/2014/main" id="{D272DDCF-13E2-4191-A645-C989D472BA91}"/>
              </a:ext>
            </a:extLst>
          </p:cNvPr>
          <p:cNvSpPr>
            <a:spLocks noGrp="1"/>
          </p:cNvSpPr>
          <p:nvPr/>
        </p:nvSpPr>
        <p:spPr>
          <a:xfrm>
            <a:off x="6429375" y="1571625"/>
            <a:ext cx="3190875" cy="552450"/>
          </a:xfrm>
          <a:prstGeom prst="rect">
            <a:avLst/>
          </a:prstGeom>
          <a:noFill/>
          <a:ln w="0">
            <a:noFill/>
          </a:ln>
        </p:spPr>
        <p:txBody>
          <a:bodyPr lIns="57150" tIns="38100" rIns="57150" bIns="38100" anchor="ctr">
            <a:normAutofit/>
          </a:bodyPr>
          <a:lstStyle/>
          <a:p>
            <a:pPr algn="r" rtl="1">
              <a:lnSpc>
                <a:spcPct val="105000"/>
              </a:lnSpc>
              <a:buNone/>
              <a:defRPr sz="1575" b="1">
                <a:solidFill>
                  <a:srgbClr val="17121B"/>
                </a:solidFill>
                <a:latin typeface="DejaVu Sans"/>
                <a:ea typeface="DejaVu Sans"/>
                <a:cs typeface="DejaVu Sans"/>
              </a:defRPr>
            </a:pPr>
            <a:r>
              <a:rPr sz="1575" b="1">
                <a:solidFill>
                  <a:srgbClr val="17121B"/>
                </a:solidFill>
                <a:latin typeface="DejaVu Sans"/>
                <a:ea typeface="DejaVu Sans"/>
                <a:cs typeface="DejaVu Sans"/>
              </a:rPr>
              <a:t>قراءة المعايير والشواهد</a:t>
            </a:r>
          </a:p>
        </p:txBody>
      </p:sp>
      <p:sp>
        <p:nvSpPr>
          <p:cNvPr id="8" name="مستطيل: زوايا مستديرة 7">
            <a:extLst>
              <a:ext uri="{FF2B5EF4-FFF2-40B4-BE49-F238E27FC236}">
                <a16:creationId xmlns:a16="http://schemas.microsoft.com/office/drawing/2014/main" id="{F9B9646C-AFCD-4C70-A574-A662E601C466}"/>
              </a:ext>
            </a:extLst>
          </p:cNvPr>
          <p:cNvSpPr>
            <a:spLocks noGrp="1"/>
          </p:cNvSpPr>
          <p:nvPr/>
        </p:nvSpPr>
        <p:spPr>
          <a:xfrm>
            <a:off x="4857750" y="2543175"/>
            <a:ext cx="647700" cy="552450"/>
          </a:xfrm>
          <a:prstGeom prst="roundRect">
            <a:avLst>
              <a:gd name="adj" fmla="val 13793"/>
            </a:avLst>
          </a:prstGeom>
          <a:solidFill>
            <a:srgbClr val="7030A0"/>
          </a:solidFill>
          <a:ln w="0">
            <a:noFill/>
          </a:ln>
        </p:spPr>
        <p:txBody>
          <a:bodyPr lIns="57150" tIns="38100" rIns="57150" bIns="38100" anchor="ctr">
            <a:normAutofit/>
          </a:bodyPr>
          <a:lstStyle/>
          <a:p>
            <a:pPr algn="ctr" rtl="1">
              <a:lnSpc>
                <a:spcPct val="10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03</a:t>
            </a:r>
          </a:p>
        </p:txBody>
      </p:sp>
      <p:sp>
        <p:nvSpPr>
          <p:cNvPr id="9" name="مستطيل 8">
            <a:extLst>
              <a:ext uri="{FF2B5EF4-FFF2-40B4-BE49-F238E27FC236}">
                <a16:creationId xmlns:a16="http://schemas.microsoft.com/office/drawing/2014/main" id="{10A434B7-4CEF-4A1F-B8F8-E90839086109}"/>
              </a:ext>
            </a:extLst>
          </p:cNvPr>
          <p:cNvSpPr>
            <a:spLocks noGrp="1"/>
          </p:cNvSpPr>
          <p:nvPr/>
        </p:nvSpPr>
        <p:spPr>
          <a:xfrm>
            <a:off x="1524000" y="2543175"/>
            <a:ext cx="3190875" cy="552450"/>
          </a:xfrm>
          <a:prstGeom prst="rect">
            <a:avLst/>
          </a:prstGeom>
          <a:noFill/>
          <a:ln w="0">
            <a:noFill/>
          </a:ln>
        </p:spPr>
        <p:txBody>
          <a:bodyPr lIns="57150" tIns="38100" rIns="57150" bIns="38100" anchor="ctr">
            <a:normAutofit/>
          </a:bodyPr>
          <a:lstStyle/>
          <a:p>
            <a:pPr algn="r" rtl="1">
              <a:lnSpc>
                <a:spcPct val="105000"/>
              </a:lnSpc>
              <a:buNone/>
              <a:defRPr sz="1575" b="1">
                <a:solidFill>
                  <a:srgbClr val="17121B"/>
                </a:solidFill>
                <a:latin typeface="DejaVu Sans"/>
                <a:ea typeface="DejaVu Sans"/>
                <a:cs typeface="DejaVu Sans"/>
              </a:defRPr>
            </a:pPr>
            <a:r>
              <a:rPr sz="1575" b="1">
                <a:solidFill>
                  <a:srgbClr val="17121B"/>
                </a:solidFill>
                <a:latin typeface="DejaVu Sans"/>
                <a:ea typeface="DejaVu Sans"/>
                <a:cs typeface="DejaVu Sans"/>
              </a:rPr>
              <a:t>تجهيز وصف المشاركة</a:t>
            </a:r>
          </a:p>
        </p:txBody>
      </p:sp>
      <p:sp>
        <p:nvSpPr>
          <p:cNvPr id="10" name="مستطيل: زوايا مستديرة 9">
            <a:extLst>
              <a:ext uri="{FF2B5EF4-FFF2-40B4-BE49-F238E27FC236}">
                <a16:creationId xmlns:a16="http://schemas.microsoft.com/office/drawing/2014/main" id="{8129290C-96E0-4C11-8DD4-9A675612E387}"/>
              </a:ext>
            </a:extLst>
          </p:cNvPr>
          <p:cNvSpPr>
            <a:spLocks noGrp="1"/>
          </p:cNvSpPr>
          <p:nvPr/>
        </p:nvSpPr>
        <p:spPr>
          <a:xfrm>
            <a:off x="9763125" y="2543175"/>
            <a:ext cx="647700" cy="552450"/>
          </a:xfrm>
          <a:prstGeom prst="roundRect">
            <a:avLst>
              <a:gd name="adj" fmla="val 13793"/>
            </a:avLst>
          </a:prstGeom>
          <a:solidFill>
            <a:srgbClr val="1F9FCC"/>
          </a:solidFill>
          <a:ln w="0">
            <a:noFill/>
          </a:ln>
        </p:spPr>
        <p:txBody>
          <a:bodyPr lIns="57150" tIns="38100" rIns="57150" bIns="38100" anchor="ctr">
            <a:normAutofit/>
          </a:bodyPr>
          <a:lstStyle/>
          <a:p>
            <a:pPr algn="ctr" rtl="1">
              <a:lnSpc>
                <a:spcPct val="10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04</a:t>
            </a:r>
          </a:p>
        </p:txBody>
      </p:sp>
      <p:sp>
        <p:nvSpPr>
          <p:cNvPr id="11" name="مستطيل 10">
            <a:extLst>
              <a:ext uri="{FF2B5EF4-FFF2-40B4-BE49-F238E27FC236}">
                <a16:creationId xmlns:a16="http://schemas.microsoft.com/office/drawing/2014/main" id="{1BCB946A-7F8B-4204-AA76-0C717FE39297}"/>
              </a:ext>
            </a:extLst>
          </p:cNvPr>
          <p:cNvSpPr>
            <a:spLocks noGrp="1"/>
          </p:cNvSpPr>
          <p:nvPr/>
        </p:nvSpPr>
        <p:spPr>
          <a:xfrm>
            <a:off x="6429375" y="2543175"/>
            <a:ext cx="3190875" cy="552450"/>
          </a:xfrm>
          <a:prstGeom prst="rect">
            <a:avLst/>
          </a:prstGeom>
          <a:noFill/>
          <a:ln w="0">
            <a:noFill/>
          </a:ln>
        </p:spPr>
        <p:txBody>
          <a:bodyPr lIns="57150" tIns="38100" rIns="57150" bIns="38100" anchor="ctr">
            <a:normAutofit/>
          </a:bodyPr>
          <a:lstStyle/>
          <a:p>
            <a:pPr algn="r" rtl="1">
              <a:lnSpc>
                <a:spcPct val="105000"/>
              </a:lnSpc>
              <a:buNone/>
              <a:defRPr sz="1575" b="1">
                <a:solidFill>
                  <a:srgbClr val="17121B"/>
                </a:solidFill>
                <a:latin typeface="DejaVu Sans"/>
                <a:ea typeface="DejaVu Sans"/>
                <a:cs typeface="DejaVu Sans"/>
              </a:defRPr>
            </a:pPr>
            <a:r>
              <a:rPr sz="1575" b="1">
                <a:solidFill>
                  <a:srgbClr val="17121B"/>
                </a:solidFill>
                <a:latin typeface="DejaVu Sans"/>
                <a:ea typeface="DejaVu Sans"/>
                <a:cs typeface="DejaVu Sans"/>
              </a:rPr>
              <a:t>التسجيل في المنصة</a:t>
            </a:r>
          </a:p>
        </p:txBody>
      </p:sp>
      <p:sp>
        <p:nvSpPr>
          <p:cNvPr id="12" name="مستطيل: زوايا مستديرة 11">
            <a:extLst>
              <a:ext uri="{FF2B5EF4-FFF2-40B4-BE49-F238E27FC236}">
                <a16:creationId xmlns:a16="http://schemas.microsoft.com/office/drawing/2014/main" id="{5CC80908-C632-48CB-A424-9A15D76279B8}"/>
              </a:ext>
            </a:extLst>
          </p:cNvPr>
          <p:cNvSpPr>
            <a:spLocks noGrp="1"/>
          </p:cNvSpPr>
          <p:nvPr/>
        </p:nvSpPr>
        <p:spPr>
          <a:xfrm>
            <a:off x="4857750" y="3514725"/>
            <a:ext cx="647700" cy="552450"/>
          </a:xfrm>
          <a:prstGeom prst="roundRect">
            <a:avLst>
              <a:gd name="adj" fmla="val 13793"/>
            </a:avLst>
          </a:prstGeom>
          <a:solidFill>
            <a:srgbClr val="7030A0"/>
          </a:solidFill>
          <a:ln w="0">
            <a:noFill/>
          </a:ln>
        </p:spPr>
        <p:txBody>
          <a:bodyPr lIns="57150" tIns="38100" rIns="57150" bIns="38100" anchor="ctr">
            <a:normAutofit/>
          </a:bodyPr>
          <a:lstStyle/>
          <a:p>
            <a:pPr algn="ctr" rtl="1">
              <a:lnSpc>
                <a:spcPct val="10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05</a:t>
            </a:r>
          </a:p>
        </p:txBody>
      </p:sp>
      <p:sp>
        <p:nvSpPr>
          <p:cNvPr id="13" name="مستطيل 12">
            <a:extLst>
              <a:ext uri="{FF2B5EF4-FFF2-40B4-BE49-F238E27FC236}">
                <a16:creationId xmlns:a16="http://schemas.microsoft.com/office/drawing/2014/main" id="{6EF5FB40-5AE0-4237-834A-FCA89AB53D9D}"/>
              </a:ext>
            </a:extLst>
          </p:cNvPr>
          <p:cNvSpPr>
            <a:spLocks noGrp="1"/>
          </p:cNvSpPr>
          <p:nvPr/>
        </p:nvSpPr>
        <p:spPr>
          <a:xfrm>
            <a:off x="1524000" y="3514725"/>
            <a:ext cx="3190875" cy="552450"/>
          </a:xfrm>
          <a:prstGeom prst="rect">
            <a:avLst/>
          </a:prstGeom>
          <a:noFill/>
          <a:ln w="0">
            <a:noFill/>
          </a:ln>
        </p:spPr>
        <p:txBody>
          <a:bodyPr lIns="57150" tIns="38100" rIns="57150" bIns="38100" anchor="ctr">
            <a:normAutofit/>
          </a:bodyPr>
          <a:lstStyle/>
          <a:p>
            <a:pPr algn="r" rtl="1">
              <a:lnSpc>
                <a:spcPct val="105000"/>
              </a:lnSpc>
              <a:buNone/>
              <a:defRPr sz="1575" b="1">
                <a:solidFill>
                  <a:srgbClr val="17121B"/>
                </a:solidFill>
                <a:latin typeface="DejaVu Sans"/>
                <a:ea typeface="DejaVu Sans"/>
                <a:cs typeface="DejaVu Sans"/>
              </a:defRPr>
            </a:pPr>
            <a:r>
              <a:rPr sz="1575" b="1">
                <a:solidFill>
                  <a:srgbClr val="17121B"/>
                </a:solidFill>
                <a:latin typeface="DejaVu Sans"/>
                <a:ea typeface="DejaVu Sans"/>
                <a:cs typeface="DejaVu Sans"/>
              </a:rPr>
              <a:t>تعبئة نموذج الترشح</a:t>
            </a:r>
          </a:p>
        </p:txBody>
      </p:sp>
      <p:sp>
        <p:nvSpPr>
          <p:cNvPr id="14" name="مستطيل: زوايا مستديرة 13">
            <a:extLst>
              <a:ext uri="{FF2B5EF4-FFF2-40B4-BE49-F238E27FC236}">
                <a16:creationId xmlns:a16="http://schemas.microsoft.com/office/drawing/2014/main" id="{BE1FBD6D-5A11-489F-8C71-3750205D0B4A}"/>
              </a:ext>
            </a:extLst>
          </p:cNvPr>
          <p:cNvSpPr>
            <a:spLocks noGrp="1"/>
          </p:cNvSpPr>
          <p:nvPr/>
        </p:nvSpPr>
        <p:spPr>
          <a:xfrm>
            <a:off x="9763125" y="3514725"/>
            <a:ext cx="647700" cy="552450"/>
          </a:xfrm>
          <a:prstGeom prst="roundRect">
            <a:avLst>
              <a:gd name="adj" fmla="val 13793"/>
            </a:avLst>
          </a:prstGeom>
          <a:solidFill>
            <a:srgbClr val="1F9FCC"/>
          </a:solidFill>
          <a:ln w="0">
            <a:noFill/>
          </a:ln>
        </p:spPr>
        <p:txBody>
          <a:bodyPr lIns="57150" tIns="38100" rIns="57150" bIns="38100" anchor="ctr">
            <a:normAutofit/>
          </a:bodyPr>
          <a:lstStyle/>
          <a:p>
            <a:pPr algn="ctr" rtl="1">
              <a:lnSpc>
                <a:spcPct val="10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06</a:t>
            </a:r>
          </a:p>
        </p:txBody>
      </p:sp>
      <p:sp>
        <p:nvSpPr>
          <p:cNvPr id="15" name="مستطيل 14">
            <a:extLst>
              <a:ext uri="{FF2B5EF4-FFF2-40B4-BE49-F238E27FC236}">
                <a16:creationId xmlns:a16="http://schemas.microsoft.com/office/drawing/2014/main" id="{04F40173-AD45-4C7D-9692-677D9F29FAF3}"/>
              </a:ext>
            </a:extLst>
          </p:cNvPr>
          <p:cNvSpPr>
            <a:spLocks noGrp="1"/>
          </p:cNvSpPr>
          <p:nvPr/>
        </p:nvSpPr>
        <p:spPr>
          <a:xfrm>
            <a:off x="6429375" y="3514725"/>
            <a:ext cx="3190875" cy="552450"/>
          </a:xfrm>
          <a:prstGeom prst="rect">
            <a:avLst/>
          </a:prstGeom>
          <a:noFill/>
          <a:ln w="0">
            <a:noFill/>
          </a:ln>
        </p:spPr>
        <p:txBody>
          <a:bodyPr lIns="57150" tIns="38100" rIns="57150" bIns="38100" anchor="ctr">
            <a:normAutofit/>
          </a:bodyPr>
          <a:lstStyle/>
          <a:p>
            <a:pPr algn="r" rtl="1">
              <a:lnSpc>
                <a:spcPct val="105000"/>
              </a:lnSpc>
              <a:buNone/>
              <a:defRPr sz="1575" b="1">
                <a:solidFill>
                  <a:srgbClr val="17121B"/>
                </a:solidFill>
                <a:latin typeface="DejaVu Sans"/>
                <a:ea typeface="DejaVu Sans"/>
                <a:cs typeface="DejaVu Sans"/>
              </a:defRPr>
            </a:pPr>
            <a:r>
              <a:rPr sz="1575" b="1">
                <a:solidFill>
                  <a:srgbClr val="17121B"/>
                </a:solidFill>
                <a:latin typeface="DejaVu Sans"/>
                <a:ea typeface="DejaVu Sans"/>
                <a:cs typeface="DejaVu Sans"/>
              </a:rPr>
              <a:t>رفع الملفات والشواهد</a:t>
            </a:r>
          </a:p>
        </p:txBody>
      </p:sp>
      <p:sp>
        <p:nvSpPr>
          <p:cNvPr id="16" name="مستطيل: زوايا مستديرة 15">
            <a:extLst>
              <a:ext uri="{FF2B5EF4-FFF2-40B4-BE49-F238E27FC236}">
                <a16:creationId xmlns:a16="http://schemas.microsoft.com/office/drawing/2014/main" id="{DF307254-B3E4-49D3-AC70-8C8237BC5DF8}"/>
              </a:ext>
            </a:extLst>
          </p:cNvPr>
          <p:cNvSpPr>
            <a:spLocks noGrp="1"/>
          </p:cNvSpPr>
          <p:nvPr/>
        </p:nvSpPr>
        <p:spPr>
          <a:xfrm>
            <a:off x="4857750" y="4486275"/>
            <a:ext cx="647700" cy="552450"/>
          </a:xfrm>
          <a:prstGeom prst="roundRect">
            <a:avLst>
              <a:gd name="adj" fmla="val 13793"/>
            </a:avLst>
          </a:prstGeom>
          <a:solidFill>
            <a:srgbClr val="7030A0"/>
          </a:solidFill>
          <a:ln w="0">
            <a:noFill/>
          </a:ln>
        </p:spPr>
        <p:txBody>
          <a:bodyPr lIns="57150" tIns="38100" rIns="57150" bIns="38100" anchor="ctr">
            <a:normAutofit/>
          </a:bodyPr>
          <a:lstStyle/>
          <a:p>
            <a:pPr algn="ctr" rtl="1">
              <a:lnSpc>
                <a:spcPct val="10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07</a:t>
            </a:r>
          </a:p>
        </p:txBody>
      </p:sp>
      <p:sp>
        <p:nvSpPr>
          <p:cNvPr id="17" name="مستطيل 16">
            <a:extLst>
              <a:ext uri="{FF2B5EF4-FFF2-40B4-BE49-F238E27FC236}">
                <a16:creationId xmlns:a16="http://schemas.microsoft.com/office/drawing/2014/main" id="{6A3B0F86-1672-497D-8C7C-562C6E64E9CD}"/>
              </a:ext>
            </a:extLst>
          </p:cNvPr>
          <p:cNvSpPr>
            <a:spLocks noGrp="1"/>
          </p:cNvSpPr>
          <p:nvPr/>
        </p:nvSpPr>
        <p:spPr>
          <a:xfrm>
            <a:off x="1524000" y="4486275"/>
            <a:ext cx="3190875" cy="552450"/>
          </a:xfrm>
          <a:prstGeom prst="rect">
            <a:avLst/>
          </a:prstGeom>
          <a:noFill/>
          <a:ln w="0">
            <a:noFill/>
          </a:ln>
        </p:spPr>
        <p:txBody>
          <a:bodyPr lIns="57150" tIns="38100" rIns="57150" bIns="38100" anchor="ctr">
            <a:normAutofit/>
          </a:bodyPr>
          <a:lstStyle/>
          <a:p>
            <a:pPr algn="r" rtl="1">
              <a:lnSpc>
                <a:spcPct val="105000"/>
              </a:lnSpc>
              <a:buNone/>
              <a:defRPr sz="1575" b="1">
                <a:solidFill>
                  <a:srgbClr val="17121B"/>
                </a:solidFill>
                <a:latin typeface="DejaVu Sans"/>
                <a:ea typeface="DejaVu Sans"/>
                <a:cs typeface="DejaVu Sans"/>
              </a:defRPr>
            </a:pPr>
            <a:r>
              <a:rPr sz="1575" b="1">
                <a:solidFill>
                  <a:srgbClr val="17121B"/>
                </a:solidFill>
                <a:latin typeface="DejaVu Sans"/>
                <a:ea typeface="DejaVu Sans"/>
                <a:cs typeface="DejaVu Sans"/>
              </a:rPr>
              <a:t>الإقرار وإرسال الطلب</a:t>
            </a:r>
          </a:p>
        </p:txBody>
      </p:sp>
      <p:sp>
        <p:nvSpPr>
          <p:cNvPr id="18" name="مستطيل: زوايا مستديرة 17">
            <a:extLst>
              <a:ext uri="{FF2B5EF4-FFF2-40B4-BE49-F238E27FC236}">
                <a16:creationId xmlns:a16="http://schemas.microsoft.com/office/drawing/2014/main" id="{5F49B864-9BAE-4DE4-A043-0EE2AFA28025}"/>
              </a:ext>
            </a:extLst>
          </p:cNvPr>
          <p:cNvSpPr>
            <a:spLocks noGrp="1"/>
          </p:cNvSpPr>
          <p:nvPr/>
        </p:nvSpPr>
        <p:spPr>
          <a:xfrm>
            <a:off x="9763125" y="4486275"/>
            <a:ext cx="647700" cy="552450"/>
          </a:xfrm>
          <a:prstGeom prst="roundRect">
            <a:avLst>
              <a:gd name="adj" fmla="val 13793"/>
            </a:avLst>
          </a:prstGeom>
          <a:solidFill>
            <a:srgbClr val="1F9FCC"/>
          </a:solidFill>
          <a:ln w="0">
            <a:noFill/>
          </a:ln>
        </p:spPr>
        <p:txBody>
          <a:bodyPr lIns="57150" tIns="38100" rIns="57150" bIns="38100" anchor="ctr">
            <a:normAutofit/>
          </a:bodyPr>
          <a:lstStyle/>
          <a:p>
            <a:pPr algn="ctr" rtl="1">
              <a:lnSpc>
                <a:spcPct val="10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08</a:t>
            </a:r>
          </a:p>
        </p:txBody>
      </p:sp>
      <p:sp>
        <p:nvSpPr>
          <p:cNvPr id="19" name="مستطيل 18">
            <a:extLst>
              <a:ext uri="{FF2B5EF4-FFF2-40B4-BE49-F238E27FC236}">
                <a16:creationId xmlns:a16="http://schemas.microsoft.com/office/drawing/2014/main" id="{7DEBC168-6E91-43E4-8FE9-0F22DC9775F7}"/>
              </a:ext>
            </a:extLst>
          </p:cNvPr>
          <p:cNvSpPr>
            <a:spLocks noGrp="1"/>
          </p:cNvSpPr>
          <p:nvPr/>
        </p:nvSpPr>
        <p:spPr>
          <a:xfrm>
            <a:off x="6429375" y="4486275"/>
            <a:ext cx="3190875" cy="552450"/>
          </a:xfrm>
          <a:prstGeom prst="rect">
            <a:avLst/>
          </a:prstGeom>
          <a:noFill/>
          <a:ln w="0">
            <a:noFill/>
          </a:ln>
        </p:spPr>
        <p:txBody>
          <a:bodyPr lIns="57150" tIns="38100" rIns="57150" bIns="38100" anchor="ctr">
            <a:normAutofit/>
          </a:bodyPr>
          <a:lstStyle/>
          <a:p>
            <a:pPr algn="r" rtl="1">
              <a:lnSpc>
                <a:spcPct val="105000"/>
              </a:lnSpc>
              <a:buNone/>
              <a:defRPr sz="1575" b="1">
                <a:solidFill>
                  <a:srgbClr val="17121B"/>
                </a:solidFill>
                <a:latin typeface="DejaVu Sans"/>
                <a:ea typeface="DejaVu Sans"/>
                <a:cs typeface="DejaVu Sans"/>
              </a:defRPr>
            </a:pPr>
            <a:r>
              <a:rPr sz="1575" b="1">
                <a:solidFill>
                  <a:srgbClr val="17121B"/>
                </a:solidFill>
                <a:latin typeface="DejaVu Sans"/>
                <a:ea typeface="DejaVu Sans"/>
                <a:cs typeface="DejaVu Sans"/>
              </a:rPr>
              <a:t>استلام إشعار التقديم</a:t>
            </a:r>
          </a:p>
        </p:txBody>
      </p:sp>
    </p:spTree>
    <p:extLst>
      <p:ext uri="{BB962C8B-B14F-4D97-AF65-F5344CB8AC3E}">
        <p14:creationId xmlns:p14="http://schemas.microsoft.com/office/powerpoint/2010/main" val="122147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012"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C5BC432C-D83C-4C80-A600-0BAAD00DF10B}"/>
              </a:ext>
            </a:extLst>
          </p:cNvPr>
          <p:cNvSpPr>
            <a:spLocks noGrp="1"/>
          </p:cNvSpPr>
          <p:nvPr/>
        </p:nvSpPr>
        <p:spPr>
          <a:xfrm>
            <a:off x="1524000" y="2333625"/>
            <a:ext cx="9144000" cy="742950"/>
          </a:xfrm>
          <a:prstGeom prst="rect">
            <a:avLst/>
          </a:prstGeom>
          <a:noFill/>
          <a:ln w="0">
            <a:noFill/>
          </a:ln>
        </p:spPr>
        <p:txBody>
          <a:bodyPr lIns="57150" tIns="38100" rIns="57150" bIns="38100" anchor="ctr">
            <a:normAutofit/>
          </a:bodyPr>
          <a:lstStyle/>
          <a:p>
            <a:pPr algn="ctr" rtl="1">
              <a:lnSpc>
                <a:spcPct val="105000"/>
              </a:lnSpc>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مجال الأفراد</a:t>
            </a:r>
          </a:p>
        </p:txBody>
      </p:sp>
      <p:sp>
        <p:nvSpPr>
          <p:cNvPr id="3" name="مستطيل 2">
            <a:extLst>
              <a:ext uri="{FF2B5EF4-FFF2-40B4-BE49-F238E27FC236}">
                <a16:creationId xmlns:a16="http://schemas.microsoft.com/office/drawing/2014/main" id="{C64D3889-2C7F-4321-BC1B-BCA812AA7569}"/>
              </a:ext>
            </a:extLst>
          </p:cNvPr>
          <p:cNvSpPr>
            <a:spLocks noGrp="1"/>
          </p:cNvSpPr>
          <p:nvPr/>
        </p:nvSpPr>
        <p:spPr>
          <a:xfrm>
            <a:off x="2095500" y="3143250"/>
            <a:ext cx="8001000" cy="666750"/>
          </a:xfrm>
          <a:prstGeom prst="rect">
            <a:avLst/>
          </a:prstGeom>
          <a:noFill/>
          <a:ln w="0">
            <a:noFill/>
          </a:ln>
        </p:spPr>
        <p:txBody>
          <a:bodyPr lIns="57150" tIns="38100" rIns="57150" bIns="38100" anchor="ctr">
            <a:normAutofit/>
          </a:bodyPr>
          <a:lstStyle/>
          <a:p>
            <a:pPr algn="ctr" rtl="1">
              <a:lnSpc>
                <a:spcPct val="105000"/>
              </a:lnSpc>
              <a:buNone/>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مساران يفرّقان بين المبادرة المنفذة والفكرة الواعدة</a:t>
            </a:r>
          </a:p>
        </p:txBody>
      </p:sp>
    </p:spTree>
    <p:extLst>
      <p:ext uri="{BB962C8B-B14F-4D97-AF65-F5344CB8AC3E}">
        <p14:creationId xmlns:p14="http://schemas.microsoft.com/office/powerpoint/2010/main" val="1112695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3"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353FFEA8-A9EC-4F48-80EC-02B68587BBE2}"/>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13</a:t>
            </a:r>
          </a:p>
        </p:txBody>
      </p:sp>
      <p:sp>
        <p:nvSpPr>
          <p:cNvPr id="3" name="slide-title">
            <a:extLst>
              <a:ext uri="{FF2B5EF4-FFF2-40B4-BE49-F238E27FC236}">
                <a16:creationId xmlns:a16="http://schemas.microsoft.com/office/drawing/2014/main" id="{D75396D2-09D3-4FB3-ABA9-75C7FDEB94B3}"/>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المبادرة القرائية الفردية المؤثرة</a:t>
            </a:r>
          </a:p>
        </p:txBody>
      </p:sp>
      <p:sp>
        <p:nvSpPr>
          <p:cNvPr id="4" name="slide-subtitle">
            <a:extLst>
              <a:ext uri="{FF2B5EF4-FFF2-40B4-BE49-F238E27FC236}">
                <a16:creationId xmlns:a16="http://schemas.microsoft.com/office/drawing/2014/main" id="{6D497F86-2F41-43BF-A87D-97C10186033D}"/>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المسار 01</a:t>
            </a:r>
          </a:p>
        </p:txBody>
      </p:sp>
      <p:sp>
        <p:nvSpPr>
          <p:cNvPr id="5" name="مستطيل 4">
            <a:extLst>
              <a:ext uri="{FF2B5EF4-FFF2-40B4-BE49-F238E27FC236}">
                <a16:creationId xmlns:a16="http://schemas.microsoft.com/office/drawing/2014/main" id="{ACC52FA0-910D-4BA1-98F5-098A8E158B90}"/>
              </a:ext>
            </a:extLst>
          </p:cNvPr>
          <p:cNvSpPr>
            <a:spLocks noGrp="1"/>
          </p:cNvSpPr>
          <p:nvPr/>
        </p:nvSpPr>
        <p:spPr>
          <a:xfrm>
            <a:off x="1524000" y="1476375"/>
            <a:ext cx="9191625" cy="933450"/>
          </a:xfrm>
          <a:prstGeom prst="rect">
            <a:avLst/>
          </a:prstGeom>
          <a:noFill/>
          <a:ln w="0">
            <a:noFill/>
          </a:ln>
        </p:spPr>
        <p:txBody>
          <a:bodyPr lIns="76200" tIns="57150" rIns="76200" bIns="57150" anchor="t">
            <a:normAutofit/>
          </a:bodyPr>
          <a:lstStyle/>
          <a:p>
            <a:pPr algn="r" rtl="1">
              <a:lnSpc>
                <a:spcPct val="112000"/>
              </a:lnSpc>
              <a:buNone/>
              <a:defRPr sz="1650" b="0">
                <a:solidFill>
                  <a:srgbClr val="17121B"/>
                </a:solidFill>
                <a:latin typeface="DejaVu Sans"/>
                <a:ea typeface="DejaVu Sans"/>
                <a:cs typeface="DejaVu Sans"/>
              </a:defRPr>
            </a:pPr>
            <a:r>
              <a:rPr sz="1650" b="0">
                <a:solidFill>
                  <a:srgbClr val="17121B"/>
                </a:solidFill>
                <a:latin typeface="DejaVu Sans"/>
                <a:ea typeface="DejaVu Sans"/>
                <a:cs typeface="DejaVu Sans"/>
              </a:rPr>
              <a:t>يكرّم الأفراد الذين صمموا ونفذوا مبادرات قرائية عززت عادة القراءة أو وسعت الوصول إلى الكتاب أو بنت مجتمعًا قرائيًا، وحققت نتائج قابلة للقياس والتوثيق.</a:t>
            </a:r>
          </a:p>
        </p:txBody>
      </p:sp>
      <p:sp>
        <p:nvSpPr>
          <p:cNvPr id="6" name="مستطيل: زوايا مستديرة 5">
            <a:extLst>
              <a:ext uri="{FF2B5EF4-FFF2-40B4-BE49-F238E27FC236}">
                <a16:creationId xmlns:a16="http://schemas.microsoft.com/office/drawing/2014/main" id="{AC1CCD49-F408-40D0-9E58-5840F89294EC}"/>
              </a:ext>
            </a:extLst>
          </p:cNvPr>
          <p:cNvSpPr>
            <a:spLocks noGrp="1"/>
          </p:cNvSpPr>
          <p:nvPr/>
        </p:nvSpPr>
        <p:spPr>
          <a:xfrm>
            <a:off x="9191625" y="2667000"/>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هدف المسار</a:t>
            </a:r>
          </a:p>
        </p:txBody>
      </p:sp>
      <p:sp>
        <p:nvSpPr>
          <p:cNvPr id="7" name="مستطيل 6">
            <a:extLst>
              <a:ext uri="{FF2B5EF4-FFF2-40B4-BE49-F238E27FC236}">
                <a16:creationId xmlns:a16="http://schemas.microsoft.com/office/drawing/2014/main" id="{1AEA70EC-D49F-4170-B13E-11AB0B56BF34}"/>
              </a:ext>
            </a:extLst>
          </p:cNvPr>
          <p:cNvSpPr>
            <a:spLocks noGrp="1"/>
          </p:cNvSpPr>
          <p:nvPr/>
        </p:nvSpPr>
        <p:spPr>
          <a:xfrm>
            <a:off x="1047750" y="266700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تحويل الاهتمام بالقراءة إلى ممارسة منتظمة وأثر ملموس لدى المستفيدين.</a:t>
            </a:r>
          </a:p>
        </p:txBody>
      </p:sp>
      <p:sp>
        <p:nvSpPr>
          <p:cNvPr id="8" name="مستطيل: زوايا مستديرة 7">
            <a:extLst>
              <a:ext uri="{FF2B5EF4-FFF2-40B4-BE49-F238E27FC236}">
                <a16:creationId xmlns:a16="http://schemas.microsoft.com/office/drawing/2014/main" id="{84E50C96-4107-48E3-A463-5B5B4CBD8BD3}"/>
              </a:ext>
            </a:extLst>
          </p:cNvPr>
          <p:cNvSpPr>
            <a:spLocks noGrp="1"/>
          </p:cNvSpPr>
          <p:nvPr/>
        </p:nvSpPr>
        <p:spPr>
          <a:xfrm>
            <a:off x="9191625" y="3190875"/>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المتقدم المؤهل</a:t>
            </a:r>
          </a:p>
        </p:txBody>
      </p:sp>
      <p:sp>
        <p:nvSpPr>
          <p:cNvPr id="9" name="مستطيل 8">
            <a:extLst>
              <a:ext uri="{FF2B5EF4-FFF2-40B4-BE49-F238E27FC236}">
                <a16:creationId xmlns:a16="http://schemas.microsoft.com/office/drawing/2014/main" id="{DA0E044C-265A-4C3F-A165-91B353EFFC25}"/>
              </a:ext>
            </a:extLst>
          </p:cNvPr>
          <p:cNvSpPr>
            <a:spLocks noGrp="1"/>
          </p:cNvSpPr>
          <p:nvPr/>
        </p:nvSpPr>
        <p:spPr>
          <a:xfrm>
            <a:off x="1047750" y="3190875"/>
            <a:ext cx="8001000" cy="400050"/>
          </a:xfrm>
          <a:prstGeom prst="rect">
            <a:avLst/>
          </a:prstGeom>
          <a:solidFill>
            <a:srgbClr val="FFFFFF"/>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فرد من المواطنين أو المقيمين وفق شروط الدورة.</a:t>
            </a:r>
          </a:p>
        </p:txBody>
      </p:sp>
      <p:sp>
        <p:nvSpPr>
          <p:cNvPr id="10" name="مستطيل: زوايا مستديرة 9">
            <a:extLst>
              <a:ext uri="{FF2B5EF4-FFF2-40B4-BE49-F238E27FC236}">
                <a16:creationId xmlns:a16="http://schemas.microsoft.com/office/drawing/2014/main" id="{3BDBC43F-4D4C-4998-93AD-A9473934C831}"/>
              </a:ext>
            </a:extLst>
          </p:cNvPr>
          <p:cNvSpPr>
            <a:spLocks noGrp="1"/>
          </p:cNvSpPr>
          <p:nvPr/>
        </p:nvSpPr>
        <p:spPr>
          <a:xfrm>
            <a:off x="9191625" y="3714750"/>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صور المشاركة</a:t>
            </a:r>
          </a:p>
        </p:txBody>
      </p:sp>
      <p:sp>
        <p:nvSpPr>
          <p:cNvPr id="11" name="مستطيل 10">
            <a:extLst>
              <a:ext uri="{FF2B5EF4-FFF2-40B4-BE49-F238E27FC236}">
                <a16:creationId xmlns:a16="http://schemas.microsoft.com/office/drawing/2014/main" id="{740114A7-E14A-46BE-970D-7FFCB4F801C0}"/>
              </a:ext>
            </a:extLst>
          </p:cNvPr>
          <p:cNvSpPr>
            <a:spLocks noGrp="1"/>
          </p:cNvSpPr>
          <p:nvPr/>
        </p:nvSpPr>
        <p:spPr>
          <a:xfrm>
            <a:off x="1047750" y="371475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نادي قراءة، حملة، تحدٍ قرائي، محتوى، لقاءات، منتج، تجربة تطوعية أو مبادرة رقمية.</a:t>
            </a:r>
          </a:p>
        </p:txBody>
      </p:sp>
      <p:sp>
        <p:nvSpPr>
          <p:cNvPr id="12" name="مستطيل: زوايا مستديرة 11">
            <a:extLst>
              <a:ext uri="{FF2B5EF4-FFF2-40B4-BE49-F238E27FC236}">
                <a16:creationId xmlns:a16="http://schemas.microsoft.com/office/drawing/2014/main" id="{BFE5D973-80A9-4A58-B173-AA78CC903C71}"/>
              </a:ext>
            </a:extLst>
          </p:cNvPr>
          <p:cNvSpPr>
            <a:spLocks noGrp="1"/>
          </p:cNvSpPr>
          <p:nvPr/>
        </p:nvSpPr>
        <p:spPr>
          <a:xfrm>
            <a:off x="9191625" y="4238625"/>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الجاهزية</a:t>
            </a:r>
          </a:p>
        </p:txBody>
      </p:sp>
      <p:sp>
        <p:nvSpPr>
          <p:cNvPr id="13" name="مستطيل 12">
            <a:extLst>
              <a:ext uri="{FF2B5EF4-FFF2-40B4-BE49-F238E27FC236}">
                <a16:creationId xmlns:a16="http://schemas.microsoft.com/office/drawing/2014/main" id="{37E5B0DE-A395-4819-8893-FC74CA13B94E}"/>
              </a:ext>
            </a:extLst>
          </p:cNvPr>
          <p:cNvSpPr>
            <a:spLocks noGrp="1"/>
          </p:cNvSpPr>
          <p:nvPr/>
        </p:nvSpPr>
        <p:spPr>
          <a:xfrm>
            <a:off x="1047750" y="4238625"/>
            <a:ext cx="8001000" cy="400050"/>
          </a:xfrm>
          <a:prstGeom prst="rect">
            <a:avLst/>
          </a:prstGeom>
          <a:solidFill>
            <a:srgbClr val="FFFFFF"/>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مبادرة منفذة ولها نتائج قابلة للإثبات.</a:t>
            </a:r>
          </a:p>
        </p:txBody>
      </p:sp>
      <p:sp>
        <p:nvSpPr>
          <p:cNvPr id="14" name="مستطيل: زوايا مستديرة 13">
            <a:extLst>
              <a:ext uri="{FF2B5EF4-FFF2-40B4-BE49-F238E27FC236}">
                <a16:creationId xmlns:a16="http://schemas.microsoft.com/office/drawing/2014/main" id="{97985C12-BEA8-4C0C-87A9-4566659F2A3B}"/>
              </a:ext>
            </a:extLst>
          </p:cNvPr>
          <p:cNvSpPr>
            <a:spLocks noGrp="1"/>
          </p:cNvSpPr>
          <p:nvPr/>
        </p:nvSpPr>
        <p:spPr>
          <a:xfrm>
            <a:off x="9191625" y="4762500"/>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موضوع التقييم</a:t>
            </a:r>
          </a:p>
        </p:txBody>
      </p:sp>
      <p:sp>
        <p:nvSpPr>
          <p:cNvPr id="15" name="مستطيل 14">
            <a:extLst>
              <a:ext uri="{FF2B5EF4-FFF2-40B4-BE49-F238E27FC236}">
                <a16:creationId xmlns:a16="http://schemas.microsoft.com/office/drawing/2014/main" id="{BAB2D175-C497-47CC-9B09-D12B9285C613}"/>
              </a:ext>
            </a:extLst>
          </p:cNvPr>
          <p:cNvSpPr>
            <a:spLocks noGrp="1"/>
          </p:cNvSpPr>
          <p:nvPr/>
        </p:nvSpPr>
        <p:spPr>
          <a:xfrm>
            <a:off x="1047750" y="476250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المبادرة، ودور الفرد المباشر، والأثر الذي تحقق.</a:t>
            </a:r>
          </a:p>
        </p:txBody>
      </p:sp>
    </p:spTree>
    <p:extLst>
      <p:ext uri="{BB962C8B-B14F-4D97-AF65-F5344CB8AC3E}">
        <p14:creationId xmlns:p14="http://schemas.microsoft.com/office/powerpoint/2010/main" val="898672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4"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B6D882EE-F656-46C0-92D6-38D392EE76B9}"/>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14</a:t>
            </a:r>
          </a:p>
        </p:txBody>
      </p:sp>
      <p:sp>
        <p:nvSpPr>
          <p:cNvPr id="3" name="criteria-heading">
            <a:extLst>
              <a:ext uri="{FF2B5EF4-FFF2-40B4-BE49-F238E27FC236}">
                <a16:creationId xmlns:a16="http://schemas.microsoft.com/office/drawing/2014/main" id="{F6E67A44-2F2D-4653-ADF3-0E47F869A63F}"/>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معايير المبادرة المؤثرة</a:t>
            </a:r>
          </a:p>
        </p:txBody>
      </p:sp>
      <p:sp>
        <p:nvSpPr>
          <p:cNvPr id="4" name="criteria-subtitle">
            <a:extLst>
              <a:ext uri="{FF2B5EF4-FFF2-40B4-BE49-F238E27FC236}">
                <a16:creationId xmlns:a16="http://schemas.microsoft.com/office/drawing/2014/main" id="{2FA57061-348F-4AC5-A848-DEF9D0DDFC7A}"/>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المبادرة القرائية الفردية المؤثرة</a:t>
            </a:r>
          </a:p>
        </p:txBody>
      </p:sp>
      <p:graphicFrame>
        <p:nvGraphicFramePr>
          <p:cNvPr id="10" name="جدول 9"/>
          <p:cNvGraphicFramePr/>
          <p:nvPr/>
        </p:nvGraphicFramePr>
        <p:xfrm>
          <a:off x="1143000" y="1714500"/>
          <a:ext cx="9906000" cy="3714752"/>
        </p:xfrm>
        <a:graphic>
          <a:graphicData uri="http://schemas.openxmlformats.org/drawingml/2006/table">
            <a:tbl>
              <a:tblPr/>
              <a:tblGrid>
                <a:gridCol w="1143000">
                  <a:extLst>
                    <a:ext uri="{9D8B030D-6E8A-4147-A177-3AD203B41FA5}">
                      <a16:colId xmlns:a16="http://schemas.microsoft.com/office/drawing/2014/main" val="20000"/>
                    </a:ext>
                  </a:extLst>
                </a:gridCol>
                <a:gridCol w="58102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464344">
                <a:tc>
                  <a:txBody>
                    <a:bodyPr/>
                    <a:lstStyle/>
                    <a:p>
                      <a:pPr algn="ctr" rtl="1"/>
                      <a:r>
                        <a:rPr sz="1350" b="1">
                          <a:solidFill>
                            <a:srgbClr val="FFFFFF"/>
                          </a:solidFill>
                          <a:latin typeface="DejaVu Sans"/>
                          <a:ea typeface="DejaVu Sans"/>
                          <a:cs typeface="DejaVu Sans"/>
                        </a:rPr>
                        <a:t>الوزن</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وصف المعيار</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المعيار</a:t>
                      </a:r>
                    </a:p>
                  </a:txBody>
                  <a:tcPr marL="76200" marR="76200" marT="66675" marB="66675" anchor="ctr">
                    <a:solidFill>
                      <a:srgbClr val="7030A0"/>
                    </a:solidFill>
                  </a:tcPr>
                </a:tc>
                <a:extLst>
                  <a:ext uri="{0D108BD9-81ED-4DB2-BD59-A6C34878D82A}">
                    <a16:rowId xmlns:a16="http://schemas.microsoft.com/office/drawing/2014/main" val="10000"/>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وضوح المشكلة والأهداف والفئة والأنشطة وآلية التنفيذ.</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وضوح المبادرة والتخطيط</a:t>
                      </a:r>
                    </a:p>
                  </a:txBody>
                  <a:tcPr marL="76200" marR="76200" marT="57150" marB="57150" anchor="ctr">
                    <a:solidFill>
                      <a:srgbClr val="FFFFFF"/>
                    </a:solidFill>
                  </a:tcPr>
                </a:tc>
                <a:extLst>
                  <a:ext uri="{0D108BD9-81ED-4DB2-BD59-A6C34878D82A}">
                    <a16:rowId xmlns:a16="http://schemas.microsoft.com/office/drawing/2014/main" val="10001"/>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تحسين الوصول أو العادة أو المهارات أو المشاركة القرائية.</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القيمة القرائية</a:t>
                      </a:r>
                    </a:p>
                  </a:txBody>
                  <a:tcPr marL="76200" marR="76200" marT="57150" marB="57150" anchor="ctr">
                    <a:solidFill>
                      <a:srgbClr val="F5EFF8"/>
                    </a:solidFill>
                  </a:tcPr>
                </a:tc>
                <a:extLst>
                  <a:ext uri="{0D108BD9-81ED-4DB2-BD59-A6C34878D82A}">
                    <a16:rowId xmlns:a16="http://schemas.microsoft.com/office/drawing/2014/main" val="10002"/>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تميز الفكرة أو أسلوب التنفيذ أو الأدوات المستخدمة.</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الابتكار</a:t>
                      </a:r>
                    </a:p>
                  </a:txBody>
                  <a:tcPr marL="76200" marR="76200" marT="57150" marB="57150" anchor="ctr">
                    <a:solidFill>
                      <a:srgbClr val="FFFFFF"/>
                    </a:solidFill>
                  </a:tcPr>
                </a:tc>
                <a:extLst>
                  <a:ext uri="{0D108BD9-81ED-4DB2-BD59-A6C34878D82A}">
                    <a16:rowId xmlns:a16="http://schemas.microsoft.com/office/drawing/2014/main" val="10003"/>
                  </a:ext>
                </a:extLst>
              </a:tr>
              <a:tr h="464344">
                <a:tc>
                  <a:txBody>
                    <a:bodyPr/>
                    <a:lstStyle/>
                    <a:p>
                      <a:pPr algn="r" rtl="1"/>
                      <a:r>
                        <a:rPr sz="1163">
                          <a:solidFill>
                            <a:srgbClr val="17121B"/>
                          </a:solidFill>
                          <a:latin typeface="DejaVu Sans"/>
                          <a:ea typeface="DejaVu Sans"/>
                          <a:cs typeface="DejaVu Sans"/>
                        </a:rPr>
                        <a:t>25%</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وضوح التغير الناتج وعمقه وإمكان نسبته للمبادرة.</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الأثر المتحقق</a:t>
                      </a:r>
                    </a:p>
                  </a:txBody>
                  <a:tcPr marL="76200" marR="76200" marT="57150" marB="57150" anchor="ctr">
                    <a:solidFill>
                      <a:srgbClr val="F5EFF8"/>
                    </a:solidFill>
                  </a:tcPr>
                </a:tc>
                <a:extLst>
                  <a:ext uri="{0D108BD9-81ED-4DB2-BD59-A6C34878D82A}">
                    <a16:rowId xmlns:a16="http://schemas.microsoft.com/office/drawing/2014/main" val="10004"/>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الوصول إلى الفئة وتحفيز التفاعل والاستمرار.</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الوصول والمشاركة</a:t>
                      </a:r>
                    </a:p>
                  </a:txBody>
                  <a:tcPr marL="76200" marR="76200" marT="57150" marB="57150" anchor="ctr">
                    <a:solidFill>
                      <a:srgbClr val="FFFFFF"/>
                    </a:solidFill>
                  </a:tcPr>
                </a:tc>
                <a:extLst>
                  <a:ext uri="{0D108BD9-81ED-4DB2-BD59-A6C34878D82A}">
                    <a16:rowId xmlns:a16="http://schemas.microsoft.com/office/drawing/2014/main" val="10005"/>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استمرار المبادرة أو أثرها وقوة الشواهد.</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الاستمرارية والتوثيق</a:t>
                      </a:r>
                    </a:p>
                  </a:txBody>
                  <a:tcPr marL="76200" marR="76200" marT="57150" marB="57150" anchor="ctr">
                    <a:solidFill>
                      <a:srgbClr val="F5EFF8"/>
                    </a:solidFill>
                  </a:tcPr>
                </a:tc>
                <a:extLst>
                  <a:ext uri="{0D108BD9-81ED-4DB2-BD59-A6C34878D82A}">
                    <a16:rowId xmlns:a16="http://schemas.microsoft.com/office/drawing/2014/main" val="10006"/>
                  </a:ext>
                </a:extLst>
              </a:tr>
              <a:tr h="464344">
                <a:tc>
                  <a:txBody>
                    <a:bodyPr/>
                    <a:lstStyle/>
                    <a:p>
                      <a:pPr algn="r" rtl="1"/>
                      <a:r>
                        <a:rPr sz="1163">
                          <a:solidFill>
                            <a:srgbClr val="17121B"/>
                          </a:solidFill>
                          <a:latin typeface="DejaVu Sans"/>
                          <a:ea typeface="DejaVu Sans"/>
                          <a:cs typeface="DejaVu Sans"/>
                        </a:rPr>
                        <a:t>100%</a:t>
                      </a:r>
                    </a:p>
                  </a:txBody>
                  <a:tcPr marL="76200" marR="76200" marT="57150" marB="57150" anchor="ctr">
                    <a:solidFill>
                      <a:srgbClr val="FFFFFF"/>
                    </a:solidFill>
                  </a:tcPr>
                </a:tc>
                <a:tc>
                  <a:txBody>
                    <a:bodyPr/>
                    <a:lstStyle/>
                    <a:p>
                      <a:pPr algn="r" rtl="1"/>
                      <a:endParaRP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الإجمالي</a:t>
                      </a:r>
                    </a:p>
                  </a:txBody>
                  <a:tcPr marL="76200" marR="76200" marT="57150" marB="57150"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71387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5"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A0491A5E-8963-4D94-AF75-0C37BCA8CB9E}"/>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15</a:t>
            </a:r>
          </a:p>
        </p:txBody>
      </p:sp>
      <p:sp>
        <p:nvSpPr>
          <p:cNvPr id="3" name="slide-title">
            <a:extLst>
              <a:ext uri="{FF2B5EF4-FFF2-40B4-BE49-F238E27FC236}">
                <a16:creationId xmlns:a16="http://schemas.microsoft.com/office/drawing/2014/main" id="{40AA346F-5541-4335-9FDA-2193C1C0F1EF}"/>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الفكرة القرائية المبتكرة</a:t>
            </a:r>
          </a:p>
        </p:txBody>
      </p:sp>
      <p:sp>
        <p:nvSpPr>
          <p:cNvPr id="4" name="slide-subtitle">
            <a:extLst>
              <a:ext uri="{FF2B5EF4-FFF2-40B4-BE49-F238E27FC236}">
                <a16:creationId xmlns:a16="http://schemas.microsoft.com/office/drawing/2014/main" id="{43764E12-FB44-4729-8E76-99B8574AC287}"/>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المسار 02</a:t>
            </a:r>
          </a:p>
        </p:txBody>
      </p:sp>
      <p:sp>
        <p:nvSpPr>
          <p:cNvPr id="5" name="مستطيل 4">
            <a:extLst>
              <a:ext uri="{FF2B5EF4-FFF2-40B4-BE49-F238E27FC236}">
                <a16:creationId xmlns:a16="http://schemas.microsoft.com/office/drawing/2014/main" id="{DDA9856E-EF5F-475E-8000-A8629C9D90BF}"/>
              </a:ext>
            </a:extLst>
          </p:cNvPr>
          <p:cNvSpPr>
            <a:spLocks noGrp="1"/>
          </p:cNvSpPr>
          <p:nvPr/>
        </p:nvSpPr>
        <p:spPr>
          <a:xfrm>
            <a:off x="1524000" y="1476375"/>
            <a:ext cx="9191625" cy="933450"/>
          </a:xfrm>
          <a:prstGeom prst="rect">
            <a:avLst/>
          </a:prstGeom>
          <a:noFill/>
          <a:ln w="0">
            <a:noFill/>
          </a:ln>
        </p:spPr>
        <p:txBody>
          <a:bodyPr lIns="76200" tIns="57150" rIns="76200" bIns="57150" anchor="t">
            <a:normAutofit/>
          </a:bodyPr>
          <a:lstStyle/>
          <a:p>
            <a:pPr algn="r" rtl="1">
              <a:lnSpc>
                <a:spcPct val="112000"/>
              </a:lnSpc>
              <a:buNone/>
              <a:defRPr sz="1650" b="0">
                <a:solidFill>
                  <a:srgbClr val="17121B"/>
                </a:solidFill>
                <a:latin typeface="DejaVu Sans"/>
                <a:ea typeface="DejaVu Sans"/>
                <a:cs typeface="DejaVu Sans"/>
              </a:defRPr>
            </a:pPr>
            <a:r>
              <a:rPr sz="1650" b="0">
                <a:solidFill>
                  <a:srgbClr val="17121B"/>
                </a:solidFill>
                <a:latin typeface="DejaVu Sans"/>
                <a:ea typeface="DejaVu Sans"/>
                <a:cs typeface="DejaVu Sans"/>
              </a:rPr>
              <a:t>يكتشف الأفكار والحلول والمنتجات الجديدة التي تعالج تحديًا قرائيًا محددًا، وتقدم قيمة مبتكرة قابلة للتطبيق والتجربة والتطوير، حتى إن لم تُنفذ على نطاق واسع.</a:t>
            </a:r>
          </a:p>
        </p:txBody>
      </p:sp>
      <p:sp>
        <p:nvSpPr>
          <p:cNvPr id="6" name="مستطيل: زوايا مستديرة 5">
            <a:extLst>
              <a:ext uri="{FF2B5EF4-FFF2-40B4-BE49-F238E27FC236}">
                <a16:creationId xmlns:a16="http://schemas.microsoft.com/office/drawing/2014/main" id="{AB54D282-FB46-4C75-BB89-CD726E82C13B}"/>
              </a:ext>
            </a:extLst>
          </p:cNvPr>
          <p:cNvSpPr>
            <a:spLocks noGrp="1"/>
          </p:cNvSpPr>
          <p:nvPr/>
        </p:nvSpPr>
        <p:spPr>
          <a:xfrm>
            <a:off x="9191625" y="2667000"/>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هدف المسار</a:t>
            </a:r>
          </a:p>
        </p:txBody>
      </p:sp>
      <p:sp>
        <p:nvSpPr>
          <p:cNvPr id="7" name="مستطيل 6">
            <a:extLst>
              <a:ext uri="{FF2B5EF4-FFF2-40B4-BE49-F238E27FC236}">
                <a16:creationId xmlns:a16="http://schemas.microsoft.com/office/drawing/2014/main" id="{EF5466F8-DB18-44B9-AF07-D6962A1A9DED}"/>
              </a:ext>
            </a:extLst>
          </p:cNvPr>
          <p:cNvSpPr>
            <a:spLocks noGrp="1"/>
          </p:cNvSpPr>
          <p:nvPr/>
        </p:nvSpPr>
        <p:spPr>
          <a:xfrm>
            <a:off x="1047750" y="266700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ابتكار حلول تجعل القراءة أكثر سهولة وجاذبية ووصولًا لمختلف الفئات.</a:t>
            </a:r>
          </a:p>
        </p:txBody>
      </p:sp>
      <p:sp>
        <p:nvSpPr>
          <p:cNvPr id="8" name="مستطيل: زوايا مستديرة 7">
            <a:extLst>
              <a:ext uri="{FF2B5EF4-FFF2-40B4-BE49-F238E27FC236}">
                <a16:creationId xmlns:a16="http://schemas.microsoft.com/office/drawing/2014/main" id="{FFCBE8B4-7645-45ED-B8DB-C33A60249CA1}"/>
              </a:ext>
            </a:extLst>
          </p:cNvPr>
          <p:cNvSpPr>
            <a:spLocks noGrp="1"/>
          </p:cNvSpPr>
          <p:nvPr/>
        </p:nvSpPr>
        <p:spPr>
          <a:xfrm>
            <a:off x="9191625" y="3190875"/>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المتقدم المؤهل</a:t>
            </a:r>
          </a:p>
        </p:txBody>
      </p:sp>
      <p:sp>
        <p:nvSpPr>
          <p:cNvPr id="9" name="مستطيل 8">
            <a:extLst>
              <a:ext uri="{FF2B5EF4-FFF2-40B4-BE49-F238E27FC236}">
                <a16:creationId xmlns:a16="http://schemas.microsoft.com/office/drawing/2014/main" id="{2DA830D0-F376-467E-A6CD-DBC7C17D11A0}"/>
              </a:ext>
            </a:extLst>
          </p:cNvPr>
          <p:cNvSpPr>
            <a:spLocks noGrp="1"/>
          </p:cNvSpPr>
          <p:nvPr/>
        </p:nvSpPr>
        <p:spPr>
          <a:xfrm>
            <a:off x="1047750" y="3190875"/>
            <a:ext cx="8001000" cy="400050"/>
          </a:xfrm>
          <a:prstGeom prst="rect">
            <a:avLst/>
          </a:prstGeom>
          <a:solidFill>
            <a:srgbClr val="FFFFFF"/>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فرد أو فريق فردي صغير وفق ضوابط الجائزة.</a:t>
            </a:r>
          </a:p>
        </p:txBody>
      </p:sp>
      <p:sp>
        <p:nvSpPr>
          <p:cNvPr id="10" name="مستطيل: زوايا مستديرة 9">
            <a:extLst>
              <a:ext uri="{FF2B5EF4-FFF2-40B4-BE49-F238E27FC236}">
                <a16:creationId xmlns:a16="http://schemas.microsoft.com/office/drawing/2014/main" id="{814D2DAE-B585-438D-A2AF-855E5E3448EB}"/>
              </a:ext>
            </a:extLst>
          </p:cNvPr>
          <p:cNvSpPr>
            <a:spLocks noGrp="1"/>
          </p:cNvSpPr>
          <p:nvPr/>
        </p:nvSpPr>
        <p:spPr>
          <a:xfrm>
            <a:off x="9191625" y="3714750"/>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صور المشاركة</a:t>
            </a:r>
          </a:p>
        </p:txBody>
      </p:sp>
      <p:sp>
        <p:nvSpPr>
          <p:cNvPr id="11" name="مستطيل 10">
            <a:extLst>
              <a:ext uri="{FF2B5EF4-FFF2-40B4-BE49-F238E27FC236}">
                <a16:creationId xmlns:a16="http://schemas.microsoft.com/office/drawing/2014/main" id="{45419C4D-7BC4-4B11-82F3-EF57EB615D3D}"/>
              </a:ext>
            </a:extLst>
          </p:cNvPr>
          <p:cNvSpPr>
            <a:spLocks noGrp="1"/>
          </p:cNvSpPr>
          <p:nvPr/>
        </p:nvSpPr>
        <p:spPr>
          <a:xfrm>
            <a:off x="1047750" y="371475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فكرة، تطبيق، منصة، أداة، لعبة قرائية، نموذج خدمة، محتوى تفاعلي أو نموذج أولي.</a:t>
            </a:r>
          </a:p>
        </p:txBody>
      </p:sp>
      <p:sp>
        <p:nvSpPr>
          <p:cNvPr id="12" name="مستطيل: زوايا مستديرة 11">
            <a:extLst>
              <a:ext uri="{FF2B5EF4-FFF2-40B4-BE49-F238E27FC236}">
                <a16:creationId xmlns:a16="http://schemas.microsoft.com/office/drawing/2014/main" id="{EDBC3BAA-58B1-4F56-9661-0F9D63F051CD}"/>
              </a:ext>
            </a:extLst>
          </p:cNvPr>
          <p:cNvSpPr>
            <a:spLocks noGrp="1"/>
          </p:cNvSpPr>
          <p:nvPr/>
        </p:nvSpPr>
        <p:spPr>
          <a:xfrm>
            <a:off x="9191625" y="4238625"/>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الجاهزية</a:t>
            </a:r>
          </a:p>
        </p:txBody>
      </p:sp>
      <p:sp>
        <p:nvSpPr>
          <p:cNvPr id="13" name="مستطيل 12">
            <a:extLst>
              <a:ext uri="{FF2B5EF4-FFF2-40B4-BE49-F238E27FC236}">
                <a16:creationId xmlns:a16="http://schemas.microsoft.com/office/drawing/2014/main" id="{A9E035D6-2BC9-4CBC-AB05-87A7B01A418B}"/>
              </a:ext>
            </a:extLst>
          </p:cNvPr>
          <p:cNvSpPr>
            <a:spLocks noGrp="1"/>
          </p:cNvSpPr>
          <p:nvPr/>
        </p:nvSpPr>
        <p:spPr>
          <a:xfrm>
            <a:off x="1047750" y="4238625"/>
            <a:ext cx="8001000" cy="400050"/>
          </a:xfrm>
          <a:prstGeom prst="rect">
            <a:avLst/>
          </a:prstGeom>
          <a:solidFill>
            <a:srgbClr val="FFFFFF"/>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تصور متكامل، ويفضل وجود نموذج أولي أو تجربة مصغرة.</a:t>
            </a:r>
          </a:p>
        </p:txBody>
      </p:sp>
      <p:sp>
        <p:nvSpPr>
          <p:cNvPr id="14" name="مستطيل: زوايا مستديرة 13">
            <a:extLst>
              <a:ext uri="{FF2B5EF4-FFF2-40B4-BE49-F238E27FC236}">
                <a16:creationId xmlns:a16="http://schemas.microsoft.com/office/drawing/2014/main" id="{2A2BE47C-063A-4267-B937-E686A1CFF9EB}"/>
              </a:ext>
            </a:extLst>
          </p:cNvPr>
          <p:cNvSpPr>
            <a:spLocks noGrp="1"/>
          </p:cNvSpPr>
          <p:nvPr/>
        </p:nvSpPr>
        <p:spPr>
          <a:xfrm>
            <a:off x="9191625" y="4762500"/>
            <a:ext cx="1952625" cy="400050"/>
          </a:xfrm>
          <a:prstGeom prst="roundRect">
            <a:avLst>
              <a:gd name="adj" fmla="val 19048"/>
            </a:avLst>
          </a:prstGeom>
          <a:solidFill>
            <a:srgbClr val="7030A0"/>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موضوع التقييم</a:t>
            </a:r>
          </a:p>
        </p:txBody>
      </p:sp>
      <p:sp>
        <p:nvSpPr>
          <p:cNvPr id="15" name="مستطيل 14">
            <a:extLst>
              <a:ext uri="{FF2B5EF4-FFF2-40B4-BE49-F238E27FC236}">
                <a16:creationId xmlns:a16="http://schemas.microsoft.com/office/drawing/2014/main" id="{D86C984A-F5F0-48F6-98EE-13158CDC0A0E}"/>
              </a:ext>
            </a:extLst>
          </p:cNvPr>
          <p:cNvSpPr>
            <a:spLocks noGrp="1"/>
          </p:cNvSpPr>
          <p:nvPr/>
        </p:nvSpPr>
        <p:spPr>
          <a:xfrm>
            <a:off x="1047750" y="476250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الحاجة، والفكرة أو الحل، وقابليته للتطبيق والنمو.</a:t>
            </a:r>
          </a:p>
        </p:txBody>
      </p:sp>
    </p:spTree>
    <p:extLst>
      <p:ext uri="{BB962C8B-B14F-4D97-AF65-F5344CB8AC3E}">
        <p14:creationId xmlns:p14="http://schemas.microsoft.com/office/powerpoint/2010/main" val="1911554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6"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9E3DC2F2-3909-41E5-8BB4-F8515F7EB0EF}"/>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16</a:t>
            </a:r>
          </a:p>
        </p:txBody>
      </p:sp>
      <p:sp>
        <p:nvSpPr>
          <p:cNvPr id="3" name="slide-title">
            <a:extLst>
              <a:ext uri="{FF2B5EF4-FFF2-40B4-BE49-F238E27FC236}">
                <a16:creationId xmlns:a16="http://schemas.microsoft.com/office/drawing/2014/main" id="{4AA0A4BF-967F-4B13-AE74-9EB3FE408802}"/>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معايير الفكرة المبتكرة</a:t>
            </a:r>
          </a:p>
        </p:txBody>
      </p:sp>
      <p:sp>
        <p:nvSpPr>
          <p:cNvPr id="4" name="slide-subtitle">
            <a:extLst>
              <a:ext uri="{FF2B5EF4-FFF2-40B4-BE49-F238E27FC236}">
                <a16:creationId xmlns:a16="http://schemas.microsoft.com/office/drawing/2014/main" id="{7898AB52-F92A-475B-856B-DB37A6BD921B}"/>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الفكرة القرائية المبتكرة</a:t>
            </a:r>
          </a:p>
        </p:txBody>
      </p:sp>
      <p:graphicFrame>
        <p:nvGraphicFramePr>
          <p:cNvPr id="10" name="جدول 9"/>
          <p:cNvGraphicFramePr/>
          <p:nvPr/>
        </p:nvGraphicFramePr>
        <p:xfrm>
          <a:off x="1143000" y="1714500"/>
          <a:ext cx="9906000" cy="3714752"/>
        </p:xfrm>
        <a:graphic>
          <a:graphicData uri="http://schemas.openxmlformats.org/drawingml/2006/table">
            <a:tbl>
              <a:tblPr/>
              <a:tblGrid>
                <a:gridCol w="1143000">
                  <a:extLst>
                    <a:ext uri="{9D8B030D-6E8A-4147-A177-3AD203B41FA5}">
                      <a16:colId xmlns:a16="http://schemas.microsoft.com/office/drawing/2014/main" val="20000"/>
                    </a:ext>
                  </a:extLst>
                </a:gridCol>
                <a:gridCol w="58102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464344">
                <a:tc>
                  <a:txBody>
                    <a:bodyPr/>
                    <a:lstStyle/>
                    <a:p>
                      <a:pPr algn="ctr" rtl="1"/>
                      <a:r>
                        <a:rPr sz="1350" b="1">
                          <a:solidFill>
                            <a:srgbClr val="FFFFFF"/>
                          </a:solidFill>
                          <a:latin typeface="DejaVu Sans"/>
                          <a:ea typeface="DejaVu Sans"/>
                          <a:cs typeface="DejaVu Sans"/>
                        </a:rPr>
                        <a:t>الوزن</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وصف المعيار</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المعيار</a:t>
                      </a:r>
                    </a:p>
                  </a:txBody>
                  <a:tcPr marL="76200" marR="76200" marT="66675" marB="66675" anchor="ctr">
                    <a:solidFill>
                      <a:srgbClr val="7030A0"/>
                    </a:solidFill>
                  </a:tcPr>
                </a:tc>
                <a:extLst>
                  <a:ext uri="{0D108BD9-81ED-4DB2-BD59-A6C34878D82A}">
                    <a16:rowId xmlns:a16="http://schemas.microsoft.com/office/drawing/2014/main" val="10000"/>
                  </a:ext>
                </a:extLst>
              </a:tr>
              <a:tr h="464344">
                <a:tc>
                  <a:txBody>
                    <a:bodyPr/>
                    <a:lstStyle/>
                    <a:p>
                      <a:pPr algn="r" rtl="1"/>
                      <a:r>
                        <a:rPr sz="1163">
                          <a:solidFill>
                            <a:srgbClr val="17121B"/>
                          </a:solidFill>
                          <a:latin typeface="DejaVu Sans"/>
                          <a:ea typeface="DejaVu Sans"/>
                          <a:cs typeface="DejaVu Sans"/>
                        </a:rPr>
                        <a:t>20%</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وجود تحدٍ قرائي حقيقي ومحدد تستجيب له الفكرة.</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وضوح الحاجة</a:t>
                      </a:r>
                    </a:p>
                  </a:txBody>
                  <a:tcPr marL="76200" marR="76200" marT="57150" marB="57150" anchor="ctr">
                    <a:solidFill>
                      <a:srgbClr val="FFFFFF"/>
                    </a:solidFill>
                  </a:tcPr>
                </a:tc>
                <a:extLst>
                  <a:ext uri="{0D108BD9-81ED-4DB2-BD59-A6C34878D82A}">
                    <a16:rowId xmlns:a16="http://schemas.microsoft.com/office/drawing/2014/main" val="10001"/>
                  </a:ext>
                </a:extLst>
              </a:tr>
              <a:tr h="464344">
                <a:tc>
                  <a:txBody>
                    <a:bodyPr/>
                    <a:lstStyle/>
                    <a:p>
                      <a:pPr algn="r" rtl="1"/>
                      <a:r>
                        <a:rPr sz="1163">
                          <a:solidFill>
                            <a:srgbClr val="17121B"/>
                          </a:solidFill>
                          <a:latin typeface="DejaVu Sans"/>
                          <a:ea typeface="DejaVu Sans"/>
                          <a:cs typeface="DejaVu Sans"/>
                        </a:rPr>
                        <a:t>25%</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أصالة الفكرة واختلافها عن الحلول والممارسات المتاحة.</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الجدة والابتكار</a:t>
                      </a:r>
                    </a:p>
                  </a:txBody>
                  <a:tcPr marL="76200" marR="76200" marT="57150" marB="57150" anchor="ctr">
                    <a:solidFill>
                      <a:srgbClr val="F5EFF8"/>
                    </a:solidFill>
                  </a:tcPr>
                </a:tc>
                <a:extLst>
                  <a:ext uri="{0D108BD9-81ED-4DB2-BD59-A6C34878D82A}">
                    <a16:rowId xmlns:a16="http://schemas.microsoft.com/office/drawing/2014/main" val="10002"/>
                  </a:ext>
                </a:extLst>
              </a:tr>
              <a:tr h="464344">
                <a:tc>
                  <a:txBody>
                    <a:bodyPr/>
                    <a:lstStyle/>
                    <a:p>
                      <a:pPr algn="r" rtl="1"/>
                      <a:r>
                        <a:rPr sz="1163">
                          <a:solidFill>
                            <a:srgbClr val="17121B"/>
                          </a:solidFill>
                          <a:latin typeface="DejaVu Sans"/>
                          <a:ea typeface="DejaVu Sans"/>
                          <a:cs typeface="DejaVu Sans"/>
                        </a:rPr>
                        <a:t>20%</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تنمية القراءة أو تحسين تجربة القارئ أو توسيع الوصول.</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القيمة القرائية</a:t>
                      </a:r>
                    </a:p>
                  </a:txBody>
                  <a:tcPr marL="76200" marR="76200" marT="57150" marB="57150" anchor="ctr">
                    <a:solidFill>
                      <a:srgbClr val="FFFFFF"/>
                    </a:solidFill>
                  </a:tcPr>
                </a:tc>
                <a:extLst>
                  <a:ext uri="{0D108BD9-81ED-4DB2-BD59-A6C34878D82A}">
                    <a16:rowId xmlns:a16="http://schemas.microsoft.com/office/drawing/2014/main" val="10003"/>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واقعية الحل ووضوح الموارد والخطوات اللازمة لتجربته.</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قابلية التطبيق</a:t>
                      </a:r>
                    </a:p>
                  </a:txBody>
                  <a:tcPr marL="76200" marR="76200" marT="57150" marB="57150" anchor="ctr">
                    <a:solidFill>
                      <a:srgbClr val="F5EFF8"/>
                    </a:solidFill>
                  </a:tcPr>
                </a:tc>
                <a:extLst>
                  <a:ext uri="{0D108BD9-81ED-4DB2-BD59-A6C34878D82A}">
                    <a16:rowId xmlns:a16="http://schemas.microsoft.com/office/drawing/2014/main" val="10004"/>
                  </a:ext>
                </a:extLst>
              </a:tr>
              <a:tr h="464344">
                <a:tc>
                  <a:txBody>
                    <a:bodyPr/>
                    <a:lstStyle/>
                    <a:p>
                      <a:pPr algn="r" rtl="1"/>
                      <a:r>
                        <a:rPr sz="1163">
                          <a:solidFill>
                            <a:srgbClr val="17121B"/>
                          </a:solidFill>
                          <a:latin typeface="DejaVu Sans"/>
                          <a:ea typeface="DejaVu Sans"/>
                          <a:cs typeface="DejaVu Sans"/>
                        </a:rPr>
                        <a:t>10%</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وضوح رحلة المستخدم وسهولة وجاذبية التفاعل.</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تجربة المستفيد</a:t>
                      </a:r>
                    </a:p>
                  </a:txBody>
                  <a:tcPr marL="76200" marR="76200" marT="57150" marB="57150" anchor="ctr">
                    <a:solidFill>
                      <a:srgbClr val="FFFFFF"/>
                    </a:solidFill>
                  </a:tcPr>
                </a:tc>
                <a:extLst>
                  <a:ext uri="{0D108BD9-81ED-4DB2-BD59-A6C34878D82A}">
                    <a16:rowId xmlns:a16="http://schemas.microsoft.com/office/drawing/2014/main" val="10005"/>
                  </a:ext>
                </a:extLst>
              </a:tr>
              <a:tr h="464344">
                <a:tc>
                  <a:txBody>
                    <a:bodyPr/>
                    <a:lstStyle/>
                    <a:p>
                      <a:pPr algn="r" rtl="1"/>
                      <a:r>
                        <a:rPr sz="1163">
                          <a:solidFill>
                            <a:srgbClr val="17121B"/>
                          </a:solidFill>
                          <a:latin typeface="DejaVu Sans"/>
                          <a:ea typeface="DejaVu Sans"/>
                          <a:cs typeface="DejaVu Sans"/>
                        </a:rPr>
                        <a:t>10%</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إمكان تطوير الفكرة أو نقلها إلى فئات ومناطق أخرى.</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قابلية النمو والتوسع</a:t>
                      </a:r>
                    </a:p>
                  </a:txBody>
                  <a:tcPr marL="76200" marR="76200" marT="57150" marB="57150" anchor="ctr">
                    <a:solidFill>
                      <a:srgbClr val="F5EFF8"/>
                    </a:solidFill>
                  </a:tcPr>
                </a:tc>
                <a:extLst>
                  <a:ext uri="{0D108BD9-81ED-4DB2-BD59-A6C34878D82A}">
                    <a16:rowId xmlns:a16="http://schemas.microsoft.com/office/drawing/2014/main" val="10006"/>
                  </a:ext>
                </a:extLst>
              </a:tr>
              <a:tr h="464344">
                <a:tc>
                  <a:txBody>
                    <a:bodyPr/>
                    <a:lstStyle/>
                    <a:p>
                      <a:pPr algn="r" rtl="1"/>
                      <a:r>
                        <a:rPr sz="1163">
                          <a:solidFill>
                            <a:srgbClr val="17121B"/>
                          </a:solidFill>
                          <a:latin typeface="DejaVu Sans"/>
                          <a:ea typeface="DejaVu Sans"/>
                          <a:cs typeface="DejaVu Sans"/>
                        </a:rPr>
                        <a:t>100%</a:t>
                      </a:r>
                    </a:p>
                  </a:txBody>
                  <a:tcPr marL="76200" marR="76200" marT="57150" marB="57150" anchor="ctr">
                    <a:solidFill>
                      <a:srgbClr val="FFFFFF"/>
                    </a:solidFill>
                  </a:tcPr>
                </a:tc>
                <a:tc>
                  <a:txBody>
                    <a:bodyPr/>
                    <a:lstStyle/>
                    <a:p>
                      <a:pPr algn="r" rtl="1"/>
                      <a:endParaRP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الإجمالي</a:t>
                      </a:r>
                    </a:p>
                  </a:txBody>
                  <a:tcPr marL="76200" marR="76200" marT="57150" marB="57150"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78098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017"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17A1546B-3161-4F61-878A-B3DFD0FB2023}"/>
              </a:ext>
            </a:extLst>
          </p:cNvPr>
          <p:cNvSpPr>
            <a:spLocks noGrp="1"/>
          </p:cNvSpPr>
          <p:nvPr/>
        </p:nvSpPr>
        <p:spPr>
          <a:xfrm>
            <a:off x="1524000" y="2333625"/>
            <a:ext cx="9144000" cy="742950"/>
          </a:xfrm>
          <a:prstGeom prst="rect">
            <a:avLst/>
          </a:prstGeom>
          <a:noFill/>
          <a:ln w="0">
            <a:noFill/>
          </a:ln>
        </p:spPr>
        <p:txBody>
          <a:bodyPr lIns="57150" tIns="38100" rIns="57150" bIns="38100" anchor="ctr">
            <a:normAutofit/>
          </a:bodyPr>
          <a:lstStyle/>
          <a:p>
            <a:pPr algn="ctr" rtl="1">
              <a:lnSpc>
                <a:spcPct val="105000"/>
              </a:lnSpc>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مجال المنظمات</a:t>
            </a:r>
          </a:p>
        </p:txBody>
      </p:sp>
      <p:sp>
        <p:nvSpPr>
          <p:cNvPr id="3" name="مستطيل 2">
            <a:extLst>
              <a:ext uri="{FF2B5EF4-FFF2-40B4-BE49-F238E27FC236}">
                <a16:creationId xmlns:a16="http://schemas.microsoft.com/office/drawing/2014/main" id="{3358ACFE-80AC-4ADB-A68D-6C8A97F97FA0}"/>
              </a:ext>
            </a:extLst>
          </p:cNvPr>
          <p:cNvSpPr>
            <a:spLocks noGrp="1"/>
          </p:cNvSpPr>
          <p:nvPr/>
        </p:nvSpPr>
        <p:spPr>
          <a:xfrm>
            <a:off x="2095500" y="3143250"/>
            <a:ext cx="8001000" cy="666750"/>
          </a:xfrm>
          <a:prstGeom prst="rect">
            <a:avLst/>
          </a:prstGeom>
          <a:noFill/>
          <a:ln w="0">
            <a:noFill/>
          </a:ln>
        </p:spPr>
        <p:txBody>
          <a:bodyPr lIns="57150" tIns="38100" rIns="57150" bIns="38100" anchor="ctr">
            <a:normAutofit/>
          </a:bodyPr>
          <a:lstStyle/>
          <a:p>
            <a:pPr algn="ctr" rtl="1">
              <a:lnSpc>
                <a:spcPct val="105000"/>
              </a:lnSpc>
              <a:buNone/>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مساران يفرّقان بين مبادرة محددة ومنظومة مؤسسية</a:t>
            </a:r>
          </a:p>
        </p:txBody>
      </p:sp>
    </p:spTree>
    <p:extLst>
      <p:ext uri="{BB962C8B-B14F-4D97-AF65-F5344CB8AC3E}">
        <p14:creationId xmlns:p14="http://schemas.microsoft.com/office/powerpoint/2010/main" val="1843451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8"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198645B0-09CC-4736-BB78-F15FD66F7BD0}"/>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18</a:t>
            </a:r>
          </a:p>
        </p:txBody>
      </p:sp>
      <p:sp>
        <p:nvSpPr>
          <p:cNvPr id="3" name="slide-title">
            <a:extLst>
              <a:ext uri="{FF2B5EF4-FFF2-40B4-BE49-F238E27FC236}">
                <a16:creationId xmlns:a16="http://schemas.microsoft.com/office/drawing/2014/main" id="{39E5734B-1EA3-4311-AEA2-29EDC05895F3}"/>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المبادرة القرائية المجتمعية المتميزة</a:t>
            </a:r>
          </a:p>
        </p:txBody>
      </p:sp>
      <p:sp>
        <p:nvSpPr>
          <p:cNvPr id="4" name="slide-subtitle">
            <a:extLst>
              <a:ext uri="{FF2B5EF4-FFF2-40B4-BE49-F238E27FC236}">
                <a16:creationId xmlns:a16="http://schemas.microsoft.com/office/drawing/2014/main" id="{D232020B-C398-49FE-A325-202AE14F72DA}"/>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المسار 03</a:t>
            </a:r>
          </a:p>
        </p:txBody>
      </p:sp>
      <p:sp>
        <p:nvSpPr>
          <p:cNvPr id="5" name="مستطيل 4">
            <a:extLst>
              <a:ext uri="{FF2B5EF4-FFF2-40B4-BE49-F238E27FC236}">
                <a16:creationId xmlns:a16="http://schemas.microsoft.com/office/drawing/2014/main" id="{B084C629-65DE-44CD-A96B-DA2D7A856644}"/>
              </a:ext>
            </a:extLst>
          </p:cNvPr>
          <p:cNvSpPr>
            <a:spLocks noGrp="1"/>
          </p:cNvSpPr>
          <p:nvPr/>
        </p:nvSpPr>
        <p:spPr>
          <a:xfrm>
            <a:off x="1524000" y="1476375"/>
            <a:ext cx="9191625" cy="933450"/>
          </a:xfrm>
          <a:prstGeom prst="rect">
            <a:avLst/>
          </a:prstGeom>
          <a:noFill/>
          <a:ln w="0">
            <a:noFill/>
          </a:ln>
        </p:spPr>
        <p:txBody>
          <a:bodyPr lIns="76200" tIns="57150" rIns="76200" bIns="57150" anchor="t">
            <a:normAutofit/>
          </a:bodyPr>
          <a:lstStyle/>
          <a:p>
            <a:pPr algn="r" rtl="1">
              <a:lnSpc>
                <a:spcPct val="112000"/>
              </a:lnSpc>
              <a:buNone/>
              <a:defRPr sz="1650" b="0">
                <a:solidFill>
                  <a:srgbClr val="17121B"/>
                </a:solidFill>
                <a:latin typeface="DejaVu Sans"/>
                <a:ea typeface="DejaVu Sans"/>
                <a:cs typeface="DejaVu Sans"/>
              </a:defRPr>
            </a:pPr>
            <a:r>
              <a:rPr sz="1650" b="0">
                <a:solidFill>
                  <a:srgbClr val="17121B"/>
                </a:solidFill>
                <a:latin typeface="DejaVu Sans"/>
                <a:ea typeface="DejaVu Sans"/>
                <a:cs typeface="DejaVu Sans"/>
              </a:rPr>
              <a:t>يكرّم المنظمات التي صممت ونفذت مبادرة قرائية مجتمعية عالية الجودة، أحدثت مشاركة وتفاعلًا وتغيرًا واضحًا في تجربة المستفيدين وعلاقتهم بالقراءة.</a:t>
            </a:r>
          </a:p>
        </p:txBody>
      </p:sp>
      <p:sp>
        <p:nvSpPr>
          <p:cNvPr id="6" name="مستطيل: زوايا مستديرة 5">
            <a:extLst>
              <a:ext uri="{FF2B5EF4-FFF2-40B4-BE49-F238E27FC236}">
                <a16:creationId xmlns:a16="http://schemas.microsoft.com/office/drawing/2014/main" id="{2FDD2B0E-169B-447C-A8C9-D173AA5E99A5}"/>
              </a:ext>
            </a:extLst>
          </p:cNvPr>
          <p:cNvSpPr>
            <a:spLocks noGrp="1"/>
          </p:cNvSpPr>
          <p:nvPr/>
        </p:nvSpPr>
        <p:spPr>
          <a:xfrm>
            <a:off x="9191625" y="2667000"/>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هدف المسار</a:t>
            </a:r>
          </a:p>
        </p:txBody>
      </p:sp>
      <p:sp>
        <p:nvSpPr>
          <p:cNvPr id="7" name="مستطيل 6">
            <a:extLst>
              <a:ext uri="{FF2B5EF4-FFF2-40B4-BE49-F238E27FC236}">
                <a16:creationId xmlns:a16="http://schemas.microsoft.com/office/drawing/2014/main" id="{BA86543B-E2B3-4BF1-B668-5578618AC6BB}"/>
              </a:ext>
            </a:extLst>
          </p:cNvPr>
          <p:cNvSpPr>
            <a:spLocks noGrp="1"/>
          </p:cNvSpPr>
          <p:nvPr/>
        </p:nvSpPr>
        <p:spPr>
          <a:xfrm>
            <a:off x="1047750" y="266700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رفع جودة المبادرات القرائية المجتمعية وتحسين تجربة المستفيد وتوسيع المشاركة.</a:t>
            </a:r>
          </a:p>
        </p:txBody>
      </p:sp>
      <p:sp>
        <p:nvSpPr>
          <p:cNvPr id="8" name="مستطيل: زوايا مستديرة 7">
            <a:extLst>
              <a:ext uri="{FF2B5EF4-FFF2-40B4-BE49-F238E27FC236}">
                <a16:creationId xmlns:a16="http://schemas.microsoft.com/office/drawing/2014/main" id="{980D80FD-9730-493B-BB4B-2009ED7C343B}"/>
              </a:ext>
            </a:extLst>
          </p:cNvPr>
          <p:cNvSpPr>
            <a:spLocks noGrp="1"/>
          </p:cNvSpPr>
          <p:nvPr/>
        </p:nvSpPr>
        <p:spPr>
          <a:xfrm>
            <a:off x="9191625" y="3190875"/>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المتقدم المؤهل</a:t>
            </a:r>
          </a:p>
        </p:txBody>
      </p:sp>
      <p:sp>
        <p:nvSpPr>
          <p:cNvPr id="9" name="مستطيل 8">
            <a:extLst>
              <a:ext uri="{FF2B5EF4-FFF2-40B4-BE49-F238E27FC236}">
                <a16:creationId xmlns:a16="http://schemas.microsoft.com/office/drawing/2014/main" id="{99B722D0-C951-421D-B61C-25CF1E9A2EC4}"/>
              </a:ext>
            </a:extLst>
          </p:cNvPr>
          <p:cNvSpPr>
            <a:spLocks noGrp="1"/>
          </p:cNvSpPr>
          <p:nvPr/>
        </p:nvSpPr>
        <p:spPr>
          <a:xfrm>
            <a:off x="1047750" y="3190875"/>
            <a:ext cx="8001000" cy="400050"/>
          </a:xfrm>
          <a:prstGeom prst="rect">
            <a:avLst/>
          </a:prstGeom>
          <a:solidFill>
            <a:srgbClr val="FFFFFF"/>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جمعية أو مؤسسة أو نادٍ أو جهة مؤهلة نظاميًا.</a:t>
            </a:r>
          </a:p>
        </p:txBody>
      </p:sp>
      <p:sp>
        <p:nvSpPr>
          <p:cNvPr id="10" name="مستطيل: زوايا مستديرة 9">
            <a:extLst>
              <a:ext uri="{FF2B5EF4-FFF2-40B4-BE49-F238E27FC236}">
                <a16:creationId xmlns:a16="http://schemas.microsoft.com/office/drawing/2014/main" id="{63617E44-B3E2-486A-B1F2-59C9EF8404A0}"/>
              </a:ext>
            </a:extLst>
          </p:cNvPr>
          <p:cNvSpPr>
            <a:spLocks noGrp="1"/>
          </p:cNvSpPr>
          <p:nvPr/>
        </p:nvSpPr>
        <p:spPr>
          <a:xfrm>
            <a:off x="9191625" y="3714750"/>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صور المشاركة</a:t>
            </a:r>
          </a:p>
        </p:txBody>
      </p:sp>
      <p:sp>
        <p:nvSpPr>
          <p:cNvPr id="11" name="مستطيل 10">
            <a:extLst>
              <a:ext uri="{FF2B5EF4-FFF2-40B4-BE49-F238E27FC236}">
                <a16:creationId xmlns:a16="http://schemas.microsoft.com/office/drawing/2014/main" id="{990034AF-8936-4A5A-8446-E00359B1A85B}"/>
              </a:ext>
            </a:extLst>
          </p:cNvPr>
          <p:cNvSpPr>
            <a:spLocks noGrp="1"/>
          </p:cNvSpPr>
          <p:nvPr/>
        </p:nvSpPr>
        <p:spPr>
          <a:xfrm>
            <a:off x="1047750" y="371475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برنامج، نادٍ، حملة، فعالية، منصة، مشروع، منتج أو مبادرة متعددة الأنشطة.</a:t>
            </a:r>
          </a:p>
        </p:txBody>
      </p:sp>
      <p:sp>
        <p:nvSpPr>
          <p:cNvPr id="12" name="مستطيل: زوايا مستديرة 11">
            <a:extLst>
              <a:ext uri="{FF2B5EF4-FFF2-40B4-BE49-F238E27FC236}">
                <a16:creationId xmlns:a16="http://schemas.microsoft.com/office/drawing/2014/main" id="{430D0756-313B-45DC-9EDA-DB1EF96BA82C}"/>
              </a:ext>
            </a:extLst>
          </p:cNvPr>
          <p:cNvSpPr>
            <a:spLocks noGrp="1"/>
          </p:cNvSpPr>
          <p:nvPr/>
        </p:nvSpPr>
        <p:spPr>
          <a:xfrm>
            <a:off x="9191625" y="4238625"/>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الجاهزية</a:t>
            </a:r>
          </a:p>
        </p:txBody>
      </p:sp>
      <p:sp>
        <p:nvSpPr>
          <p:cNvPr id="13" name="مستطيل 12">
            <a:extLst>
              <a:ext uri="{FF2B5EF4-FFF2-40B4-BE49-F238E27FC236}">
                <a16:creationId xmlns:a16="http://schemas.microsoft.com/office/drawing/2014/main" id="{FED725E0-90D6-43DE-9863-92AB1617AFB4}"/>
              </a:ext>
            </a:extLst>
          </p:cNvPr>
          <p:cNvSpPr>
            <a:spLocks noGrp="1"/>
          </p:cNvSpPr>
          <p:nvPr/>
        </p:nvSpPr>
        <p:spPr>
          <a:xfrm>
            <a:off x="1047750" y="4238625"/>
            <a:ext cx="8001000" cy="400050"/>
          </a:xfrm>
          <a:prstGeom prst="rect">
            <a:avLst/>
          </a:prstGeom>
          <a:solidFill>
            <a:srgbClr val="FFFFFF"/>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مبادرة منفذة ويمكن قياس المشاركة والنتائج فيها.</a:t>
            </a:r>
          </a:p>
        </p:txBody>
      </p:sp>
      <p:sp>
        <p:nvSpPr>
          <p:cNvPr id="14" name="مستطيل: زوايا مستديرة 13">
            <a:extLst>
              <a:ext uri="{FF2B5EF4-FFF2-40B4-BE49-F238E27FC236}">
                <a16:creationId xmlns:a16="http://schemas.microsoft.com/office/drawing/2014/main" id="{4C20DAD1-2792-497E-85F8-4C863B5C80E2}"/>
              </a:ext>
            </a:extLst>
          </p:cNvPr>
          <p:cNvSpPr>
            <a:spLocks noGrp="1"/>
          </p:cNvSpPr>
          <p:nvPr/>
        </p:nvSpPr>
        <p:spPr>
          <a:xfrm>
            <a:off x="9191625" y="4762500"/>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موضوع التقييم</a:t>
            </a:r>
          </a:p>
        </p:txBody>
      </p:sp>
      <p:sp>
        <p:nvSpPr>
          <p:cNvPr id="15" name="مستطيل 14">
            <a:extLst>
              <a:ext uri="{FF2B5EF4-FFF2-40B4-BE49-F238E27FC236}">
                <a16:creationId xmlns:a16="http://schemas.microsoft.com/office/drawing/2014/main" id="{55372EA9-1EE9-4EE8-9864-FE53E77B76F0}"/>
              </a:ext>
            </a:extLst>
          </p:cNvPr>
          <p:cNvSpPr>
            <a:spLocks noGrp="1"/>
          </p:cNvSpPr>
          <p:nvPr/>
        </p:nvSpPr>
        <p:spPr>
          <a:xfrm>
            <a:off x="1047750" y="476250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مبادرة محددة وتجربة المستفيد والمشاركة والنتائج.</a:t>
            </a:r>
          </a:p>
        </p:txBody>
      </p:sp>
    </p:spTree>
    <p:extLst>
      <p:ext uri="{BB962C8B-B14F-4D97-AF65-F5344CB8AC3E}">
        <p14:creationId xmlns:p14="http://schemas.microsoft.com/office/powerpoint/2010/main" val="409934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9"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64F064DD-0D43-4429-A5C7-99B011255430}"/>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19</a:t>
            </a:r>
          </a:p>
        </p:txBody>
      </p:sp>
      <p:sp>
        <p:nvSpPr>
          <p:cNvPr id="3" name="slide-title">
            <a:extLst>
              <a:ext uri="{FF2B5EF4-FFF2-40B4-BE49-F238E27FC236}">
                <a16:creationId xmlns:a16="http://schemas.microsoft.com/office/drawing/2014/main" id="{6B7F2464-7852-4C90-A4FA-094755ACDD6B}"/>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معايير المبادرة المجتمعية</a:t>
            </a:r>
          </a:p>
        </p:txBody>
      </p:sp>
      <p:sp>
        <p:nvSpPr>
          <p:cNvPr id="4" name="slide-subtitle">
            <a:extLst>
              <a:ext uri="{FF2B5EF4-FFF2-40B4-BE49-F238E27FC236}">
                <a16:creationId xmlns:a16="http://schemas.microsoft.com/office/drawing/2014/main" id="{3C7844C9-3ACE-42E3-8E28-48CBC37B7D5E}"/>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المبادرة القرائية المجتمعية المتميزة</a:t>
            </a:r>
          </a:p>
        </p:txBody>
      </p:sp>
      <p:graphicFrame>
        <p:nvGraphicFramePr>
          <p:cNvPr id="10" name="جدول 9"/>
          <p:cNvGraphicFramePr/>
          <p:nvPr/>
        </p:nvGraphicFramePr>
        <p:xfrm>
          <a:off x="1143000" y="1714500"/>
          <a:ext cx="9906000" cy="3714752"/>
        </p:xfrm>
        <a:graphic>
          <a:graphicData uri="http://schemas.openxmlformats.org/drawingml/2006/table">
            <a:tbl>
              <a:tblPr/>
              <a:tblGrid>
                <a:gridCol w="1143000">
                  <a:extLst>
                    <a:ext uri="{9D8B030D-6E8A-4147-A177-3AD203B41FA5}">
                      <a16:colId xmlns:a16="http://schemas.microsoft.com/office/drawing/2014/main" val="20000"/>
                    </a:ext>
                  </a:extLst>
                </a:gridCol>
                <a:gridCol w="58102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464344">
                <a:tc>
                  <a:txBody>
                    <a:bodyPr/>
                    <a:lstStyle/>
                    <a:p>
                      <a:pPr algn="ctr" rtl="1"/>
                      <a:r>
                        <a:rPr sz="1350" b="1">
                          <a:solidFill>
                            <a:srgbClr val="FFFFFF"/>
                          </a:solidFill>
                          <a:latin typeface="DejaVu Sans"/>
                          <a:ea typeface="DejaVu Sans"/>
                          <a:cs typeface="DejaVu Sans"/>
                        </a:rPr>
                        <a:t>الوزن</a:t>
                      </a:r>
                    </a:p>
                  </a:txBody>
                  <a:tcPr marL="76200" marR="76200" marT="66675" marB="66675" anchor="ctr">
                    <a:solidFill>
                      <a:srgbClr val="1F9FCC"/>
                    </a:solidFill>
                  </a:tcPr>
                </a:tc>
                <a:tc>
                  <a:txBody>
                    <a:bodyPr/>
                    <a:lstStyle/>
                    <a:p>
                      <a:pPr algn="ctr" rtl="1"/>
                      <a:r>
                        <a:rPr sz="1350" b="1">
                          <a:solidFill>
                            <a:srgbClr val="FFFFFF"/>
                          </a:solidFill>
                          <a:latin typeface="DejaVu Sans"/>
                          <a:ea typeface="DejaVu Sans"/>
                          <a:cs typeface="DejaVu Sans"/>
                        </a:rPr>
                        <a:t>وصف المعيار</a:t>
                      </a:r>
                    </a:p>
                  </a:txBody>
                  <a:tcPr marL="76200" marR="76200" marT="66675" marB="66675" anchor="ctr">
                    <a:solidFill>
                      <a:srgbClr val="1F9FCC"/>
                    </a:solidFill>
                  </a:tcPr>
                </a:tc>
                <a:tc>
                  <a:txBody>
                    <a:bodyPr/>
                    <a:lstStyle/>
                    <a:p>
                      <a:pPr algn="ctr" rtl="1"/>
                      <a:r>
                        <a:rPr sz="1350" b="1">
                          <a:solidFill>
                            <a:srgbClr val="FFFFFF"/>
                          </a:solidFill>
                          <a:latin typeface="DejaVu Sans"/>
                          <a:ea typeface="DejaVu Sans"/>
                          <a:cs typeface="DejaVu Sans"/>
                        </a:rPr>
                        <a:t>المعيار</a:t>
                      </a:r>
                    </a:p>
                  </a:txBody>
                  <a:tcPr marL="76200" marR="76200" marT="66675" marB="66675" anchor="ctr">
                    <a:solidFill>
                      <a:srgbClr val="1F9FCC"/>
                    </a:solidFill>
                  </a:tcPr>
                </a:tc>
                <a:extLst>
                  <a:ext uri="{0D108BD9-81ED-4DB2-BD59-A6C34878D82A}">
                    <a16:rowId xmlns:a16="http://schemas.microsoft.com/office/drawing/2014/main" val="10000"/>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استناد المبادرة إلى احتياج قرائي واضح وملاءمتها للفئة.</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الاحتياج والملاءمة</a:t>
                      </a:r>
                    </a:p>
                  </a:txBody>
                  <a:tcPr marL="76200" marR="76200" marT="57150" marB="57150" anchor="ctr">
                    <a:solidFill>
                      <a:srgbClr val="FFFFFF"/>
                    </a:solidFill>
                  </a:tcPr>
                </a:tc>
                <a:extLst>
                  <a:ext uri="{0D108BD9-81ED-4DB2-BD59-A6C34878D82A}">
                    <a16:rowId xmlns:a16="http://schemas.microsoft.com/office/drawing/2014/main" val="10001"/>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ترابط الأهداف والأنشطة والمخرجات والموارد وإدارة التنفيذ.</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جودة التصميم والتنفيذ</a:t>
                      </a:r>
                    </a:p>
                  </a:txBody>
                  <a:tcPr marL="76200" marR="76200" marT="57150" marB="57150" anchor="ctr">
                    <a:solidFill>
                      <a:srgbClr val="F5EFF8"/>
                    </a:solidFill>
                  </a:tcPr>
                </a:tc>
                <a:extLst>
                  <a:ext uri="{0D108BD9-81ED-4DB2-BD59-A6C34878D82A}">
                    <a16:rowId xmlns:a16="http://schemas.microsoft.com/office/drawing/2014/main" val="10002"/>
                  </a:ext>
                </a:extLst>
              </a:tr>
              <a:tr h="464344">
                <a:tc>
                  <a:txBody>
                    <a:bodyPr/>
                    <a:lstStyle/>
                    <a:p>
                      <a:pPr algn="r" rtl="1"/>
                      <a:r>
                        <a:rPr sz="1163">
                          <a:solidFill>
                            <a:srgbClr val="17121B"/>
                          </a:solidFill>
                          <a:latin typeface="DejaVu Sans"/>
                          <a:ea typeface="DejaVu Sans"/>
                          <a:cs typeface="DejaVu Sans"/>
                        </a:rPr>
                        <a:t>20%</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جودة المحتوى وسهولة الوصول وجاذبية واستمرارية التجربة.</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تجربة المستفيد</a:t>
                      </a:r>
                    </a:p>
                  </a:txBody>
                  <a:tcPr marL="76200" marR="76200" marT="57150" marB="57150" anchor="ctr">
                    <a:solidFill>
                      <a:srgbClr val="FFFFFF"/>
                    </a:solidFill>
                  </a:tcPr>
                </a:tc>
                <a:extLst>
                  <a:ext uri="{0D108BD9-81ED-4DB2-BD59-A6C34878D82A}">
                    <a16:rowId xmlns:a16="http://schemas.microsoft.com/office/drawing/2014/main" val="10003"/>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إشراك المستفيدين وبناء مجتمع قرائي متفاعل.</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المشاركة وبناء المجتمع</a:t>
                      </a:r>
                    </a:p>
                  </a:txBody>
                  <a:tcPr marL="76200" marR="76200" marT="57150" marB="57150" anchor="ctr">
                    <a:solidFill>
                      <a:srgbClr val="F5EFF8"/>
                    </a:solidFill>
                  </a:tcPr>
                </a:tc>
                <a:extLst>
                  <a:ext uri="{0D108BD9-81ED-4DB2-BD59-A6C34878D82A}">
                    <a16:rowId xmlns:a16="http://schemas.microsoft.com/office/drawing/2014/main" val="10004"/>
                  </a:ext>
                </a:extLst>
              </a:tr>
              <a:tr h="464344">
                <a:tc>
                  <a:txBody>
                    <a:bodyPr/>
                    <a:lstStyle/>
                    <a:p>
                      <a:pPr algn="r" rtl="1"/>
                      <a:r>
                        <a:rPr sz="1163">
                          <a:solidFill>
                            <a:srgbClr val="17121B"/>
                          </a:solidFill>
                          <a:latin typeface="DejaVu Sans"/>
                          <a:ea typeface="DejaVu Sans"/>
                          <a:cs typeface="DejaVu Sans"/>
                        </a:rPr>
                        <a:t>20%</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وضوح النتائج القرائية والمعرفية والاجتماعية وقابليتها للقياس.</a:t>
                      </a: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الأثر والنتائج</a:t>
                      </a:r>
                    </a:p>
                  </a:txBody>
                  <a:tcPr marL="76200" marR="76200" marT="57150" marB="57150" anchor="ctr">
                    <a:solidFill>
                      <a:srgbClr val="FFFFFF"/>
                    </a:solidFill>
                  </a:tcPr>
                </a:tc>
                <a:extLst>
                  <a:ext uri="{0D108BD9-81ED-4DB2-BD59-A6C34878D82A}">
                    <a16:rowId xmlns:a16="http://schemas.microsoft.com/office/drawing/2014/main" val="10005"/>
                  </a:ext>
                </a:extLst>
              </a:tr>
              <a:tr h="464344">
                <a:tc>
                  <a:txBody>
                    <a:bodyPr/>
                    <a:lstStyle/>
                    <a:p>
                      <a:pPr algn="r" rtl="1"/>
                      <a:r>
                        <a:rPr sz="1163">
                          <a:solidFill>
                            <a:srgbClr val="17121B"/>
                          </a:solidFill>
                          <a:latin typeface="DejaVu Sans"/>
                          <a:ea typeface="DejaVu Sans"/>
                          <a:cs typeface="DejaVu Sans"/>
                        </a:rPr>
                        <a:t>15%</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قوة الشراكات واستمرار الموارد والنتائج.</a:t>
                      </a:r>
                    </a:p>
                  </a:txBody>
                  <a:tcPr marL="76200" marR="76200" marT="57150" marB="57150" anchor="ctr">
                    <a:solidFill>
                      <a:srgbClr val="F5EFF8"/>
                    </a:solidFill>
                  </a:tcPr>
                </a:tc>
                <a:tc>
                  <a:txBody>
                    <a:bodyPr/>
                    <a:lstStyle/>
                    <a:p>
                      <a:pPr algn="r" rtl="1"/>
                      <a:r>
                        <a:rPr sz="1163">
                          <a:solidFill>
                            <a:srgbClr val="17121B"/>
                          </a:solidFill>
                          <a:latin typeface="DejaVu Sans"/>
                          <a:ea typeface="DejaVu Sans"/>
                          <a:cs typeface="DejaVu Sans"/>
                        </a:rPr>
                        <a:t>الشراكات والاستدامة</a:t>
                      </a:r>
                    </a:p>
                  </a:txBody>
                  <a:tcPr marL="76200" marR="76200" marT="57150" marB="57150" anchor="ctr">
                    <a:solidFill>
                      <a:srgbClr val="F5EFF8"/>
                    </a:solidFill>
                  </a:tcPr>
                </a:tc>
                <a:extLst>
                  <a:ext uri="{0D108BD9-81ED-4DB2-BD59-A6C34878D82A}">
                    <a16:rowId xmlns:a16="http://schemas.microsoft.com/office/drawing/2014/main" val="10006"/>
                  </a:ext>
                </a:extLst>
              </a:tr>
              <a:tr h="464344">
                <a:tc>
                  <a:txBody>
                    <a:bodyPr/>
                    <a:lstStyle/>
                    <a:p>
                      <a:pPr algn="r" rtl="1"/>
                      <a:r>
                        <a:rPr sz="1163">
                          <a:solidFill>
                            <a:srgbClr val="17121B"/>
                          </a:solidFill>
                          <a:latin typeface="DejaVu Sans"/>
                          <a:ea typeface="DejaVu Sans"/>
                          <a:cs typeface="DejaVu Sans"/>
                        </a:rPr>
                        <a:t>100%</a:t>
                      </a:r>
                    </a:p>
                  </a:txBody>
                  <a:tcPr marL="76200" marR="76200" marT="57150" marB="57150" anchor="ctr">
                    <a:solidFill>
                      <a:srgbClr val="FFFFFF"/>
                    </a:solidFill>
                  </a:tcPr>
                </a:tc>
                <a:tc>
                  <a:txBody>
                    <a:bodyPr/>
                    <a:lstStyle/>
                    <a:p>
                      <a:pPr algn="r" rtl="1"/>
                      <a:endParaRPr/>
                    </a:p>
                  </a:txBody>
                  <a:tcPr marL="76200" marR="76200" marT="57150" marB="57150" anchor="ctr">
                    <a:solidFill>
                      <a:srgbClr val="FFFFFF"/>
                    </a:solidFill>
                  </a:tcPr>
                </a:tc>
                <a:tc>
                  <a:txBody>
                    <a:bodyPr/>
                    <a:lstStyle/>
                    <a:p>
                      <a:pPr algn="r" rtl="1"/>
                      <a:r>
                        <a:rPr sz="1163">
                          <a:solidFill>
                            <a:srgbClr val="17121B"/>
                          </a:solidFill>
                          <a:latin typeface="DejaVu Sans"/>
                          <a:ea typeface="DejaVu Sans"/>
                          <a:cs typeface="DejaVu Sans"/>
                        </a:rPr>
                        <a:t>الإجمالي</a:t>
                      </a:r>
                    </a:p>
                  </a:txBody>
                  <a:tcPr marL="76200" marR="76200" marT="57150" marB="57150"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51361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20"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48BE2EA6-8648-443E-BFA3-8EBCAD6DB68A}"/>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20</a:t>
            </a:r>
          </a:p>
        </p:txBody>
      </p:sp>
      <p:sp>
        <p:nvSpPr>
          <p:cNvPr id="3" name="slide-title">
            <a:extLst>
              <a:ext uri="{FF2B5EF4-FFF2-40B4-BE49-F238E27FC236}">
                <a16:creationId xmlns:a16="http://schemas.microsoft.com/office/drawing/2014/main" id="{B24C7AD2-16DC-44D7-A562-9E7D629DD94D}"/>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المنظومة القرائية المستدامة</a:t>
            </a:r>
          </a:p>
        </p:txBody>
      </p:sp>
      <p:sp>
        <p:nvSpPr>
          <p:cNvPr id="4" name="slide-subtitle">
            <a:extLst>
              <a:ext uri="{FF2B5EF4-FFF2-40B4-BE49-F238E27FC236}">
                <a16:creationId xmlns:a16="http://schemas.microsoft.com/office/drawing/2014/main" id="{9978C119-1E74-431C-8C95-F7B16A63326F}"/>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المسار 04</a:t>
            </a:r>
          </a:p>
        </p:txBody>
      </p:sp>
      <p:sp>
        <p:nvSpPr>
          <p:cNvPr id="5" name="مستطيل 4">
            <a:extLst>
              <a:ext uri="{FF2B5EF4-FFF2-40B4-BE49-F238E27FC236}">
                <a16:creationId xmlns:a16="http://schemas.microsoft.com/office/drawing/2014/main" id="{57DA161F-6CA5-4600-8F42-DBDDC32285F2}"/>
              </a:ext>
            </a:extLst>
          </p:cNvPr>
          <p:cNvSpPr>
            <a:spLocks noGrp="1"/>
          </p:cNvSpPr>
          <p:nvPr/>
        </p:nvSpPr>
        <p:spPr>
          <a:xfrm>
            <a:off x="1524000" y="1476375"/>
            <a:ext cx="9191625" cy="933450"/>
          </a:xfrm>
          <a:prstGeom prst="rect">
            <a:avLst/>
          </a:prstGeom>
          <a:noFill/>
          <a:ln w="0">
            <a:noFill/>
          </a:ln>
        </p:spPr>
        <p:txBody>
          <a:bodyPr lIns="76200" tIns="57150" rIns="76200" bIns="57150" anchor="t">
            <a:normAutofit/>
          </a:bodyPr>
          <a:lstStyle/>
          <a:p>
            <a:pPr algn="r" rtl="1">
              <a:lnSpc>
                <a:spcPct val="112000"/>
              </a:lnSpc>
              <a:buNone/>
              <a:defRPr sz="1650" b="0">
                <a:solidFill>
                  <a:srgbClr val="17121B"/>
                </a:solidFill>
                <a:latin typeface="DejaVu Sans"/>
                <a:ea typeface="DejaVu Sans"/>
                <a:cs typeface="DejaVu Sans"/>
              </a:defRPr>
            </a:pPr>
            <a:r>
              <a:rPr sz="1650" b="0">
                <a:solidFill>
                  <a:srgbClr val="17121B"/>
                </a:solidFill>
                <a:latin typeface="DejaVu Sans"/>
                <a:ea typeface="DejaVu Sans"/>
                <a:cs typeface="DejaVu Sans"/>
              </a:rPr>
              <a:t>يكرّم المنظمات التي طورت نموذجًا قرائيًا مؤسسيًا متكاملًا ومستدامًا، يجمع بين الهوية والحوكمة وجودة التجربة وبناء المجتمع والشراكات والتقنية وقياس الأثر.</a:t>
            </a:r>
          </a:p>
        </p:txBody>
      </p:sp>
      <p:sp>
        <p:nvSpPr>
          <p:cNvPr id="6" name="مستطيل: زوايا مستديرة 5">
            <a:extLst>
              <a:ext uri="{FF2B5EF4-FFF2-40B4-BE49-F238E27FC236}">
                <a16:creationId xmlns:a16="http://schemas.microsoft.com/office/drawing/2014/main" id="{B09B1FA8-A2F0-4672-B1AF-14CC00739E87}"/>
              </a:ext>
            </a:extLst>
          </p:cNvPr>
          <p:cNvSpPr>
            <a:spLocks noGrp="1"/>
          </p:cNvSpPr>
          <p:nvPr/>
        </p:nvSpPr>
        <p:spPr>
          <a:xfrm>
            <a:off x="9191625" y="2667000"/>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هدف المسار</a:t>
            </a:r>
          </a:p>
        </p:txBody>
      </p:sp>
      <p:sp>
        <p:nvSpPr>
          <p:cNvPr id="7" name="مستطيل 6">
            <a:extLst>
              <a:ext uri="{FF2B5EF4-FFF2-40B4-BE49-F238E27FC236}">
                <a16:creationId xmlns:a16="http://schemas.microsoft.com/office/drawing/2014/main" id="{A1FAF7AD-0B15-4A88-B230-8D77933D3472}"/>
              </a:ext>
            </a:extLst>
          </p:cNvPr>
          <p:cNvSpPr>
            <a:spLocks noGrp="1"/>
          </p:cNvSpPr>
          <p:nvPr/>
        </p:nvSpPr>
        <p:spPr>
          <a:xfrm>
            <a:off x="1047750" y="266700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الانتقال من المبادرات الموسمية إلى منظومات قرائية مستمرة وقابلة للنمو.</a:t>
            </a:r>
          </a:p>
        </p:txBody>
      </p:sp>
      <p:sp>
        <p:nvSpPr>
          <p:cNvPr id="8" name="مستطيل: زوايا مستديرة 7">
            <a:extLst>
              <a:ext uri="{FF2B5EF4-FFF2-40B4-BE49-F238E27FC236}">
                <a16:creationId xmlns:a16="http://schemas.microsoft.com/office/drawing/2014/main" id="{909F5CAA-883D-4E93-9DC9-40486912667B}"/>
              </a:ext>
            </a:extLst>
          </p:cNvPr>
          <p:cNvSpPr>
            <a:spLocks noGrp="1"/>
          </p:cNvSpPr>
          <p:nvPr/>
        </p:nvSpPr>
        <p:spPr>
          <a:xfrm>
            <a:off x="9191625" y="3190875"/>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المتقدم المؤهل</a:t>
            </a:r>
          </a:p>
        </p:txBody>
      </p:sp>
      <p:sp>
        <p:nvSpPr>
          <p:cNvPr id="9" name="مستطيل 8">
            <a:extLst>
              <a:ext uri="{FF2B5EF4-FFF2-40B4-BE49-F238E27FC236}">
                <a16:creationId xmlns:a16="http://schemas.microsoft.com/office/drawing/2014/main" id="{2E9A8159-DE96-4A9B-9854-518AC5A3D6C9}"/>
              </a:ext>
            </a:extLst>
          </p:cNvPr>
          <p:cNvSpPr>
            <a:spLocks noGrp="1"/>
          </p:cNvSpPr>
          <p:nvPr/>
        </p:nvSpPr>
        <p:spPr>
          <a:xfrm>
            <a:off x="1047750" y="3190875"/>
            <a:ext cx="8001000" cy="400050"/>
          </a:xfrm>
          <a:prstGeom prst="rect">
            <a:avLst/>
          </a:prstGeom>
          <a:solidFill>
            <a:srgbClr val="FFFFFF"/>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جمعية أو مؤسسة أو نادٍ أو جهة مؤهلة نظاميًا.</a:t>
            </a:r>
          </a:p>
        </p:txBody>
      </p:sp>
      <p:sp>
        <p:nvSpPr>
          <p:cNvPr id="10" name="مستطيل: زوايا مستديرة 9">
            <a:extLst>
              <a:ext uri="{FF2B5EF4-FFF2-40B4-BE49-F238E27FC236}">
                <a16:creationId xmlns:a16="http://schemas.microsoft.com/office/drawing/2014/main" id="{F19E8486-2C6C-4F26-A3AF-C4B87955D912}"/>
              </a:ext>
            </a:extLst>
          </p:cNvPr>
          <p:cNvSpPr>
            <a:spLocks noGrp="1"/>
          </p:cNvSpPr>
          <p:nvPr/>
        </p:nvSpPr>
        <p:spPr>
          <a:xfrm>
            <a:off x="9191625" y="3714750"/>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صور المشاركة</a:t>
            </a:r>
          </a:p>
        </p:txBody>
      </p:sp>
      <p:sp>
        <p:nvSpPr>
          <p:cNvPr id="11" name="مستطيل 10">
            <a:extLst>
              <a:ext uri="{FF2B5EF4-FFF2-40B4-BE49-F238E27FC236}">
                <a16:creationId xmlns:a16="http://schemas.microsoft.com/office/drawing/2014/main" id="{FD14E672-3038-486A-9F1C-12A9CBD739D6}"/>
              </a:ext>
            </a:extLst>
          </p:cNvPr>
          <p:cNvSpPr>
            <a:spLocks noGrp="1"/>
          </p:cNvSpPr>
          <p:nvPr/>
        </p:nvSpPr>
        <p:spPr>
          <a:xfrm>
            <a:off x="1047750" y="371475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محفظة مبادرات وأندية وخدمات ومنصات وشراكات وسياسات وأدوات قياس.</a:t>
            </a:r>
          </a:p>
        </p:txBody>
      </p:sp>
      <p:sp>
        <p:nvSpPr>
          <p:cNvPr id="12" name="مستطيل: زوايا مستديرة 11">
            <a:extLst>
              <a:ext uri="{FF2B5EF4-FFF2-40B4-BE49-F238E27FC236}">
                <a16:creationId xmlns:a16="http://schemas.microsoft.com/office/drawing/2014/main" id="{714525E1-F838-480B-A1CE-A531B16661A9}"/>
              </a:ext>
            </a:extLst>
          </p:cNvPr>
          <p:cNvSpPr>
            <a:spLocks noGrp="1"/>
          </p:cNvSpPr>
          <p:nvPr/>
        </p:nvSpPr>
        <p:spPr>
          <a:xfrm>
            <a:off x="9191625" y="4238625"/>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الجاهزية</a:t>
            </a:r>
          </a:p>
        </p:txBody>
      </p:sp>
      <p:sp>
        <p:nvSpPr>
          <p:cNvPr id="13" name="مستطيل 12">
            <a:extLst>
              <a:ext uri="{FF2B5EF4-FFF2-40B4-BE49-F238E27FC236}">
                <a16:creationId xmlns:a16="http://schemas.microsoft.com/office/drawing/2014/main" id="{02EC1E68-9784-47F5-9208-1B67B4AA88D1}"/>
              </a:ext>
            </a:extLst>
          </p:cNvPr>
          <p:cNvSpPr>
            <a:spLocks noGrp="1"/>
          </p:cNvSpPr>
          <p:nvPr/>
        </p:nvSpPr>
        <p:spPr>
          <a:xfrm>
            <a:off x="1047750" y="4238625"/>
            <a:ext cx="8001000" cy="400050"/>
          </a:xfrm>
          <a:prstGeom prst="rect">
            <a:avLst/>
          </a:prstGeom>
          <a:solidFill>
            <a:srgbClr val="FFFFFF"/>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نموذج قائم يضم برامج ومجتمعًا وشراكات وقياسًا.</a:t>
            </a:r>
          </a:p>
        </p:txBody>
      </p:sp>
      <p:sp>
        <p:nvSpPr>
          <p:cNvPr id="14" name="مستطيل: زوايا مستديرة 13">
            <a:extLst>
              <a:ext uri="{FF2B5EF4-FFF2-40B4-BE49-F238E27FC236}">
                <a16:creationId xmlns:a16="http://schemas.microsoft.com/office/drawing/2014/main" id="{3F7448A6-C493-4D2C-B1B4-81E64F5D84AA}"/>
              </a:ext>
            </a:extLst>
          </p:cNvPr>
          <p:cNvSpPr>
            <a:spLocks noGrp="1"/>
          </p:cNvSpPr>
          <p:nvPr/>
        </p:nvSpPr>
        <p:spPr>
          <a:xfrm>
            <a:off x="9191625" y="4762500"/>
            <a:ext cx="1952625" cy="400050"/>
          </a:xfrm>
          <a:prstGeom prst="roundRect">
            <a:avLst>
              <a:gd name="adj" fmla="val 19048"/>
            </a:avLst>
          </a:prstGeom>
          <a:solidFill>
            <a:srgbClr val="1F9FCC"/>
          </a:solidFill>
          <a:ln w="0">
            <a:noFill/>
          </a:ln>
        </p:spPr>
        <p:txBody>
          <a:bodyPr lIns="57150" tIns="38100" rIns="57150" bIns="38100" anchor="ctr">
            <a:normAutofit/>
          </a:bodyPr>
          <a:lstStyle/>
          <a:p>
            <a:pPr algn="ctr" rtl="1">
              <a:lnSpc>
                <a:spcPct val="10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موضوع التقييم</a:t>
            </a:r>
          </a:p>
        </p:txBody>
      </p:sp>
      <p:sp>
        <p:nvSpPr>
          <p:cNvPr id="15" name="مستطيل 14">
            <a:extLst>
              <a:ext uri="{FF2B5EF4-FFF2-40B4-BE49-F238E27FC236}">
                <a16:creationId xmlns:a16="http://schemas.microsoft.com/office/drawing/2014/main" id="{05A79E7F-F4D1-41BF-B054-BA953FF04FA2}"/>
              </a:ext>
            </a:extLst>
          </p:cNvPr>
          <p:cNvSpPr>
            <a:spLocks noGrp="1"/>
          </p:cNvSpPr>
          <p:nvPr/>
        </p:nvSpPr>
        <p:spPr>
          <a:xfrm>
            <a:off x="1047750" y="4762500"/>
            <a:ext cx="8001000" cy="400050"/>
          </a:xfrm>
          <a:prstGeom prst="rect">
            <a:avLst/>
          </a:prstGeom>
          <a:solidFill>
            <a:srgbClr val="F5EFF8"/>
          </a:solidFill>
          <a:ln w="9525">
            <a:solidFill>
              <a:srgbClr val="D9D9D9"/>
            </a:solidFill>
            <a:prstDash val="solid"/>
          </a:ln>
        </p:spPr>
        <p:txBody>
          <a:bodyPr lIns="57150" tIns="38100" rIns="57150" bIns="3810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المنظمة كوحدة متكاملة ونضج نموذجها القرائي واستدامته.</a:t>
            </a:r>
          </a:p>
        </p:txBody>
      </p:sp>
    </p:spTree>
    <p:extLst>
      <p:ext uri="{BB962C8B-B14F-4D97-AF65-F5344CB8AC3E}">
        <p14:creationId xmlns:p14="http://schemas.microsoft.com/office/powerpoint/2010/main" val="1876637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21"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42DDED69-0BD8-4806-8A7F-81AC43EF3DDB}"/>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21</a:t>
            </a:r>
          </a:p>
        </p:txBody>
      </p:sp>
      <p:sp>
        <p:nvSpPr>
          <p:cNvPr id="3" name="slide-title">
            <a:extLst>
              <a:ext uri="{FF2B5EF4-FFF2-40B4-BE49-F238E27FC236}">
                <a16:creationId xmlns:a16="http://schemas.microsoft.com/office/drawing/2014/main" id="{591EFE5E-8DFF-44A9-970D-B9EFF72081F9}"/>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معايير المنظومة المستدامة</a:t>
            </a:r>
          </a:p>
        </p:txBody>
      </p:sp>
      <p:sp>
        <p:nvSpPr>
          <p:cNvPr id="4" name="slide-subtitle">
            <a:extLst>
              <a:ext uri="{FF2B5EF4-FFF2-40B4-BE49-F238E27FC236}">
                <a16:creationId xmlns:a16="http://schemas.microsoft.com/office/drawing/2014/main" id="{9A31C045-72F3-4A28-B600-9A6A9097A57F}"/>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المنظومة القرائية المستدامة</a:t>
            </a:r>
          </a:p>
        </p:txBody>
      </p:sp>
      <p:graphicFrame>
        <p:nvGraphicFramePr>
          <p:cNvPr id="10" name="جدول 9"/>
          <p:cNvGraphicFramePr/>
          <p:nvPr/>
        </p:nvGraphicFramePr>
        <p:xfrm>
          <a:off x="1143000" y="1666875"/>
          <a:ext cx="9906000" cy="3952872"/>
        </p:xfrm>
        <a:graphic>
          <a:graphicData uri="http://schemas.openxmlformats.org/drawingml/2006/table">
            <a:tbl>
              <a:tblPr/>
              <a:tblGrid>
                <a:gridCol w="1143000">
                  <a:extLst>
                    <a:ext uri="{9D8B030D-6E8A-4147-A177-3AD203B41FA5}">
                      <a16:colId xmlns:a16="http://schemas.microsoft.com/office/drawing/2014/main" val="20000"/>
                    </a:ext>
                  </a:extLst>
                </a:gridCol>
                <a:gridCol w="58102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439208">
                <a:tc>
                  <a:txBody>
                    <a:bodyPr/>
                    <a:lstStyle/>
                    <a:p>
                      <a:pPr algn="ctr" rtl="1"/>
                      <a:r>
                        <a:rPr sz="1350" b="1">
                          <a:solidFill>
                            <a:srgbClr val="FFFFFF"/>
                          </a:solidFill>
                          <a:latin typeface="DejaVu Sans"/>
                          <a:ea typeface="DejaVu Sans"/>
                          <a:cs typeface="DejaVu Sans"/>
                        </a:rPr>
                        <a:t>الوزن</a:t>
                      </a:r>
                    </a:p>
                  </a:txBody>
                  <a:tcPr marL="76200" marR="76200" marT="66675" marB="66675" anchor="ctr">
                    <a:solidFill>
                      <a:srgbClr val="1F9FCC"/>
                    </a:solidFill>
                  </a:tcPr>
                </a:tc>
                <a:tc>
                  <a:txBody>
                    <a:bodyPr/>
                    <a:lstStyle/>
                    <a:p>
                      <a:pPr algn="ctr" rtl="1"/>
                      <a:r>
                        <a:rPr sz="1350" b="1">
                          <a:solidFill>
                            <a:srgbClr val="FFFFFF"/>
                          </a:solidFill>
                          <a:latin typeface="DejaVu Sans"/>
                          <a:ea typeface="DejaVu Sans"/>
                          <a:cs typeface="DejaVu Sans"/>
                        </a:rPr>
                        <a:t>وصف المعيار</a:t>
                      </a:r>
                    </a:p>
                  </a:txBody>
                  <a:tcPr marL="76200" marR="76200" marT="66675" marB="66675" anchor="ctr">
                    <a:solidFill>
                      <a:srgbClr val="1F9FCC"/>
                    </a:solidFill>
                  </a:tcPr>
                </a:tc>
                <a:tc>
                  <a:txBody>
                    <a:bodyPr/>
                    <a:lstStyle/>
                    <a:p>
                      <a:pPr algn="ctr" rtl="1"/>
                      <a:r>
                        <a:rPr sz="1350" b="1">
                          <a:solidFill>
                            <a:srgbClr val="FFFFFF"/>
                          </a:solidFill>
                          <a:latin typeface="DejaVu Sans"/>
                          <a:ea typeface="DejaVu Sans"/>
                          <a:cs typeface="DejaVu Sans"/>
                        </a:rPr>
                        <a:t>المعيار</a:t>
                      </a:r>
                    </a:p>
                  </a:txBody>
                  <a:tcPr marL="76200" marR="76200" marT="66675" marB="66675" anchor="ctr">
                    <a:solidFill>
                      <a:srgbClr val="1F9FCC"/>
                    </a:solidFill>
                  </a:tcPr>
                </a:tc>
                <a:extLst>
                  <a:ext uri="{0D108BD9-81ED-4DB2-BD59-A6C34878D82A}">
                    <a16:rowId xmlns:a16="http://schemas.microsoft.com/office/drawing/2014/main" val="10000"/>
                  </a:ext>
                </a:extLst>
              </a:tr>
              <a:tr h="439208">
                <a:tc>
                  <a:txBody>
                    <a:bodyPr/>
                    <a:lstStyle/>
                    <a:p>
                      <a:pPr algn="r" rtl="1"/>
                      <a:r>
                        <a:rPr sz="1088">
                          <a:solidFill>
                            <a:srgbClr val="17121B"/>
                          </a:solidFill>
                          <a:latin typeface="DejaVu Sans"/>
                          <a:ea typeface="DejaVu Sans"/>
                          <a:cs typeface="DejaVu Sans"/>
                        </a:rPr>
                        <a:t>15%</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وضوح الرسالة والأولويات واتساق محفظة المبادرات معها.</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الهوية والتوجه</a:t>
                      </a:r>
                    </a:p>
                  </a:txBody>
                  <a:tcPr marL="76200" marR="76200" marT="57150" marB="57150" anchor="ctr">
                    <a:solidFill>
                      <a:srgbClr val="FFFFFF"/>
                    </a:solidFill>
                  </a:tcPr>
                </a:tc>
                <a:extLst>
                  <a:ext uri="{0D108BD9-81ED-4DB2-BD59-A6C34878D82A}">
                    <a16:rowId xmlns:a16="http://schemas.microsoft.com/office/drawing/2014/main" val="10001"/>
                  </a:ext>
                </a:extLst>
              </a:tr>
              <a:tr h="439208">
                <a:tc>
                  <a:txBody>
                    <a:bodyPr/>
                    <a:lstStyle/>
                    <a:p>
                      <a:pPr algn="r" rtl="1"/>
                      <a:r>
                        <a:rPr sz="1088">
                          <a:solidFill>
                            <a:srgbClr val="17121B"/>
                          </a:solidFill>
                          <a:latin typeface="DejaVu Sans"/>
                          <a:ea typeface="DejaVu Sans"/>
                          <a:cs typeface="DejaVu Sans"/>
                        </a:rPr>
                        <a:t>15%</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وضوح الأدوار والسياسات والقرارات والرقابة وإدارة الجودة.</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القيادة والحوكمة</a:t>
                      </a:r>
                    </a:p>
                  </a:txBody>
                  <a:tcPr marL="76200" marR="76200" marT="57150" marB="57150" anchor="ctr">
                    <a:solidFill>
                      <a:srgbClr val="F5EFF8"/>
                    </a:solidFill>
                  </a:tcPr>
                </a:tc>
                <a:extLst>
                  <a:ext uri="{0D108BD9-81ED-4DB2-BD59-A6C34878D82A}">
                    <a16:rowId xmlns:a16="http://schemas.microsoft.com/office/drawing/2014/main" val="10002"/>
                  </a:ext>
                </a:extLst>
              </a:tr>
              <a:tr h="439208">
                <a:tc>
                  <a:txBody>
                    <a:bodyPr/>
                    <a:lstStyle/>
                    <a:p>
                      <a:pPr algn="r" rtl="1"/>
                      <a:r>
                        <a:rPr sz="1088">
                          <a:solidFill>
                            <a:srgbClr val="17121B"/>
                          </a:solidFill>
                          <a:latin typeface="DejaVu Sans"/>
                          <a:ea typeface="DejaVu Sans"/>
                          <a:cs typeface="DejaVu Sans"/>
                        </a:rPr>
                        <a:t>15%</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تنوع البرامج وجودتها وتكاملها مع رحلة المستفيد.</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جودة التجربة والبرامج</a:t>
                      </a:r>
                    </a:p>
                  </a:txBody>
                  <a:tcPr marL="76200" marR="76200" marT="57150" marB="57150" anchor="ctr">
                    <a:solidFill>
                      <a:srgbClr val="FFFFFF"/>
                    </a:solidFill>
                  </a:tcPr>
                </a:tc>
                <a:extLst>
                  <a:ext uri="{0D108BD9-81ED-4DB2-BD59-A6C34878D82A}">
                    <a16:rowId xmlns:a16="http://schemas.microsoft.com/office/drawing/2014/main" val="10003"/>
                  </a:ext>
                </a:extLst>
              </a:tr>
              <a:tr h="439208">
                <a:tc>
                  <a:txBody>
                    <a:bodyPr/>
                    <a:lstStyle/>
                    <a:p>
                      <a:pPr algn="r" rtl="1"/>
                      <a:r>
                        <a:rPr sz="1088">
                          <a:solidFill>
                            <a:srgbClr val="17121B"/>
                          </a:solidFill>
                          <a:latin typeface="DejaVu Sans"/>
                          <a:ea typeface="DejaVu Sans"/>
                          <a:cs typeface="DejaVu Sans"/>
                        </a:rPr>
                        <a:t>15%</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بناء قاعدة أعضاء وعلاقات ومشاركة وانتماء مستمر.</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بناء المجتمع القرائي</a:t>
                      </a:r>
                    </a:p>
                  </a:txBody>
                  <a:tcPr marL="76200" marR="76200" marT="57150" marB="57150" anchor="ctr">
                    <a:solidFill>
                      <a:srgbClr val="F5EFF8"/>
                    </a:solidFill>
                  </a:tcPr>
                </a:tc>
                <a:extLst>
                  <a:ext uri="{0D108BD9-81ED-4DB2-BD59-A6C34878D82A}">
                    <a16:rowId xmlns:a16="http://schemas.microsoft.com/office/drawing/2014/main" val="10004"/>
                  </a:ext>
                </a:extLst>
              </a:tr>
              <a:tr h="439208">
                <a:tc>
                  <a:txBody>
                    <a:bodyPr/>
                    <a:lstStyle/>
                    <a:p>
                      <a:pPr algn="r" rtl="1"/>
                      <a:r>
                        <a:rPr sz="1088">
                          <a:solidFill>
                            <a:srgbClr val="17121B"/>
                          </a:solidFill>
                          <a:latin typeface="DejaVu Sans"/>
                          <a:ea typeface="DejaVu Sans"/>
                          <a:cs typeface="DejaVu Sans"/>
                        </a:rPr>
                        <a:t>15%</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تنويع الشراكات والموارد وضمان الاستمرارية.</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الشراكات والاستدامة</a:t>
                      </a:r>
                    </a:p>
                  </a:txBody>
                  <a:tcPr marL="76200" marR="76200" marT="57150" marB="57150" anchor="ctr">
                    <a:solidFill>
                      <a:srgbClr val="FFFFFF"/>
                    </a:solidFill>
                  </a:tcPr>
                </a:tc>
                <a:extLst>
                  <a:ext uri="{0D108BD9-81ED-4DB2-BD59-A6C34878D82A}">
                    <a16:rowId xmlns:a16="http://schemas.microsoft.com/office/drawing/2014/main" val="10005"/>
                  </a:ext>
                </a:extLst>
              </a:tr>
              <a:tr h="439208">
                <a:tc>
                  <a:txBody>
                    <a:bodyPr/>
                    <a:lstStyle/>
                    <a:p>
                      <a:pPr algn="r" rtl="1"/>
                      <a:r>
                        <a:rPr sz="1088">
                          <a:solidFill>
                            <a:srgbClr val="17121B"/>
                          </a:solidFill>
                          <a:latin typeface="DejaVu Sans"/>
                          <a:ea typeface="DejaVu Sans"/>
                          <a:cs typeface="DejaVu Sans"/>
                        </a:rPr>
                        <a:t>10%</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توظيف التقنية في الوصول والإدارة والتوثيق وتجربة القارئ.</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التقنية والتحول الرقمي</a:t>
                      </a:r>
                    </a:p>
                  </a:txBody>
                  <a:tcPr marL="76200" marR="76200" marT="57150" marB="57150" anchor="ctr">
                    <a:solidFill>
                      <a:srgbClr val="F5EFF8"/>
                    </a:solidFill>
                  </a:tcPr>
                </a:tc>
                <a:extLst>
                  <a:ext uri="{0D108BD9-81ED-4DB2-BD59-A6C34878D82A}">
                    <a16:rowId xmlns:a16="http://schemas.microsoft.com/office/drawing/2014/main" val="10006"/>
                  </a:ext>
                </a:extLst>
              </a:tr>
              <a:tr h="439208">
                <a:tc>
                  <a:txBody>
                    <a:bodyPr/>
                    <a:lstStyle/>
                    <a:p>
                      <a:pPr algn="r" rtl="1"/>
                      <a:r>
                        <a:rPr sz="1088">
                          <a:solidFill>
                            <a:srgbClr val="17121B"/>
                          </a:solidFill>
                          <a:latin typeface="DejaVu Sans"/>
                          <a:ea typeface="DejaVu Sans"/>
                          <a:cs typeface="DejaVu Sans"/>
                        </a:rPr>
                        <a:t>15%</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وجود نظام للمتابعة والقياس واستخدام الأدلة في التطوير.</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قياس الأثر والتحسين</a:t>
                      </a:r>
                    </a:p>
                  </a:txBody>
                  <a:tcPr marL="76200" marR="76200" marT="57150" marB="57150" anchor="ctr">
                    <a:solidFill>
                      <a:srgbClr val="FFFFFF"/>
                    </a:solidFill>
                  </a:tcPr>
                </a:tc>
                <a:extLst>
                  <a:ext uri="{0D108BD9-81ED-4DB2-BD59-A6C34878D82A}">
                    <a16:rowId xmlns:a16="http://schemas.microsoft.com/office/drawing/2014/main" val="10007"/>
                  </a:ext>
                </a:extLst>
              </a:tr>
              <a:tr h="439208">
                <a:tc>
                  <a:txBody>
                    <a:bodyPr/>
                    <a:lstStyle/>
                    <a:p>
                      <a:pPr algn="r" rtl="1"/>
                      <a:r>
                        <a:rPr sz="1088">
                          <a:solidFill>
                            <a:srgbClr val="17121B"/>
                          </a:solidFill>
                          <a:latin typeface="DejaVu Sans"/>
                          <a:ea typeface="DejaVu Sans"/>
                          <a:cs typeface="DejaVu Sans"/>
                        </a:rPr>
                        <a:t>100%</a:t>
                      </a:r>
                    </a:p>
                  </a:txBody>
                  <a:tcPr marL="76200" marR="76200" marT="57150" marB="57150" anchor="ctr">
                    <a:solidFill>
                      <a:srgbClr val="F5EFF8"/>
                    </a:solidFill>
                  </a:tcPr>
                </a:tc>
                <a:tc>
                  <a:txBody>
                    <a:bodyPr/>
                    <a:lstStyle/>
                    <a:p>
                      <a:pPr algn="r" rtl="1"/>
                      <a:endParaRP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الإجمالي</a:t>
                      </a:r>
                    </a:p>
                  </a:txBody>
                  <a:tcPr marL="76200" marR="76200" marT="57150" marB="57150" anchor="ctr">
                    <a:solidFill>
                      <a:srgbClr val="F5EFF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39150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22"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4E1B71B5-CC2A-4041-B5A7-8937FC8C0CB2}"/>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22</a:t>
            </a:r>
          </a:p>
        </p:txBody>
      </p:sp>
      <p:sp>
        <p:nvSpPr>
          <p:cNvPr id="3" name="slide-title">
            <a:extLst>
              <a:ext uri="{FF2B5EF4-FFF2-40B4-BE49-F238E27FC236}">
                <a16:creationId xmlns:a16="http://schemas.microsoft.com/office/drawing/2014/main" id="{0DADECF7-E44F-435F-B374-1D4EACA6D790}"/>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التصنيفات الموضوعية للمشاركات</a:t>
            </a:r>
          </a:p>
        </p:txBody>
      </p:sp>
      <p:sp>
        <p:nvSpPr>
          <p:cNvPr id="4" name="slide-subtitle">
            <a:extLst>
              <a:ext uri="{FF2B5EF4-FFF2-40B4-BE49-F238E27FC236}">
                <a16:creationId xmlns:a16="http://schemas.microsoft.com/office/drawing/2014/main" id="{A13538B3-9114-42C5-BF48-A29CB7DEBDCF}"/>
              </a:ext>
            </a:extLst>
          </p:cNvPr>
          <p:cNvSpPr>
            <a:spLocks noGrp="1"/>
          </p:cNvSpPr>
          <p:nvPr/>
        </p:nvSpPr>
        <p:spPr>
          <a:xfrm>
            <a:off x="4191000" y="1333500"/>
            <a:ext cx="6096000" cy="304800"/>
          </a:xfrm>
          <a:prstGeom prst="rect">
            <a:avLst/>
          </a:prstGeom>
          <a:noFill/>
          <a:ln w="0">
            <a:noFill/>
          </a:ln>
        </p:spPr>
        <p:txBody>
          <a:bodyPr lIns="57150" tIns="38100" rIns="57150" bIns="38100" anchor="t">
            <a:normAutofit/>
          </a:bodyPr>
          <a:lstStyle/>
          <a:p>
            <a:pPr algn="r" rtl="1">
              <a:lnSpc>
                <a:spcPct val="105000"/>
              </a:lnSpc>
              <a:buNone/>
              <a:defRPr sz="1275" b="0">
                <a:solidFill>
                  <a:srgbClr val="5C5C5C"/>
                </a:solidFill>
                <a:latin typeface="DejaVu Sans"/>
                <a:ea typeface="DejaVu Sans"/>
                <a:cs typeface="DejaVu Sans"/>
              </a:defRPr>
            </a:pPr>
            <a:r>
              <a:rPr sz="1275" b="0">
                <a:solidFill>
                  <a:srgbClr val="5C5C5C"/>
                </a:solidFill>
                <a:latin typeface="DejaVu Sans"/>
                <a:ea typeface="DejaVu Sans"/>
                <a:cs typeface="DejaVu Sans"/>
              </a:rPr>
              <a:t>موضوعات يمكن أن تندرج تحت أي مسار وليست مسارات مستقلة</a:t>
            </a:r>
          </a:p>
        </p:txBody>
      </p:sp>
      <p:graphicFrame>
        <p:nvGraphicFramePr>
          <p:cNvPr id="10" name="جدول 9"/>
          <p:cNvGraphicFramePr/>
          <p:nvPr/>
        </p:nvGraphicFramePr>
        <p:xfrm>
          <a:off x="904875" y="1428750"/>
          <a:ext cx="10382250" cy="4095752"/>
        </p:xfrm>
        <a:graphic>
          <a:graphicData uri="http://schemas.openxmlformats.org/drawingml/2006/table">
            <a:tbl>
              <a:tblPr/>
              <a:tblGrid>
                <a:gridCol w="3048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511969">
                <a:tc>
                  <a:txBody>
                    <a:bodyPr/>
                    <a:lstStyle/>
                    <a:p>
                      <a:pPr algn="ctr" rtl="1"/>
                      <a:r>
                        <a:rPr sz="1350" b="1">
                          <a:solidFill>
                            <a:srgbClr val="FFFFFF"/>
                          </a:solidFill>
                          <a:latin typeface="DejaVu Sans"/>
                          <a:ea typeface="DejaVu Sans"/>
                          <a:cs typeface="DejaVu Sans"/>
                        </a:rPr>
                        <a:t>أمثلة</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المجال</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التصنيف</a:t>
                      </a:r>
                    </a:p>
                  </a:txBody>
                  <a:tcPr marL="76200" marR="76200" marT="66675" marB="66675" anchor="ctr">
                    <a:solidFill>
                      <a:srgbClr val="7030A0"/>
                    </a:solidFill>
                  </a:tcPr>
                </a:tc>
                <a:extLst>
                  <a:ext uri="{0D108BD9-81ED-4DB2-BD59-A6C34878D82A}">
                    <a16:rowId xmlns:a16="http://schemas.microsoft.com/office/drawing/2014/main" val="10000"/>
                  </a:ext>
                </a:extLst>
              </a:tr>
              <a:tr h="511969">
                <a:tc>
                  <a:txBody>
                    <a:bodyPr/>
                    <a:lstStyle/>
                    <a:p>
                      <a:pPr algn="r" rtl="1"/>
                      <a:r>
                        <a:rPr sz="1088">
                          <a:solidFill>
                            <a:srgbClr val="17121B"/>
                          </a:solidFill>
                          <a:latin typeface="DejaVu Sans"/>
                          <a:ea typeface="DejaVu Sans"/>
                          <a:cs typeface="DejaVu Sans"/>
                        </a:rPr>
                        <a:t>تحديات وحملات وبرامج تحفيز</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زيادة الانتظام والدافعية</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تعزيز عادة القراءة</a:t>
                      </a:r>
                    </a:p>
                  </a:txBody>
                  <a:tcPr marL="76200" marR="76200" marT="57150" marB="57150" anchor="ctr">
                    <a:solidFill>
                      <a:srgbClr val="FFFFFF"/>
                    </a:solidFill>
                  </a:tcPr>
                </a:tc>
                <a:extLst>
                  <a:ext uri="{0D108BD9-81ED-4DB2-BD59-A6C34878D82A}">
                    <a16:rowId xmlns:a16="http://schemas.microsoft.com/office/drawing/2014/main" val="10001"/>
                  </a:ext>
                </a:extLst>
              </a:tr>
              <a:tr h="511969">
                <a:tc>
                  <a:txBody>
                    <a:bodyPr/>
                    <a:lstStyle/>
                    <a:p>
                      <a:pPr algn="r" rtl="1"/>
                      <a:r>
                        <a:rPr sz="1088">
                          <a:solidFill>
                            <a:srgbClr val="17121B"/>
                          </a:solidFill>
                          <a:latin typeface="DejaVu Sans"/>
                          <a:ea typeface="DejaVu Sans"/>
                          <a:cs typeface="DejaVu Sans"/>
                        </a:rPr>
                        <a:t>أندية حضورية أو رقمية</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الحوار والمشاركة حول الكتب</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أندية ومجتمعات القراءة</a:t>
                      </a:r>
                    </a:p>
                  </a:txBody>
                  <a:tcPr marL="76200" marR="76200" marT="57150" marB="57150" anchor="ctr">
                    <a:solidFill>
                      <a:srgbClr val="F5EFF8"/>
                    </a:solidFill>
                  </a:tcPr>
                </a:tc>
                <a:extLst>
                  <a:ext uri="{0D108BD9-81ED-4DB2-BD59-A6C34878D82A}">
                    <a16:rowId xmlns:a16="http://schemas.microsoft.com/office/drawing/2014/main" val="10002"/>
                  </a:ext>
                </a:extLst>
              </a:tr>
              <a:tr h="511969">
                <a:tc>
                  <a:txBody>
                    <a:bodyPr/>
                    <a:lstStyle/>
                    <a:p>
                      <a:pPr algn="r" rtl="1"/>
                      <a:r>
                        <a:rPr sz="1088">
                          <a:solidFill>
                            <a:srgbClr val="17121B"/>
                          </a:solidFill>
                          <a:latin typeface="DejaVu Sans"/>
                          <a:ea typeface="DejaVu Sans"/>
                          <a:cs typeface="DejaVu Sans"/>
                        </a:rPr>
                        <a:t>قراءة قصصية ونوادٍ مدرسية</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القراءة المبكرة وحب الكتاب</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الأطفال والناشئة</a:t>
                      </a:r>
                    </a:p>
                  </a:txBody>
                  <a:tcPr marL="76200" marR="76200" marT="57150" marB="57150" anchor="ctr">
                    <a:solidFill>
                      <a:srgbClr val="FFFFFF"/>
                    </a:solidFill>
                  </a:tcPr>
                </a:tc>
                <a:extLst>
                  <a:ext uri="{0D108BD9-81ED-4DB2-BD59-A6C34878D82A}">
                    <a16:rowId xmlns:a16="http://schemas.microsoft.com/office/drawing/2014/main" val="10003"/>
                  </a:ext>
                </a:extLst>
              </a:tr>
              <a:tr h="511969">
                <a:tc>
                  <a:txBody>
                    <a:bodyPr/>
                    <a:lstStyle/>
                    <a:p>
                      <a:pPr algn="r" rtl="1"/>
                      <a:r>
                        <a:rPr sz="1088">
                          <a:solidFill>
                            <a:srgbClr val="17121B"/>
                          </a:solidFill>
                          <a:latin typeface="DejaVu Sans"/>
                          <a:ea typeface="DejaVu Sans"/>
                          <a:cs typeface="DejaVu Sans"/>
                        </a:rPr>
                        <a:t>تطبيقات ومنصات وألعاب</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تسهيل الوصول والتفاعل</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القراءة الرقمية والابتكار</a:t>
                      </a:r>
                    </a:p>
                  </a:txBody>
                  <a:tcPr marL="76200" marR="76200" marT="57150" marB="57150" anchor="ctr">
                    <a:solidFill>
                      <a:srgbClr val="F5EFF8"/>
                    </a:solidFill>
                  </a:tcPr>
                </a:tc>
                <a:extLst>
                  <a:ext uri="{0D108BD9-81ED-4DB2-BD59-A6C34878D82A}">
                    <a16:rowId xmlns:a16="http://schemas.microsoft.com/office/drawing/2014/main" val="10004"/>
                  </a:ext>
                </a:extLst>
              </a:tr>
              <a:tr h="511969">
                <a:tc>
                  <a:txBody>
                    <a:bodyPr/>
                    <a:lstStyle/>
                    <a:p>
                      <a:pPr algn="r" rtl="1"/>
                      <a:r>
                        <a:rPr sz="1088">
                          <a:solidFill>
                            <a:srgbClr val="17121B"/>
                          </a:solidFill>
                          <a:latin typeface="DejaVu Sans"/>
                          <a:ea typeface="DejaVu Sans"/>
                          <a:cs typeface="DejaVu Sans"/>
                        </a:rPr>
                        <a:t>كتب صوتية ومكتبات متنقلة</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خدمة الفئات والمناطق الأقل وصولًا</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الوصول والشمول</a:t>
                      </a:r>
                    </a:p>
                  </a:txBody>
                  <a:tcPr marL="76200" marR="76200" marT="57150" marB="57150" anchor="ctr">
                    <a:solidFill>
                      <a:srgbClr val="FFFFFF"/>
                    </a:solidFill>
                  </a:tcPr>
                </a:tc>
                <a:extLst>
                  <a:ext uri="{0D108BD9-81ED-4DB2-BD59-A6C34878D82A}">
                    <a16:rowId xmlns:a16="http://schemas.microsoft.com/office/drawing/2014/main" val="10005"/>
                  </a:ext>
                </a:extLst>
              </a:tr>
              <a:tr h="511969">
                <a:tc>
                  <a:txBody>
                    <a:bodyPr/>
                    <a:lstStyle/>
                    <a:p>
                      <a:pPr algn="r" rtl="1"/>
                      <a:r>
                        <a:rPr sz="1088">
                          <a:solidFill>
                            <a:srgbClr val="17121B"/>
                          </a:solidFill>
                          <a:latin typeface="DejaVu Sans"/>
                          <a:ea typeface="DejaVu Sans"/>
                          <a:cs typeface="DejaVu Sans"/>
                        </a:rPr>
                        <a:t>مراجعات وبودكاست وأدلة</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إنتاج محتوى يعمق تجربة القراءة</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المحتوى القرائي والأدبي</a:t>
                      </a:r>
                    </a:p>
                  </a:txBody>
                  <a:tcPr marL="76200" marR="76200" marT="57150" marB="57150" anchor="ctr">
                    <a:solidFill>
                      <a:srgbClr val="F5EFF8"/>
                    </a:solidFill>
                  </a:tcPr>
                </a:tc>
                <a:extLst>
                  <a:ext uri="{0D108BD9-81ED-4DB2-BD59-A6C34878D82A}">
                    <a16:rowId xmlns:a16="http://schemas.microsoft.com/office/drawing/2014/main" val="10006"/>
                  </a:ext>
                </a:extLst>
              </a:tr>
              <a:tr h="511969">
                <a:tc>
                  <a:txBody>
                    <a:bodyPr/>
                    <a:lstStyle/>
                    <a:p>
                      <a:pPr algn="r" rtl="1"/>
                      <a:r>
                        <a:rPr sz="1088">
                          <a:solidFill>
                            <a:srgbClr val="17121B"/>
                          </a:solidFill>
                          <a:latin typeface="DejaVu Sans"/>
                          <a:ea typeface="DejaVu Sans"/>
                          <a:cs typeface="DejaVu Sans"/>
                        </a:rPr>
                        <a:t>قراءة تخصصية ومجتمعات تعلم</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دمج القراءة في التعليم والعمل</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القراءة في التعليم والعمل</a:t>
                      </a:r>
                    </a:p>
                  </a:txBody>
                  <a:tcPr marL="76200" marR="76200" marT="57150" marB="57150"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90888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23"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E6D5F80C-7BEE-4426-A3B5-776F1180CA21}"/>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23</a:t>
            </a:r>
          </a:p>
        </p:txBody>
      </p:sp>
      <p:sp>
        <p:nvSpPr>
          <p:cNvPr id="3" name="slide-title">
            <a:extLst>
              <a:ext uri="{FF2B5EF4-FFF2-40B4-BE49-F238E27FC236}">
                <a16:creationId xmlns:a16="http://schemas.microsoft.com/office/drawing/2014/main" id="{46A141D4-68CB-444F-9EF1-38FE02DAD62E}"/>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الشواهد وضوابط قبولها</a:t>
            </a:r>
          </a:p>
        </p:txBody>
      </p:sp>
      <p:sp>
        <p:nvSpPr>
          <p:cNvPr id="4" name="مستطيل 3">
            <a:extLst>
              <a:ext uri="{FF2B5EF4-FFF2-40B4-BE49-F238E27FC236}">
                <a16:creationId xmlns:a16="http://schemas.microsoft.com/office/drawing/2014/main" id="{37357EA4-7E73-433A-B7A8-AE310E3DEAFB}"/>
              </a:ext>
            </a:extLst>
          </p:cNvPr>
          <p:cNvSpPr>
            <a:spLocks noGrp="1"/>
          </p:cNvSpPr>
          <p:nvPr/>
        </p:nvSpPr>
        <p:spPr>
          <a:xfrm>
            <a:off x="8286750" y="1428750"/>
            <a:ext cx="2571750" cy="428625"/>
          </a:xfrm>
          <a:prstGeom prst="rect">
            <a:avLst/>
          </a:prstGeom>
          <a:noFill/>
          <a:ln w="0">
            <a:noFill/>
          </a:ln>
        </p:spPr>
        <p:txBody>
          <a:bodyPr lIns="57150" tIns="38100" rIns="57150" bIns="38100" anchor="t">
            <a:normAutofit/>
          </a:bodyPr>
          <a:lstStyle/>
          <a:p>
            <a:pPr algn="r" rtl="1">
              <a:lnSpc>
                <a:spcPct val="105000"/>
              </a:lnSpc>
              <a:buNone/>
              <a:defRPr sz="1875" b="1">
                <a:solidFill>
                  <a:srgbClr val="542278"/>
                </a:solidFill>
                <a:latin typeface="DejaVu Sans"/>
                <a:ea typeface="DejaVu Sans"/>
                <a:cs typeface="DejaVu Sans"/>
              </a:defRPr>
            </a:pPr>
            <a:r>
              <a:rPr sz="1875" b="1">
                <a:solidFill>
                  <a:srgbClr val="542278"/>
                </a:solidFill>
                <a:latin typeface="DejaVu Sans"/>
                <a:ea typeface="DejaVu Sans"/>
                <a:cs typeface="DejaVu Sans"/>
              </a:rPr>
              <a:t>الشاهد الجيد</a:t>
            </a:r>
          </a:p>
        </p:txBody>
      </p:sp>
      <p:sp>
        <p:nvSpPr>
          <p:cNvPr id="5" name="شكل بيضاوي 4">
            <a:extLst>
              <a:ext uri="{FF2B5EF4-FFF2-40B4-BE49-F238E27FC236}">
                <a16:creationId xmlns:a16="http://schemas.microsoft.com/office/drawing/2014/main" id="{7E4871F4-3C53-4223-9B31-7BC9C711210B}"/>
              </a:ext>
            </a:extLst>
          </p:cNvPr>
          <p:cNvSpPr>
            <a:spLocks noGrp="1"/>
          </p:cNvSpPr>
          <p:nvPr/>
        </p:nvSpPr>
        <p:spPr>
          <a:xfrm>
            <a:off x="10706100" y="2209800"/>
            <a:ext cx="95250" cy="95250"/>
          </a:xfrm>
          <a:prstGeom prst="ellipse">
            <a:avLst/>
          </a:prstGeom>
          <a:solidFill>
            <a:srgbClr val="7030A0"/>
          </a:solidFill>
          <a:ln w="0">
            <a:noFill/>
          </a:ln>
        </p:spPr>
        <p:txBody>
          <a:bodyPr/>
          <a:lstStyle/>
          <a:p>
            <a:endParaRPr lang="en-US"/>
          </a:p>
        </p:txBody>
      </p:sp>
      <p:sp>
        <p:nvSpPr>
          <p:cNvPr id="6" name="مستطيل 5">
            <a:extLst>
              <a:ext uri="{FF2B5EF4-FFF2-40B4-BE49-F238E27FC236}">
                <a16:creationId xmlns:a16="http://schemas.microsoft.com/office/drawing/2014/main" id="{78161845-7595-40D2-9F5A-1E2478B98937}"/>
              </a:ext>
            </a:extLst>
          </p:cNvPr>
          <p:cNvSpPr>
            <a:spLocks noGrp="1"/>
          </p:cNvSpPr>
          <p:nvPr/>
        </p:nvSpPr>
        <p:spPr>
          <a:xfrm>
            <a:off x="5810250" y="1952625"/>
            <a:ext cx="4743450" cy="609600"/>
          </a:xfrm>
          <a:prstGeom prst="rect">
            <a:avLst/>
          </a:prstGeom>
          <a:noFill/>
          <a:ln w="0">
            <a:noFill/>
          </a:ln>
        </p:spPr>
        <p:txBody>
          <a:bodyPr lIns="38100" tIns="19050" rIns="38100" bIns="1905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يرتبط مباشرة بالنتيجة الواردة في نموذج الترشح.</a:t>
            </a:r>
          </a:p>
        </p:txBody>
      </p:sp>
      <p:sp>
        <p:nvSpPr>
          <p:cNvPr id="7" name="شكل بيضاوي 6">
            <a:extLst>
              <a:ext uri="{FF2B5EF4-FFF2-40B4-BE49-F238E27FC236}">
                <a16:creationId xmlns:a16="http://schemas.microsoft.com/office/drawing/2014/main" id="{5661C23C-001B-40B3-B2C1-E192070A8B3A}"/>
              </a:ext>
            </a:extLst>
          </p:cNvPr>
          <p:cNvSpPr>
            <a:spLocks noGrp="1"/>
          </p:cNvSpPr>
          <p:nvPr/>
        </p:nvSpPr>
        <p:spPr>
          <a:xfrm>
            <a:off x="10706100" y="2819400"/>
            <a:ext cx="95250" cy="95250"/>
          </a:xfrm>
          <a:prstGeom prst="ellipse">
            <a:avLst/>
          </a:prstGeom>
          <a:solidFill>
            <a:srgbClr val="1F9FCC"/>
          </a:solidFill>
          <a:ln w="0">
            <a:noFill/>
          </a:ln>
        </p:spPr>
        <p:txBody>
          <a:bodyPr/>
          <a:lstStyle/>
          <a:p>
            <a:endParaRPr lang="en-US"/>
          </a:p>
        </p:txBody>
      </p:sp>
      <p:sp>
        <p:nvSpPr>
          <p:cNvPr id="8" name="مستطيل 7">
            <a:extLst>
              <a:ext uri="{FF2B5EF4-FFF2-40B4-BE49-F238E27FC236}">
                <a16:creationId xmlns:a16="http://schemas.microsoft.com/office/drawing/2014/main" id="{C351F8B0-F125-45FE-B527-29E7EB62C591}"/>
              </a:ext>
            </a:extLst>
          </p:cNvPr>
          <p:cNvSpPr>
            <a:spLocks noGrp="1"/>
          </p:cNvSpPr>
          <p:nvPr/>
        </p:nvSpPr>
        <p:spPr>
          <a:xfrm>
            <a:off x="5810250" y="2562225"/>
            <a:ext cx="4743450" cy="609600"/>
          </a:xfrm>
          <a:prstGeom prst="rect">
            <a:avLst/>
          </a:prstGeom>
          <a:noFill/>
          <a:ln w="0">
            <a:noFill/>
          </a:ln>
        </p:spPr>
        <p:txBody>
          <a:bodyPr lIns="38100" tIns="19050" rIns="38100" bIns="1905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يوضح المصدر والتاريخ والسياق ويمكن التحقق منه.</a:t>
            </a:r>
          </a:p>
        </p:txBody>
      </p:sp>
      <p:sp>
        <p:nvSpPr>
          <p:cNvPr id="9" name="شكل بيضاوي 8">
            <a:extLst>
              <a:ext uri="{FF2B5EF4-FFF2-40B4-BE49-F238E27FC236}">
                <a16:creationId xmlns:a16="http://schemas.microsoft.com/office/drawing/2014/main" id="{50D533F2-2CF1-485F-BF51-D5AD2D1110B9}"/>
              </a:ext>
            </a:extLst>
          </p:cNvPr>
          <p:cNvSpPr>
            <a:spLocks noGrp="1"/>
          </p:cNvSpPr>
          <p:nvPr/>
        </p:nvSpPr>
        <p:spPr>
          <a:xfrm>
            <a:off x="10706100" y="3429000"/>
            <a:ext cx="95250" cy="95250"/>
          </a:xfrm>
          <a:prstGeom prst="ellipse">
            <a:avLst/>
          </a:prstGeom>
          <a:solidFill>
            <a:srgbClr val="7030A0"/>
          </a:solidFill>
          <a:ln w="0">
            <a:noFill/>
          </a:ln>
        </p:spPr>
        <p:txBody>
          <a:bodyPr/>
          <a:lstStyle/>
          <a:p>
            <a:endParaRPr lang="en-US"/>
          </a:p>
        </p:txBody>
      </p:sp>
      <p:sp>
        <p:nvSpPr>
          <p:cNvPr id="10" name="مستطيل 9">
            <a:extLst>
              <a:ext uri="{FF2B5EF4-FFF2-40B4-BE49-F238E27FC236}">
                <a16:creationId xmlns:a16="http://schemas.microsoft.com/office/drawing/2014/main" id="{EABCE83D-D4C8-4717-AFBA-CD9191B6D47E}"/>
              </a:ext>
            </a:extLst>
          </p:cNvPr>
          <p:cNvSpPr>
            <a:spLocks noGrp="1"/>
          </p:cNvSpPr>
          <p:nvPr/>
        </p:nvSpPr>
        <p:spPr>
          <a:xfrm>
            <a:off x="5810250" y="3171825"/>
            <a:ext cx="4743450" cy="609600"/>
          </a:xfrm>
          <a:prstGeom prst="rect">
            <a:avLst/>
          </a:prstGeom>
          <a:noFill/>
          <a:ln w="0">
            <a:noFill/>
          </a:ln>
        </p:spPr>
        <p:txBody>
          <a:bodyPr lIns="38100" tIns="19050" rIns="38100" bIns="1905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يعرض نتائج أو سلوكًا أو تجربة، وليس صور الحضور فقط.</a:t>
            </a:r>
          </a:p>
        </p:txBody>
      </p:sp>
      <p:sp>
        <p:nvSpPr>
          <p:cNvPr id="11" name="شكل بيضاوي 10">
            <a:extLst>
              <a:ext uri="{FF2B5EF4-FFF2-40B4-BE49-F238E27FC236}">
                <a16:creationId xmlns:a16="http://schemas.microsoft.com/office/drawing/2014/main" id="{565D57B3-09CB-4B57-9B95-54AB31C56067}"/>
              </a:ext>
            </a:extLst>
          </p:cNvPr>
          <p:cNvSpPr>
            <a:spLocks noGrp="1"/>
          </p:cNvSpPr>
          <p:nvPr/>
        </p:nvSpPr>
        <p:spPr>
          <a:xfrm>
            <a:off x="10706100" y="4038600"/>
            <a:ext cx="95250" cy="95250"/>
          </a:xfrm>
          <a:prstGeom prst="ellipse">
            <a:avLst/>
          </a:prstGeom>
          <a:solidFill>
            <a:srgbClr val="1F9FCC"/>
          </a:solidFill>
          <a:ln w="0">
            <a:noFill/>
          </a:ln>
        </p:spPr>
        <p:txBody>
          <a:bodyPr/>
          <a:lstStyle/>
          <a:p>
            <a:endParaRPr lang="en-US"/>
          </a:p>
        </p:txBody>
      </p:sp>
      <p:sp>
        <p:nvSpPr>
          <p:cNvPr id="12" name="مستطيل 11">
            <a:extLst>
              <a:ext uri="{FF2B5EF4-FFF2-40B4-BE49-F238E27FC236}">
                <a16:creationId xmlns:a16="http://schemas.microsoft.com/office/drawing/2014/main" id="{67101FD6-C0F9-4E26-B9C1-B5FD297A2580}"/>
              </a:ext>
            </a:extLst>
          </p:cNvPr>
          <p:cNvSpPr>
            <a:spLocks noGrp="1"/>
          </p:cNvSpPr>
          <p:nvPr/>
        </p:nvSpPr>
        <p:spPr>
          <a:xfrm>
            <a:off x="5810250" y="3781425"/>
            <a:ext cx="4743450" cy="609600"/>
          </a:xfrm>
          <a:prstGeom prst="rect">
            <a:avLst/>
          </a:prstGeom>
          <a:noFill/>
          <a:ln w="0">
            <a:noFill/>
          </a:ln>
        </p:spPr>
        <p:txBody>
          <a:bodyPr lIns="38100" tIns="19050" rIns="38100" bIns="1905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يحمي خصوصية المستفيدين ويخفي البيانات الحساسة.</a:t>
            </a:r>
          </a:p>
        </p:txBody>
      </p:sp>
      <p:sp>
        <p:nvSpPr>
          <p:cNvPr id="13" name="شكل بيضاوي 12">
            <a:extLst>
              <a:ext uri="{FF2B5EF4-FFF2-40B4-BE49-F238E27FC236}">
                <a16:creationId xmlns:a16="http://schemas.microsoft.com/office/drawing/2014/main" id="{52BABA26-3E06-4161-BD52-AF7294E5CD7E}"/>
              </a:ext>
            </a:extLst>
          </p:cNvPr>
          <p:cNvSpPr>
            <a:spLocks noGrp="1"/>
          </p:cNvSpPr>
          <p:nvPr/>
        </p:nvSpPr>
        <p:spPr>
          <a:xfrm>
            <a:off x="10706100" y="4648200"/>
            <a:ext cx="95250" cy="95250"/>
          </a:xfrm>
          <a:prstGeom prst="ellipse">
            <a:avLst/>
          </a:prstGeom>
          <a:solidFill>
            <a:srgbClr val="7030A0"/>
          </a:solidFill>
          <a:ln w="0">
            <a:noFill/>
          </a:ln>
        </p:spPr>
        <p:txBody>
          <a:bodyPr/>
          <a:lstStyle/>
          <a:p>
            <a:endParaRPr lang="en-US"/>
          </a:p>
        </p:txBody>
      </p:sp>
      <p:sp>
        <p:nvSpPr>
          <p:cNvPr id="14" name="مستطيل 13">
            <a:extLst>
              <a:ext uri="{FF2B5EF4-FFF2-40B4-BE49-F238E27FC236}">
                <a16:creationId xmlns:a16="http://schemas.microsoft.com/office/drawing/2014/main" id="{68E2E0C5-D8EF-4CE1-A858-6581EA606A97}"/>
              </a:ext>
            </a:extLst>
          </p:cNvPr>
          <p:cNvSpPr>
            <a:spLocks noGrp="1"/>
          </p:cNvSpPr>
          <p:nvPr/>
        </p:nvSpPr>
        <p:spPr>
          <a:xfrm>
            <a:off x="5810250" y="4391025"/>
            <a:ext cx="4743450" cy="609600"/>
          </a:xfrm>
          <a:prstGeom prst="rect">
            <a:avLst/>
          </a:prstGeom>
          <a:noFill/>
          <a:ln w="0">
            <a:noFill/>
          </a:ln>
        </p:spPr>
        <p:txBody>
          <a:bodyPr lIns="38100" tIns="19050" rIns="38100" bIns="1905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يُرفع بصورة منظمة وروابط صالحة دون تكرار.</a:t>
            </a:r>
          </a:p>
        </p:txBody>
      </p:sp>
      <p:sp>
        <p:nvSpPr>
          <p:cNvPr id="15" name="مستطيل 14">
            <a:extLst>
              <a:ext uri="{FF2B5EF4-FFF2-40B4-BE49-F238E27FC236}">
                <a16:creationId xmlns:a16="http://schemas.microsoft.com/office/drawing/2014/main" id="{3A25DEED-3C58-4208-96C6-BDA515C5EFC2}"/>
              </a:ext>
            </a:extLst>
          </p:cNvPr>
          <p:cNvSpPr>
            <a:spLocks noGrp="1"/>
          </p:cNvSpPr>
          <p:nvPr/>
        </p:nvSpPr>
        <p:spPr>
          <a:xfrm>
            <a:off x="2571750" y="1428750"/>
            <a:ext cx="2571750" cy="428625"/>
          </a:xfrm>
          <a:prstGeom prst="rect">
            <a:avLst/>
          </a:prstGeom>
          <a:noFill/>
          <a:ln w="0">
            <a:noFill/>
          </a:ln>
        </p:spPr>
        <p:txBody>
          <a:bodyPr lIns="57150" tIns="38100" rIns="57150" bIns="38100" anchor="t">
            <a:normAutofit/>
          </a:bodyPr>
          <a:lstStyle/>
          <a:p>
            <a:pPr algn="r" rtl="1">
              <a:lnSpc>
                <a:spcPct val="105000"/>
              </a:lnSpc>
              <a:buNone/>
              <a:defRPr sz="1875" b="1">
                <a:solidFill>
                  <a:srgbClr val="542278"/>
                </a:solidFill>
                <a:latin typeface="DejaVu Sans"/>
                <a:ea typeface="DejaVu Sans"/>
                <a:cs typeface="DejaVu Sans"/>
              </a:defRPr>
            </a:pPr>
            <a:r>
              <a:rPr sz="1875" b="1">
                <a:solidFill>
                  <a:srgbClr val="542278"/>
                </a:solidFill>
                <a:latin typeface="DejaVu Sans"/>
                <a:ea typeface="DejaVu Sans"/>
                <a:cs typeface="DejaVu Sans"/>
              </a:rPr>
              <a:t>أمثلة مقبولة</a:t>
            </a:r>
          </a:p>
        </p:txBody>
      </p:sp>
      <p:graphicFrame>
        <p:nvGraphicFramePr>
          <p:cNvPr id="32" name="جدول 31"/>
          <p:cNvGraphicFramePr/>
          <p:nvPr/>
        </p:nvGraphicFramePr>
        <p:xfrm>
          <a:off x="1285875" y="1952625"/>
          <a:ext cx="4238625" cy="2857500"/>
        </p:xfrm>
        <a:graphic>
          <a:graphicData uri="http://schemas.openxmlformats.org/drawingml/2006/table">
            <a:tbl>
              <a:tblPr/>
              <a:tblGrid>
                <a:gridCol w="285750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tblGrid>
              <a:tr h="476250">
                <a:tc>
                  <a:txBody>
                    <a:bodyPr/>
                    <a:lstStyle/>
                    <a:p>
                      <a:pPr algn="ctr" rtl="1"/>
                      <a:r>
                        <a:rPr sz="1200" b="1">
                          <a:solidFill>
                            <a:srgbClr val="FFFFFF"/>
                          </a:solidFill>
                          <a:latin typeface="DejaVu Sans"/>
                          <a:ea typeface="DejaVu Sans"/>
                          <a:cs typeface="DejaVu Sans"/>
                        </a:rPr>
                        <a:t>الشاهد</a:t>
                      </a:r>
                    </a:p>
                  </a:txBody>
                  <a:tcPr marL="76200" marR="76200" marT="66675" marB="66675" anchor="ctr">
                    <a:solidFill>
                      <a:srgbClr val="7030A0"/>
                    </a:solidFill>
                  </a:tcPr>
                </a:tc>
                <a:tc>
                  <a:txBody>
                    <a:bodyPr/>
                    <a:lstStyle/>
                    <a:p>
                      <a:pPr algn="ctr" rtl="1"/>
                      <a:r>
                        <a:rPr sz="1200" b="1">
                          <a:solidFill>
                            <a:srgbClr val="FFFFFF"/>
                          </a:solidFill>
                          <a:latin typeface="DejaVu Sans"/>
                          <a:ea typeface="DejaVu Sans"/>
                          <a:cs typeface="DejaVu Sans"/>
                        </a:rPr>
                        <a:t>البعد</a:t>
                      </a:r>
                    </a:p>
                  </a:txBody>
                  <a:tcPr marL="76200" marR="76200" marT="66675" marB="66675" anchor="ctr">
                    <a:solidFill>
                      <a:srgbClr val="7030A0"/>
                    </a:solidFill>
                  </a:tcPr>
                </a:tc>
                <a:extLst>
                  <a:ext uri="{0D108BD9-81ED-4DB2-BD59-A6C34878D82A}">
                    <a16:rowId xmlns:a16="http://schemas.microsoft.com/office/drawing/2014/main" val="10000"/>
                  </a:ext>
                </a:extLst>
              </a:tr>
              <a:tr h="476250">
                <a:tc>
                  <a:txBody>
                    <a:bodyPr/>
                    <a:lstStyle/>
                    <a:p>
                      <a:pPr algn="r" rtl="1"/>
                      <a:r>
                        <a:rPr sz="1088">
                          <a:solidFill>
                            <a:srgbClr val="17121B"/>
                          </a:solidFill>
                          <a:latin typeface="DejaVu Sans"/>
                          <a:ea typeface="DejaVu Sans"/>
                          <a:cs typeface="DejaVu Sans"/>
                        </a:rPr>
                        <a:t>دراسة احتياج وخطة عمل ومؤشرات</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التخطيط</a:t>
                      </a:r>
                    </a:p>
                  </a:txBody>
                  <a:tcPr marL="76200" marR="76200" marT="57150" marB="57150" anchor="ctr">
                    <a:solidFill>
                      <a:srgbClr val="FFFFFF"/>
                    </a:solidFill>
                  </a:tcPr>
                </a:tc>
                <a:extLst>
                  <a:ext uri="{0D108BD9-81ED-4DB2-BD59-A6C34878D82A}">
                    <a16:rowId xmlns:a16="http://schemas.microsoft.com/office/drawing/2014/main" val="10001"/>
                  </a:ext>
                </a:extLst>
              </a:tr>
              <a:tr h="476250">
                <a:tc>
                  <a:txBody>
                    <a:bodyPr/>
                    <a:lstStyle/>
                    <a:p>
                      <a:pPr algn="r" rtl="1"/>
                      <a:r>
                        <a:rPr sz="1088">
                          <a:solidFill>
                            <a:srgbClr val="17121B"/>
                          </a:solidFill>
                          <a:latin typeface="DejaVu Sans"/>
                          <a:ea typeface="DejaVu Sans"/>
                          <a:cs typeface="DejaVu Sans"/>
                        </a:rPr>
                        <a:t>تقارير وروابط ومنتجات وسجلات</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التنفيذ</a:t>
                      </a:r>
                    </a:p>
                  </a:txBody>
                  <a:tcPr marL="76200" marR="76200" marT="57150" marB="57150" anchor="ctr">
                    <a:solidFill>
                      <a:srgbClr val="F5EFF8"/>
                    </a:solidFill>
                  </a:tcPr>
                </a:tc>
                <a:extLst>
                  <a:ext uri="{0D108BD9-81ED-4DB2-BD59-A6C34878D82A}">
                    <a16:rowId xmlns:a16="http://schemas.microsoft.com/office/drawing/2014/main" val="10002"/>
                  </a:ext>
                </a:extLst>
              </a:tr>
              <a:tr h="476250">
                <a:tc>
                  <a:txBody>
                    <a:bodyPr/>
                    <a:lstStyle/>
                    <a:p>
                      <a:pPr algn="r" rtl="1"/>
                      <a:r>
                        <a:rPr sz="1088">
                          <a:solidFill>
                            <a:srgbClr val="17121B"/>
                          </a:solidFill>
                          <a:latin typeface="DejaVu Sans"/>
                          <a:ea typeface="DejaVu Sans"/>
                          <a:cs typeface="DejaVu Sans"/>
                        </a:rPr>
                        <a:t>تفاعل ورضا ونسب عودة</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المشاركة</a:t>
                      </a:r>
                    </a:p>
                  </a:txBody>
                  <a:tcPr marL="76200" marR="76200" marT="57150" marB="57150" anchor="ctr">
                    <a:solidFill>
                      <a:srgbClr val="FFFFFF"/>
                    </a:solidFill>
                  </a:tcPr>
                </a:tc>
                <a:extLst>
                  <a:ext uri="{0D108BD9-81ED-4DB2-BD59-A6C34878D82A}">
                    <a16:rowId xmlns:a16="http://schemas.microsoft.com/office/drawing/2014/main" val="10003"/>
                  </a:ext>
                </a:extLst>
              </a:tr>
              <a:tr h="476250">
                <a:tc>
                  <a:txBody>
                    <a:bodyPr/>
                    <a:lstStyle/>
                    <a:p>
                      <a:pPr algn="r" rtl="1"/>
                      <a:r>
                        <a:rPr sz="1088">
                          <a:solidFill>
                            <a:srgbClr val="17121B"/>
                          </a:solidFill>
                          <a:latin typeface="DejaVu Sans"/>
                          <a:ea typeface="DejaVu Sans"/>
                          <a:cs typeface="DejaVu Sans"/>
                        </a:rPr>
                        <a:t>قياس قبل وبعد وقصص تغير</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الأثر</a:t>
                      </a:r>
                    </a:p>
                  </a:txBody>
                  <a:tcPr marL="76200" marR="76200" marT="57150" marB="57150" anchor="ctr">
                    <a:solidFill>
                      <a:srgbClr val="F5EFF8"/>
                    </a:solidFill>
                  </a:tcPr>
                </a:tc>
                <a:extLst>
                  <a:ext uri="{0D108BD9-81ED-4DB2-BD59-A6C34878D82A}">
                    <a16:rowId xmlns:a16="http://schemas.microsoft.com/office/drawing/2014/main" val="10004"/>
                  </a:ext>
                </a:extLst>
              </a:tr>
              <a:tr h="476250">
                <a:tc>
                  <a:txBody>
                    <a:bodyPr/>
                    <a:lstStyle/>
                    <a:p>
                      <a:pPr algn="r" rtl="1"/>
                      <a:r>
                        <a:rPr sz="1088">
                          <a:solidFill>
                            <a:srgbClr val="17121B"/>
                          </a:solidFill>
                          <a:latin typeface="DejaVu Sans"/>
                          <a:ea typeface="DejaVu Sans"/>
                          <a:cs typeface="DejaVu Sans"/>
                        </a:rPr>
                        <a:t>شراكات وموارد وخطط توسع</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الاستدامة</a:t>
                      </a:r>
                    </a:p>
                  </a:txBody>
                  <a:tcPr marL="76200" marR="76200" marT="57150" marB="5715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18506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24"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42045880-18F0-45B4-B7BF-05EAEC468247}"/>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24</a:t>
            </a:r>
          </a:p>
        </p:txBody>
      </p:sp>
      <p:sp>
        <p:nvSpPr>
          <p:cNvPr id="3" name="slide-title">
            <a:extLst>
              <a:ext uri="{FF2B5EF4-FFF2-40B4-BE49-F238E27FC236}">
                <a16:creationId xmlns:a16="http://schemas.microsoft.com/office/drawing/2014/main" id="{17D1AB14-90A1-479A-9B01-564C99853A6B}"/>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منهجية التقييم</a:t>
            </a:r>
          </a:p>
        </p:txBody>
      </p:sp>
      <p:sp>
        <p:nvSpPr>
          <p:cNvPr id="4" name="مستطيل 3">
            <a:extLst>
              <a:ext uri="{FF2B5EF4-FFF2-40B4-BE49-F238E27FC236}">
                <a16:creationId xmlns:a16="http://schemas.microsoft.com/office/drawing/2014/main" id="{7624FEB0-CD6F-4912-AFA2-5F94E3459BDE}"/>
              </a:ext>
            </a:extLst>
          </p:cNvPr>
          <p:cNvSpPr>
            <a:spLocks noGrp="1"/>
          </p:cNvSpPr>
          <p:nvPr/>
        </p:nvSpPr>
        <p:spPr>
          <a:xfrm>
            <a:off x="1571625" y="1381125"/>
            <a:ext cx="9048750" cy="762000"/>
          </a:xfrm>
          <a:prstGeom prst="rect">
            <a:avLst/>
          </a:prstGeom>
          <a:noFill/>
          <a:ln w="0">
            <a:noFill/>
          </a:ln>
        </p:spPr>
        <p:txBody>
          <a:bodyPr lIns="76200" tIns="57150" rIns="76200" bIns="57150" anchor="t">
            <a:normAutofit/>
          </a:bodyPr>
          <a:lstStyle/>
          <a:p>
            <a:pPr algn="r" rtl="1">
              <a:lnSpc>
                <a:spcPct val="112000"/>
              </a:lnSpc>
              <a:buNone/>
              <a:defRPr sz="1575" b="0">
                <a:solidFill>
                  <a:srgbClr val="17121B"/>
                </a:solidFill>
                <a:latin typeface="DejaVu Sans"/>
                <a:ea typeface="DejaVu Sans"/>
                <a:cs typeface="DejaVu Sans"/>
              </a:defRPr>
            </a:pPr>
            <a:r>
              <a:rPr sz="1575" b="0">
                <a:solidFill>
                  <a:srgbClr val="17121B"/>
                </a:solidFill>
                <a:latin typeface="DejaVu Sans"/>
                <a:ea typeface="DejaVu Sans"/>
                <a:cs typeface="DejaVu Sans"/>
              </a:rPr>
              <a:t>تُقيّم كل مشاركة وفق معايير مسارها فقط. يمنح المقيم درجة لكل معيار، ثم تُحسب الدرجة الموزونة بحسب النسبة المحددة في مصفوفة المسار.</a:t>
            </a:r>
          </a:p>
        </p:txBody>
      </p:sp>
      <p:graphicFrame>
        <p:nvGraphicFramePr>
          <p:cNvPr id="10" name="جدول 9"/>
          <p:cNvGraphicFramePr/>
          <p:nvPr/>
        </p:nvGraphicFramePr>
        <p:xfrm>
          <a:off x="1952625" y="2381250"/>
          <a:ext cx="8286750" cy="2857500"/>
        </p:xfrm>
        <a:graphic>
          <a:graphicData uri="http://schemas.openxmlformats.org/drawingml/2006/table">
            <a:tbl>
              <a:tblPr/>
              <a:tblGrid>
                <a:gridCol w="50482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476250">
                <a:tc>
                  <a:txBody>
                    <a:bodyPr/>
                    <a:lstStyle/>
                    <a:p>
                      <a:pPr algn="ctr" rtl="1"/>
                      <a:r>
                        <a:rPr sz="1350" b="1">
                          <a:solidFill>
                            <a:srgbClr val="FFFFFF"/>
                          </a:solidFill>
                          <a:latin typeface="DejaVu Sans"/>
                          <a:ea typeface="DejaVu Sans"/>
                          <a:cs typeface="DejaVu Sans"/>
                        </a:rPr>
                        <a:t>الوصف الإرشادي</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مستوى الاستيفاء</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الدرجة</a:t>
                      </a:r>
                    </a:p>
                  </a:txBody>
                  <a:tcPr marL="76200" marR="76200" marT="66675" marB="66675" anchor="ctr">
                    <a:solidFill>
                      <a:srgbClr val="7030A0"/>
                    </a:solidFill>
                  </a:tcPr>
                </a:tc>
                <a:extLst>
                  <a:ext uri="{0D108BD9-81ED-4DB2-BD59-A6C34878D82A}">
                    <a16:rowId xmlns:a16="http://schemas.microsoft.com/office/drawing/2014/main" val="10000"/>
                  </a:ext>
                </a:extLst>
              </a:tr>
              <a:tr h="476250">
                <a:tc>
                  <a:txBody>
                    <a:bodyPr/>
                    <a:lstStyle/>
                    <a:p>
                      <a:pPr algn="r" rtl="1"/>
                      <a:r>
                        <a:rPr sz="1200">
                          <a:solidFill>
                            <a:srgbClr val="17121B"/>
                          </a:solidFill>
                          <a:latin typeface="DejaVu Sans"/>
                          <a:ea typeface="DejaVu Sans"/>
                          <a:cs typeface="DejaVu Sans"/>
                        </a:rPr>
                        <a:t>استيفاء كامل مدعوم بشواهد قوية ونتائج واضحة.</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متميز</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5</a:t>
                      </a:r>
                    </a:p>
                  </a:txBody>
                  <a:tcPr marL="76200" marR="76200" marT="57150" marB="57150" anchor="ctr">
                    <a:solidFill>
                      <a:srgbClr val="FFFFFF"/>
                    </a:solidFill>
                  </a:tcPr>
                </a:tc>
                <a:extLst>
                  <a:ext uri="{0D108BD9-81ED-4DB2-BD59-A6C34878D82A}">
                    <a16:rowId xmlns:a16="http://schemas.microsoft.com/office/drawing/2014/main" val="10001"/>
                  </a:ext>
                </a:extLst>
              </a:tr>
              <a:tr h="476250">
                <a:tc>
                  <a:txBody>
                    <a:bodyPr/>
                    <a:lstStyle/>
                    <a:p>
                      <a:pPr algn="r" rtl="1"/>
                      <a:r>
                        <a:rPr sz="1200">
                          <a:solidFill>
                            <a:srgbClr val="17121B"/>
                          </a:solidFill>
                          <a:latin typeface="DejaVu Sans"/>
                          <a:ea typeface="DejaVu Sans"/>
                          <a:cs typeface="DejaVu Sans"/>
                        </a:rPr>
                        <a:t>استيفاء جيد جدًا مع فجوات محدودة.</a:t>
                      </a:r>
                    </a:p>
                  </a:txBody>
                  <a:tcPr marL="76200" marR="76200" marT="57150" marB="57150" anchor="ctr">
                    <a:solidFill>
                      <a:srgbClr val="F5EFF8"/>
                    </a:solidFill>
                  </a:tcPr>
                </a:tc>
                <a:tc>
                  <a:txBody>
                    <a:bodyPr/>
                    <a:lstStyle/>
                    <a:p>
                      <a:pPr algn="r" rtl="1"/>
                      <a:r>
                        <a:rPr sz="1200">
                          <a:solidFill>
                            <a:srgbClr val="17121B"/>
                          </a:solidFill>
                          <a:latin typeface="DejaVu Sans"/>
                          <a:ea typeface="DejaVu Sans"/>
                          <a:cs typeface="DejaVu Sans"/>
                        </a:rPr>
                        <a:t>قوي</a:t>
                      </a:r>
                    </a:p>
                  </a:txBody>
                  <a:tcPr marL="76200" marR="76200" marT="57150" marB="57150" anchor="ctr">
                    <a:solidFill>
                      <a:srgbClr val="F5EFF8"/>
                    </a:solidFill>
                  </a:tcPr>
                </a:tc>
                <a:tc>
                  <a:txBody>
                    <a:bodyPr/>
                    <a:lstStyle/>
                    <a:p>
                      <a:pPr algn="r" rtl="1"/>
                      <a:r>
                        <a:rPr sz="1200">
                          <a:solidFill>
                            <a:srgbClr val="17121B"/>
                          </a:solidFill>
                          <a:latin typeface="DejaVu Sans"/>
                          <a:ea typeface="DejaVu Sans"/>
                          <a:cs typeface="DejaVu Sans"/>
                        </a:rPr>
                        <a:t>4</a:t>
                      </a:r>
                    </a:p>
                  </a:txBody>
                  <a:tcPr marL="76200" marR="76200" marT="57150" marB="57150" anchor="ctr">
                    <a:solidFill>
                      <a:srgbClr val="F5EFF8"/>
                    </a:solidFill>
                  </a:tcPr>
                </a:tc>
                <a:extLst>
                  <a:ext uri="{0D108BD9-81ED-4DB2-BD59-A6C34878D82A}">
                    <a16:rowId xmlns:a16="http://schemas.microsoft.com/office/drawing/2014/main" val="10002"/>
                  </a:ext>
                </a:extLst>
              </a:tr>
              <a:tr h="476250">
                <a:tc>
                  <a:txBody>
                    <a:bodyPr/>
                    <a:lstStyle/>
                    <a:p>
                      <a:pPr algn="r" rtl="1"/>
                      <a:r>
                        <a:rPr sz="1200">
                          <a:solidFill>
                            <a:srgbClr val="17121B"/>
                          </a:solidFill>
                          <a:latin typeface="DejaVu Sans"/>
                          <a:ea typeface="DejaVu Sans"/>
                          <a:cs typeface="DejaVu Sans"/>
                        </a:rPr>
                        <a:t>استيفاء مقبول للحد الأساسي مع حاجة إلى تطوير.</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مستوفٍ</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3</a:t>
                      </a:r>
                    </a:p>
                  </a:txBody>
                  <a:tcPr marL="76200" marR="76200" marT="57150" marB="57150" anchor="ctr">
                    <a:solidFill>
                      <a:srgbClr val="FFFFFF"/>
                    </a:solidFill>
                  </a:tcPr>
                </a:tc>
                <a:extLst>
                  <a:ext uri="{0D108BD9-81ED-4DB2-BD59-A6C34878D82A}">
                    <a16:rowId xmlns:a16="http://schemas.microsoft.com/office/drawing/2014/main" val="10003"/>
                  </a:ext>
                </a:extLst>
              </a:tr>
              <a:tr h="476250">
                <a:tc>
                  <a:txBody>
                    <a:bodyPr/>
                    <a:lstStyle/>
                    <a:p>
                      <a:pPr algn="r" rtl="1"/>
                      <a:r>
                        <a:rPr sz="1200">
                          <a:solidFill>
                            <a:srgbClr val="17121B"/>
                          </a:solidFill>
                          <a:latin typeface="DejaVu Sans"/>
                          <a:ea typeface="DejaVu Sans"/>
                          <a:cs typeface="DejaVu Sans"/>
                        </a:rPr>
                        <a:t>استيفاء جزئي وشواهد محدودة أو غير كافية.</a:t>
                      </a:r>
                    </a:p>
                  </a:txBody>
                  <a:tcPr marL="76200" marR="76200" marT="57150" marB="57150" anchor="ctr">
                    <a:solidFill>
                      <a:srgbClr val="F5EFF8"/>
                    </a:solidFill>
                  </a:tcPr>
                </a:tc>
                <a:tc>
                  <a:txBody>
                    <a:bodyPr/>
                    <a:lstStyle/>
                    <a:p>
                      <a:pPr algn="r" rtl="1"/>
                      <a:r>
                        <a:rPr sz="1200">
                          <a:solidFill>
                            <a:srgbClr val="17121B"/>
                          </a:solidFill>
                          <a:latin typeface="DejaVu Sans"/>
                          <a:ea typeface="DejaVu Sans"/>
                          <a:cs typeface="DejaVu Sans"/>
                        </a:rPr>
                        <a:t>ضعيف</a:t>
                      </a:r>
                    </a:p>
                  </a:txBody>
                  <a:tcPr marL="76200" marR="76200" marT="57150" marB="57150" anchor="ctr">
                    <a:solidFill>
                      <a:srgbClr val="F5EFF8"/>
                    </a:solidFill>
                  </a:tcPr>
                </a:tc>
                <a:tc>
                  <a:txBody>
                    <a:bodyPr/>
                    <a:lstStyle/>
                    <a:p>
                      <a:pPr algn="r" rtl="1"/>
                      <a:r>
                        <a:rPr sz="1200">
                          <a:solidFill>
                            <a:srgbClr val="17121B"/>
                          </a:solidFill>
                          <a:latin typeface="DejaVu Sans"/>
                          <a:ea typeface="DejaVu Sans"/>
                          <a:cs typeface="DejaVu Sans"/>
                        </a:rPr>
                        <a:t>2</a:t>
                      </a:r>
                    </a:p>
                  </a:txBody>
                  <a:tcPr marL="76200" marR="76200" marT="57150" marB="57150" anchor="ctr">
                    <a:solidFill>
                      <a:srgbClr val="F5EFF8"/>
                    </a:solidFill>
                  </a:tcPr>
                </a:tc>
                <a:extLst>
                  <a:ext uri="{0D108BD9-81ED-4DB2-BD59-A6C34878D82A}">
                    <a16:rowId xmlns:a16="http://schemas.microsoft.com/office/drawing/2014/main" val="10004"/>
                  </a:ext>
                </a:extLst>
              </a:tr>
              <a:tr h="476250">
                <a:tc>
                  <a:txBody>
                    <a:bodyPr/>
                    <a:lstStyle/>
                    <a:p>
                      <a:pPr algn="r" rtl="1"/>
                      <a:r>
                        <a:rPr sz="1200">
                          <a:solidFill>
                            <a:srgbClr val="17121B"/>
                          </a:solidFill>
                          <a:latin typeface="DejaVu Sans"/>
                          <a:ea typeface="DejaVu Sans"/>
                          <a:cs typeface="DejaVu Sans"/>
                        </a:rPr>
                        <a:t>غياب المتطلب أو عدم إمكان التحقق منه.</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غير مستوفٍ</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1</a:t>
                      </a:r>
                    </a:p>
                  </a:txBody>
                  <a:tcPr marL="76200" marR="76200" marT="57150" marB="5715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4803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25"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6A343274-4B27-4278-8200-1C50D65D6940}"/>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25</a:t>
            </a:r>
          </a:p>
        </p:txBody>
      </p:sp>
      <p:sp>
        <p:nvSpPr>
          <p:cNvPr id="3" name="slide-title">
            <a:extLst>
              <a:ext uri="{FF2B5EF4-FFF2-40B4-BE49-F238E27FC236}">
                <a16:creationId xmlns:a16="http://schemas.microsoft.com/office/drawing/2014/main" id="{ADDCCFC4-D4F4-41EC-A09F-B15BBDC9D42C}"/>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a:solidFill>
                  <a:srgbClr val="542278"/>
                </a:solidFill>
                <a:latin typeface="DejaVu Sans"/>
                <a:ea typeface="DejaVu Sans"/>
                <a:cs typeface="DejaVu Sans"/>
              </a:rPr>
              <a:t>مراحل الفرز والتقييم والتحكيم</a:t>
            </a:r>
          </a:p>
        </p:txBody>
      </p:sp>
      <p:graphicFrame>
        <p:nvGraphicFramePr>
          <p:cNvPr id="9" name="جدول 8"/>
          <p:cNvGraphicFramePr/>
          <p:nvPr/>
        </p:nvGraphicFramePr>
        <p:xfrm>
          <a:off x="1095375" y="1619250"/>
          <a:ext cx="10001250" cy="3000375"/>
        </p:xfrm>
        <a:graphic>
          <a:graphicData uri="http://schemas.openxmlformats.org/drawingml/2006/table">
            <a:tbl>
              <a:tblPr/>
              <a:tblGrid>
                <a:gridCol w="2095500">
                  <a:extLst>
                    <a:ext uri="{9D8B030D-6E8A-4147-A177-3AD203B41FA5}">
                      <a16:colId xmlns:a16="http://schemas.microsoft.com/office/drawing/2014/main" val="20000"/>
                    </a:ext>
                  </a:extLst>
                </a:gridCol>
                <a:gridCol w="5381625">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tblGrid>
              <a:tr h="600075">
                <a:tc>
                  <a:txBody>
                    <a:bodyPr/>
                    <a:lstStyle/>
                    <a:p>
                      <a:pPr algn="ctr" rtl="1"/>
                      <a:r>
                        <a:rPr sz="1350" b="1">
                          <a:solidFill>
                            <a:srgbClr val="FFFFFF"/>
                          </a:solidFill>
                          <a:latin typeface="DejaVu Sans"/>
                          <a:ea typeface="DejaVu Sans"/>
                          <a:cs typeface="DejaVu Sans"/>
                        </a:rPr>
                        <a:t>المخرج</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ما يحدث في المرحلة</a:t>
                      </a:r>
                    </a:p>
                  </a:txBody>
                  <a:tcPr marL="76200" marR="76200" marT="66675" marB="66675" anchor="ctr">
                    <a:solidFill>
                      <a:srgbClr val="7030A0"/>
                    </a:solidFill>
                  </a:tcPr>
                </a:tc>
                <a:tc>
                  <a:txBody>
                    <a:bodyPr/>
                    <a:lstStyle/>
                    <a:p>
                      <a:pPr algn="ctr" rtl="1"/>
                      <a:r>
                        <a:rPr sz="1350" b="1">
                          <a:solidFill>
                            <a:srgbClr val="FFFFFF"/>
                          </a:solidFill>
                          <a:latin typeface="DejaVu Sans"/>
                          <a:ea typeface="DejaVu Sans"/>
                          <a:cs typeface="DejaVu Sans"/>
                        </a:rPr>
                        <a:t>المرحلة</a:t>
                      </a:r>
                    </a:p>
                  </a:txBody>
                  <a:tcPr marL="76200" marR="76200" marT="66675" marB="66675" anchor="ctr">
                    <a:solidFill>
                      <a:srgbClr val="7030A0"/>
                    </a:solidFill>
                  </a:tcPr>
                </a:tc>
                <a:extLst>
                  <a:ext uri="{0D108BD9-81ED-4DB2-BD59-A6C34878D82A}">
                    <a16:rowId xmlns:a16="http://schemas.microsoft.com/office/drawing/2014/main" val="10000"/>
                  </a:ext>
                </a:extLst>
              </a:tr>
              <a:tr h="600075">
                <a:tc>
                  <a:txBody>
                    <a:bodyPr/>
                    <a:lstStyle/>
                    <a:p>
                      <a:pPr algn="r" rtl="1"/>
                      <a:r>
                        <a:rPr sz="1200">
                          <a:solidFill>
                            <a:srgbClr val="17121B"/>
                          </a:solidFill>
                          <a:latin typeface="DejaVu Sans"/>
                          <a:ea typeface="DejaVu Sans"/>
                          <a:cs typeface="DejaVu Sans"/>
                        </a:rPr>
                        <a:t>طلبات مجتازة</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التحقق من اكتمال الطلب والأهلية وصلاحية الملفات.</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1. فرز المشاركات</a:t>
                      </a:r>
                    </a:p>
                  </a:txBody>
                  <a:tcPr marL="76200" marR="76200" marT="57150" marB="57150" anchor="ctr">
                    <a:solidFill>
                      <a:srgbClr val="FFFFFF"/>
                    </a:solidFill>
                  </a:tcPr>
                </a:tc>
                <a:extLst>
                  <a:ext uri="{0D108BD9-81ED-4DB2-BD59-A6C34878D82A}">
                    <a16:rowId xmlns:a16="http://schemas.microsoft.com/office/drawing/2014/main" val="10001"/>
                  </a:ext>
                </a:extLst>
              </a:tr>
              <a:tr h="600075">
                <a:tc>
                  <a:txBody>
                    <a:bodyPr/>
                    <a:lstStyle/>
                    <a:p>
                      <a:pPr algn="r" rtl="1"/>
                      <a:r>
                        <a:rPr sz="1200">
                          <a:solidFill>
                            <a:srgbClr val="17121B"/>
                          </a:solidFill>
                          <a:latin typeface="DejaVu Sans"/>
                          <a:ea typeface="DejaVu Sans"/>
                          <a:cs typeface="DejaVu Sans"/>
                        </a:rPr>
                        <a:t>قائمة قصيرة أولية</a:t>
                      </a:r>
                    </a:p>
                  </a:txBody>
                  <a:tcPr marL="76200" marR="76200" marT="57150" marB="57150" anchor="ctr">
                    <a:solidFill>
                      <a:srgbClr val="F5EFF8"/>
                    </a:solidFill>
                  </a:tcPr>
                </a:tc>
                <a:tc>
                  <a:txBody>
                    <a:bodyPr/>
                    <a:lstStyle/>
                    <a:p>
                      <a:pPr algn="r" rtl="1"/>
                      <a:r>
                        <a:rPr sz="1200">
                          <a:solidFill>
                            <a:srgbClr val="17121B"/>
                          </a:solidFill>
                          <a:latin typeface="DejaVu Sans"/>
                          <a:ea typeface="DejaVu Sans"/>
                          <a:cs typeface="DejaVu Sans"/>
                        </a:rPr>
                        <a:t>التقييم وفق معايير المسار وترشيح الأعلى درجة.</a:t>
                      </a:r>
                    </a:p>
                  </a:txBody>
                  <a:tcPr marL="76200" marR="76200" marT="57150" marB="57150" anchor="ctr">
                    <a:solidFill>
                      <a:srgbClr val="F5EFF8"/>
                    </a:solidFill>
                  </a:tcPr>
                </a:tc>
                <a:tc>
                  <a:txBody>
                    <a:bodyPr/>
                    <a:lstStyle/>
                    <a:p>
                      <a:pPr algn="r" rtl="1"/>
                      <a:r>
                        <a:rPr sz="1200">
                          <a:solidFill>
                            <a:srgbClr val="17121B"/>
                          </a:solidFill>
                          <a:latin typeface="DejaVu Sans"/>
                          <a:ea typeface="DejaVu Sans"/>
                          <a:cs typeface="DejaVu Sans"/>
                        </a:rPr>
                        <a:t>2. التقييم المبدئي</a:t>
                      </a:r>
                    </a:p>
                  </a:txBody>
                  <a:tcPr marL="76200" marR="76200" marT="57150" marB="57150" anchor="ctr">
                    <a:solidFill>
                      <a:srgbClr val="F5EFF8"/>
                    </a:solidFill>
                  </a:tcPr>
                </a:tc>
                <a:extLst>
                  <a:ext uri="{0D108BD9-81ED-4DB2-BD59-A6C34878D82A}">
                    <a16:rowId xmlns:a16="http://schemas.microsoft.com/office/drawing/2014/main" val="10002"/>
                  </a:ext>
                </a:extLst>
              </a:tr>
              <a:tr h="600075">
                <a:tc>
                  <a:txBody>
                    <a:bodyPr/>
                    <a:lstStyle/>
                    <a:p>
                      <a:pPr algn="r" rtl="1"/>
                      <a:r>
                        <a:rPr sz="1200">
                          <a:solidFill>
                            <a:srgbClr val="17121B"/>
                          </a:solidFill>
                          <a:latin typeface="DejaVu Sans"/>
                          <a:ea typeface="DejaVu Sans"/>
                          <a:cs typeface="DejaVu Sans"/>
                        </a:rPr>
                        <a:t>توصية بالفائزين</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مراجعة معمقة وطلب الإيضاحات أو مقابلات تحقق افتراضية.</a:t>
                      </a:r>
                    </a:p>
                  </a:txBody>
                  <a:tcPr marL="76200" marR="76200" marT="57150" marB="57150" anchor="ctr">
                    <a:solidFill>
                      <a:srgbClr val="FFFFFF"/>
                    </a:solidFill>
                  </a:tcPr>
                </a:tc>
                <a:tc>
                  <a:txBody>
                    <a:bodyPr/>
                    <a:lstStyle/>
                    <a:p>
                      <a:pPr algn="r" rtl="1"/>
                      <a:r>
                        <a:rPr sz="1200">
                          <a:solidFill>
                            <a:srgbClr val="17121B"/>
                          </a:solidFill>
                          <a:latin typeface="DejaVu Sans"/>
                          <a:ea typeface="DejaVu Sans"/>
                          <a:cs typeface="DejaVu Sans"/>
                        </a:rPr>
                        <a:t>3. التحكيم والتحقق</a:t>
                      </a:r>
                    </a:p>
                  </a:txBody>
                  <a:tcPr marL="76200" marR="76200" marT="57150" marB="57150" anchor="ctr">
                    <a:solidFill>
                      <a:srgbClr val="FFFFFF"/>
                    </a:solidFill>
                  </a:tcPr>
                </a:tc>
                <a:extLst>
                  <a:ext uri="{0D108BD9-81ED-4DB2-BD59-A6C34878D82A}">
                    <a16:rowId xmlns:a16="http://schemas.microsoft.com/office/drawing/2014/main" val="10003"/>
                  </a:ext>
                </a:extLst>
              </a:tr>
              <a:tr h="600075">
                <a:tc>
                  <a:txBody>
                    <a:bodyPr/>
                    <a:lstStyle/>
                    <a:p>
                      <a:pPr algn="r" rtl="1"/>
                      <a:r>
                        <a:rPr sz="1200">
                          <a:solidFill>
                            <a:srgbClr val="17121B"/>
                          </a:solidFill>
                          <a:latin typeface="DejaVu Sans"/>
                          <a:ea typeface="DejaVu Sans"/>
                          <a:cs typeface="DejaVu Sans"/>
                        </a:rPr>
                        <a:t>النتائج الرسمية</a:t>
                      </a:r>
                    </a:p>
                  </a:txBody>
                  <a:tcPr marL="76200" marR="76200" marT="57150" marB="57150" anchor="ctr">
                    <a:solidFill>
                      <a:srgbClr val="F5EFF8"/>
                    </a:solidFill>
                  </a:tcPr>
                </a:tc>
                <a:tc>
                  <a:txBody>
                    <a:bodyPr/>
                    <a:lstStyle/>
                    <a:p>
                      <a:pPr algn="r" rtl="1"/>
                      <a:r>
                        <a:rPr sz="1200">
                          <a:solidFill>
                            <a:srgbClr val="17121B"/>
                          </a:solidFill>
                          <a:latin typeface="DejaVu Sans"/>
                          <a:ea typeface="DejaVu Sans"/>
                          <a:cs typeface="DejaVu Sans"/>
                        </a:rPr>
                        <a:t>اعتماد النتائج وإعلان الفائزين عبر القنوات والحفل الافتراضي.</a:t>
                      </a:r>
                    </a:p>
                  </a:txBody>
                  <a:tcPr marL="76200" marR="76200" marT="57150" marB="57150" anchor="ctr">
                    <a:solidFill>
                      <a:srgbClr val="F5EFF8"/>
                    </a:solidFill>
                  </a:tcPr>
                </a:tc>
                <a:tc>
                  <a:txBody>
                    <a:bodyPr/>
                    <a:lstStyle/>
                    <a:p>
                      <a:pPr algn="r" rtl="1"/>
                      <a:r>
                        <a:rPr sz="1200">
                          <a:solidFill>
                            <a:srgbClr val="17121B"/>
                          </a:solidFill>
                          <a:latin typeface="DejaVu Sans"/>
                          <a:ea typeface="DejaVu Sans"/>
                          <a:cs typeface="DejaVu Sans"/>
                        </a:rPr>
                        <a:t>4. الاعتماد والإعلان</a:t>
                      </a:r>
                    </a:p>
                  </a:txBody>
                  <a:tcPr marL="76200" marR="76200" marT="57150" marB="57150" anchor="ctr">
                    <a:solidFill>
                      <a:srgbClr val="F5EFF8"/>
                    </a:solidFill>
                  </a:tcPr>
                </a:tc>
                <a:extLst>
                  <a:ext uri="{0D108BD9-81ED-4DB2-BD59-A6C34878D82A}">
                    <a16:rowId xmlns:a16="http://schemas.microsoft.com/office/drawing/2014/main" val="10004"/>
                  </a:ext>
                </a:extLst>
              </a:tr>
            </a:tbl>
          </a:graphicData>
        </a:graphic>
      </p:graphicFrame>
      <p:sp>
        <p:nvSpPr>
          <p:cNvPr id="5" name="مستطيل 4">
            <a:extLst>
              <a:ext uri="{FF2B5EF4-FFF2-40B4-BE49-F238E27FC236}">
                <a16:creationId xmlns:a16="http://schemas.microsoft.com/office/drawing/2014/main" id="{8EC07011-BF8D-4D33-98AC-DD58FB8CE0C0}"/>
              </a:ext>
            </a:extLst>
          </p:cNvPr>
          <p:cNvSpPr>
            <a:spLocks noGrp="1"/>
          </p:cNvSpPr>
          <p:nvPr/>
        </p:nvSpPr>
        <p:spPr>
          <a:xfrm>
            <a:off x="2238375" y="4953000"/>
            <a:ext cx="7715250" cy="533400"/>
          </a:xfrm>
          <a:prstGeom prst="rect">
            <a:avLst/>
          </a:prstGeom>
          <a:noFill/>
          <a:ln w="0">
            <a:noFill/>
          </a:ln>
        </p:spPr>
        <p:txBody>
          <a:bodyPr lIns="57150" tIns="38100" rIns="57150" bIns="38100" anchor="ctr">
            <a:normAutofit/>
          </a:bodyPr>
          <a:lstStyle/>
          <a:p>
            <a:pPr algn="ctr" rtl="1">
              <a:lnSpc>
                <a:spcPct val="105000"/>
              </a:lnSpc>
              <a:buNone/>
              <a:defRPr sz="1575" b="1">
                <a:solidFill>
                  <a:srgbClr val="542278"/>
                </a:solidFill>
                <a:latin typeface="DejaVu Sans"/>
                <a:ea typeface="DejaVu Sans"/>
                <a:cs typeface="DejaVu Sans"/>
              </a:defRPr>
            </a:pPr>
            <a:r>
              <a:rPr sz="1575" b="1">
                <a:solidFill>
                  <a:srgbClr val="542278"/>
                </a:solidFill>
                <a:latin typeface="DejaVu Sans"/>
                <a:ea typeface="DejaVu Sans"/>
                <a:cs typeface="DejaVu Sans"/>
              </a:rPr>
              <a:t>تنفذ إجراءات التقديم والفرز والتحقق والإعلان رقميًا وافتراضيًا.</a:t>
            </a:r>
          </a:p>
        </p:txBody>
      </p:sp>
    </p:spTree>
    <p:extLst>
      <p:ext uri="{BB962C8B-B14F-4D97-AF65-F5344CB8AC3E}">
        <p14:creationId xmlns:p14="http://schemas.microsoft.com/office/powerpoint/2010/main" val="306563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26" name="Wahaj slide background"/>
          <p:cNvPicPr/>
          <p:nvPr/>
        </p:nvPicPr>
        <p:blipFill>
          <a:blip r:embed="rId3"/>
          <a:stretch>
            <a:fillRect/>
          </a:stretch>
        </p:blipFill>
        <p:spPr>
          <a:xfrm>
            <a:off x="0" y="0"/>
            <a:ext cx="12192000" cy="6858000"/>
          </a:xfrm>
          <a:prstGeom prst="rect">
            <a:avLst/>
          </a:prstGeom>
        </p:spPr>
      </p:pic>
      <p:sp>
        <p:nvSpPr>
          <p:cNvPr id="2" name="مستطيل 1">
            <a:extLst>
              <a:ext uri="{FF2B5EF4-FFF2-40B4-BE49-F238E27FC236}">
                <a16:creationId xmlns:a16="http://schemas.microsoft.com/office/drawing/2014/main" id="{0012DBFF-C83B-4B43-B5F6-572B04FE4875}"/>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26</a:t>
            </a:r>
          </a:p>
        </p:txBody>
      </p:sp>
      <p:sp>
        <p:nvSpPr>
          <p:cNvPr id="3" name="slide-title">
            <a:extLst>
              <a:ext uri="{FF2B5EF4-FFF2-40B4-BE49-F238E27FC236}">
                <a16:creationId xmlns:a16="http://schemas.microsoft.com/office/drawing/2014/main" id="{4AEA90D5-9F97-4560-A414-3AACA019C787}"/>
              </a:ext>
            </a:extLst>
          </p:cNvPr>
          <p:cNvSpPr>
            <a:spLocks noGrp="1"/>
          </p:cNvSpPr>
          <p:nvPr/>
        </p:nvSpPr>
        <p:spPr>
          <a:xfrm>
            <a:off x="4191000" y="904875"/>
            <a:ext cx="6096000" cy="476250"/>
          </a:xfrm>
          <a:prstGeom prst="rect">
            <a:avLst/>
          </a:prstGeom>
          <a:noFill/>
          <a:ln w="0">
            <a:noFill/>
          </a:ln>
        </p:spPr>
        <p:txBody>
          <a:bodyPr lIns="57150" tIns="38100" rIns="57150" bIns="38100" anchor="t">
            <a:normAutofit fontScale="98039"/>
          </a:bodyPr>
          <a:lstStyle/>
          <a:p>
            <a:pPr algn="r" rtl="1">
              <a:lnSpc>
                <a:spcPct val="105000"/>
              </a:lnSpc>
              <a:buNone/>
              <a:defRPr sz="2550" b="1">
                <a:solidFill>
                  <a:srgbClr val="542278"/>
                </a:solidFill>
                <a:latin typeface="DejaVu Sans"/>
                <a:ea typeface="DejaVu Sans"/>
                <a:cs typeface="DejaVu Sans"/>
              </a:defRPr>
            </a:pPr>
            <a:r>
              <a:rPr sz="2550" b="1" dirty="0" err="1">
                <a:solidFill>
                  <a:srgbClr val="542278"/>
                </a:solidFill>
                <a:latin typeface="DejaVu Sans"/>
                <a:ea typeface="DejaVu Sans"/>
                <a:cs typeface="DejaVu Sans"/>
              </a:rPr>
              <a:t>الجوائز</a:t>
            </a:r>
            <a:r>
              <a:rPr sz="2550" b="1" dirty="0">
                <a:solidFill>
                  <a:srgbClr val="542278"/>
                </a:solidFill>
                <a:latin typeface="DejaVu Sans"/>
                <a:ea typeface="DejaVu Sans"/>
                <a:cs typeface="DejaVu Sans"/>
              </a:rPr>
              <a:t> </a:t>
            </a:r>
            <a:r>
              <a:rPr sz="2550" b="1" dirty="0" err="1">
                <a:solidFill>
                  <a:srgbClr val="542278"/>
                </a:solidFill>
                <a:latin typeface="DejaVu Sans"/>
                <a:ea typeface="DejaVu Sans"/>
                <a:cs typeface="DejaVu Sans"/>
              </a:rPr>
              <a:t>ومعلومات</a:t>
            </a:r>
            <a:r>
              <a:rPr sz="2550" b="1" dirty="0">
                <a:solidFill>
                  <a:srgbClr val="542278"/>
                </a:solidFill>
                <a:latin typeface="DejaVu Sans"/>
                <a:ea typeface="DejaVu Sans"/>
                <a:cs typeface="DejaVu Sans"/>
              </a:rPr>
              <a:t> </a:t>
            </a:r>
            <a:r>
              <a:rPr sz="2550" b="1" dirty="0" err="1">
                <a:solidFill>
                  <a:srgbClr val="542278"/>
                </a:solidFill>
                <a:latin typeface="DejaVu Sans"/>
                <a:ea typeface="DejaVu Sans"/>
                <a:cs typeface="DejaVu Sans"/>
              </a:rPr>
              <a:t>الدورة</a:t>
            </a:r>
            <a:endParaRPr sz="2550" b="1" dirty="0">
              <a:solidFill>
                <a:srgbClr val="542278"/>
              </a:solidFill>
              <a:latin typeface="DejaVu Sans"/>
              <a:ea typeface="DejaVu Sans"/>
              <a:cs typeface="DejaVu Sans"/>
            </a:endParaRPr>
          </a:p>
        </p:txBody>
      </p:sp>
      <p:sp>
        <p:nvSpPr>
          <p:cNvPr id="4" name="مستطيل 3">
            <a:extLst>
              <a:ext uri="{FF2B5EF4-FFF2-40B4-BE49-F238E27FC236}">
                <a16:creationId xmlns:a16="http://schemas.microsoft.com/office/drawing/2014/main" id="{6EB6B927-0ED8-44A8-A3E2-DE529D29547A}"/>
              </a:ext>
            </a:extLst>
          </p:cNvPr>
          <p:cNvSpPr>
            <a:spLocks noGrp="1"/>
          </p:cNvSpPr>
          <p:nvPr/>
        </p:nvSpPr>
        <p:spPr>
          <a:xfrm>
            <a:off x="8096250" y="1381125"/>
            <a:ext cx="2762250" cy="428625"/>
          </a:xfrm>
          <a:prstGeom prst="rect">
            <a:avLst/>
          </a:prstGeom>
          <a:noFill/>
          <a:ln w="0">
            <a:noFill/>
          </a:ln>
        </p:spPr>
        <p:txBody>
          <a:bodyPr lIns="57150" tIns="38100" rIns="57150" bIns="38100" anchor="t">
            <a:normAutofit/>
          </a:bodyPr>
          <a:lstStyle/>
          <a:p>
            <a:pPr algn="r" rtl="1">
              <a:lnSpc>
                <a:spcPct val="105000"/>
              </a:lnSpc>
              <a:buNone/>
              <a:defRPr sz="1875" b="1">
                <a:solidFill>
                  <a:srgbClr val="542278"/>
                </a:solidFill>
                <a:latin typeface="DejaVu Sans"/>
                <a:ea typeface="DejaVu Sans"/>
                <a:cs typeface="DejaVu Sans"/>
              </a:defRPr>
            </a:pPr>
            <a:r>
              <a:rPr sz="1875" b="1">
                <a:solidFill>
                  <a:srgbClr val="542278"/>
                </a:solidFill>
                <a:latin typeface="DejaVu Sans"/>
                <a:ea typeface="DejaVu Sans"/>
                <a:cs typeface="DejaVu Sans"/>
              </a:rPr>
              <a:t>الجوائز والتكريم</a:t>
            </a:r>
          </a:p>
        </p:txBody>
      </p:sp>
      <p:sp>
        <p:nvSpPr>
          <p:cNvPr id="5" name="شكل بيضاوي 4">
            <a:extLst>
              <a:ext uri="{FF2B5EF4-FFF2-40B4-BE49-F238E27FC236}">
                <a16:creationId xmlns:a16="http://schemas.microsoft.com/office/drawing/2014/main" id="{A4E1EA6D-60F8-42A0-BFCD-68B3D0518089}"/>
              </a:ext>
            </a:extLst>
          </p:cNvPr>
          <p:cNvSpPr>
            <a:spLocks noGrp="1"/>
          </p:cNvSpPr>
          <p:nvPr/>
        </p:nvSpPr>
        <p:spPr>
          <a:xfrm>
            <a:off x="10706100" y="2166938"/>
            <a:ext cx="95250" cy="95250"/>
          </a:xfrm>
          <a:prstGeom prst="ellipse">
            <a:avLst/>
          </a:prstGeom>
          <a:solidFill>
            <a:srgbClr val="7030A0"/>
          </a:solidFill>
          <a:ln w="0">
            <a:noFill/>
          </a:ln>
        </p:spPr>
        <p:txBody>
          <a:bodyPr/>
          <a:lstStyle/>
          <a:p>
            <a:endParaRPr lang="en-US"/>
          </a:p>
        </p:txBody>
      </p:sp>
      <p:sp>
        <p:nvSpPr>
          <p:cNvPr id="6" name="مستطيل 5">
            <a:extLst>
              <a:ext uri="{FF2B5EF4-FFF2-40B4-BE49-F238E27FC236}">
                <a16:creationId xmlns:a16="http://schemas.microsoft.com/office/drawing/2014/main" id="{95FD7F6D-2AFF-4D84-BA6E-3A3CA22BFB94}"/>
              </a:ext>
            </a:extLst>
          </p:cNvPr>
          <p:cNvSpPr>
            <a:spLocks noGrp="1"/>
          </p:cNvSpPr>
          <p:nvPr/>
        </p:nvSpPr>
        <p:spPr>
          <a:xfrm>
            <a:off x="6238875" y="1952625"/>
            <a:ext cx="4314825" cy="523875"/>
          </a:xfrm>
          <a:prstGeom prst="rect">
            <a:avLst/>
          </a:prstGeom>
          <a:noFill/>
          <a:ln w="0">
            <a:noFill/>
          </a:ln>
        </p:spPr>
        <p:txBody>
          <a:bodyPr lIns="38100" tIns="19050" rIns="38100" bIns="1905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جوائز مالية أو عينية وفق قرار الدورة.</a:t>
            </a:r>
          </a:p>
        </p:txBody>
      </p:sp>
      <p:sp>
        <p:nvSpPr>
          <p:cNvPr id="7" name="شكل بيضاوي 6">
            <a:extLst>
              <a:ext uri="{FF2B5EF4-FFF2-40B4-BE49-F238E27FC236}">
                <a16:creationId xmlns:a16="http://schemas.microsoft.com/office/drawing/2014/main" id="{5E41AA2A-304C-44BE-9ADB-915D5B6C7BCC}"/>
              </a:ext>
            </a:extLst>
          </p:cNvPr>
          <p:cNvSpPr>
            <a:spLocks noGrp="1"/>
          </p:cNvSpPr>
          <p:nvPr/>
        </p:nvSpPr>
        <p:spPr>
          <a:xfrm>
            <a:off x="10706100" y="2690813"/>
            <a:ext cx="95250" cy="95250"/>
          </a:xfrm>
          <a:prstGeom prst="ellipse">
            <a:avLst/>
          </a:prstGeom>
          <a:solidFill>
            <a:srgbClr val="1F9FCC"/>
          </a:solidFill>
          <a:ln w="0">
            <a:noFill/>
          </a:ln>
        </p:spPr>
        <p:txBody>
          <a:bodyPr/>
          <a:lstStyle/>
          <a:p>
            <a:endParaRPr lang="en-US"/>
          </a:p>
        </p:txBody>
      </p:sp>
      <p:sp>
        <p:nvSpPr>
          <p:cNvPr id="8" name="مستطيل 7">
            <a:extLst>
              <a:ext uri="{FF2B5EF4-FFF2-40B4-BE49-F238E27FC236}">
                <a16:creationId xmlns:a16="http://schemas.microsoft.com/office/drawing/2014/main" id="{C40D0787-18D2-4E03-B2E9-FFD754FD2206}"/>
              </a:ext>
            </a:extLst>
          </p:cNvPr>
          <p:cNvSpPr>
            <a:spLocks noGrp="1"/>
          </p:cNvSpPr>
          <p:nvPr/>
        </p:nvSpPr>
        <p:spPr>
          <a:xfrm>
            <a:off x="6238875" y="2476500"/>
            <a:ext cx="4314825" cy="523875"/>
          </a:xfrm>
          <a:prstGeom prst="rect">
            <a:avLst/>
          </a:prstGeom>
          <a:noFill/>
          <a:ln w="0">
            <a:noFill/>
          </a:ln>
        </p:spPr>
        <p:txBody>
          <a:bodyPr lIns="38100" tIns="19050" rIns="38100" bIns="1905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شهادات فوز ومشاركة رقمية.</a:t>
            </a:r>
          </a:p>
        </p:txBody>
      </p:sp>
      <p:sp>
        <p:nvSpPr>
          <p:cNvPr id="9" name="شكل بيضاوي 8">
            <a:extLst>
              <a:ext uri="{FF2B5EF4-FFF2-40B4-BE49-F238E27FC236}">
                <a16:creationId xmlns:a16="http://schemas.microsoft.com/office/drawing/2014/main" id="{39102E1B-B9B9-48B1-A9E4-54BE44B316FC}"/>
              </a:ext>
            </a:extLst>
          </p:cNvPr>
          <p:cNvSpPr>
            <a:spLocks noGrp="1"/>
          </p:cNvSpPr>
          <p:nvPr/>
        </p:nvSpPr>
        <p:spPr>
          <a:xfrm>
            <a:off x="10706100" y="3214688"/>
            <a:ext cx="95250" cy="95250"/>
          </a:xfrm>
          <a:prstGeom prst="ellipse">
            <a:avLst/>
          </a:prstGeom>
          <a:solidFill>
            <a:srgbClr val="7030A0"/>
          </a:solidFill>
          <a:ln w="0">
            <a:noFill/>
          </a:ln>
        </p:spPr>
        <p:txBody>
          <a:bodyPr/>
          <a:lstStyle/>
          <a:p>
            <a:endParaRPr lang="en-US"/>
          </a:p>
        </p:txBody>
      </p:sp>
      <p:sp>
        <p:nvSpPr>
          <p:cNvPr id="10" name="مستطيل 9">
            <a:extLst>
              <a:ext uri="{FF2B5EF4-FFF2-40B4-BE49-F238E27FC236}">
                <a16:creationId xmlns:a16="http://schemas.microsoft.com/office/drawing/2014/main" id="{ACB6B8ED-5FBF-4EBB-B005-F12952E5776E}"/>
              </a:ext>
            </a:extLst>
          </p:cNvPr>
          <p:cNvSpPr>
            <a:spLocks noGrp="1"/>
          </p:cNvSpPr>
          <p:nvPr/>
        </p:nvSpPr>
        <p:spPr>
          <a:xfrm>
            <a:off x="6238875" y="3000375"/>
            <a:ext cx="4314825" cy="523875"/>
          </a:xfrm>
          <a:prstGeom prst="rect">
            <a:avLst/>
          </a:prstGeom>
          <a:noFill/>
          <a:ln w="0">
            <a:noFill/>
          </a:ln>
        </p:spPr>
        <p:txBody>
          <a:bodyPr lIns="38100" tIns="19050" rIns="38100" bIns="1905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إبراز إعلامي وتقارير تغذية راجعة.</a:t>
            </a:r>
          </a:p>
        </p:txBody>
      </p:sp>
      <p:sp>
        <p:nvSpPr>
          <p:cNvPr id="11" name="شكل بيضاوي 10">
            <a:extLst>
              <a:ext uri="{FF2B5EF4-FFF2-40B4-BE49-F238E27FC236}">
                <a16:creationId xmlns:a16="http://schemas.microsoft.com/office/drawing/2014/main" id="{3FC05E69-E15D-4248-A716-C3D043704C96}"/>
              </a:ext>
            </a:extLst>
          </p:cNvPr>
          <p:cNvSpPr>
            <a:spLocks noGrp="1"/>
          </p:cNvSpPr>
          <p:nvPr/>
        </p:nvSpPr>
        <p:spPr>
          <a:xfrm>
            <a:off x="10706100" y="3738563"/>
            <a:ext cx="95250" cy="95250"/>
          </a:xfrm>
          <a:prstGeom prst="ellipse">
            <a:avLst/>
          </a:prstGeom>
          <a:solidFill>
            <a:srgbClr val="1F9FCC"/>
          </a:solidFill>
          <a:ln w="0">
            <a:noFill/>
          </a:ln>
        </p:spPr>
        <p:txBody>
          <a:bodyPr/>
          <a:lstStyle/>
          <a:p>
            <a:endParaRPr lang="en-US"/>
          </a:p>
        </p:txBody>
      </p:sp>
      <p:sp>
        <p:nvSpPr>
          <p:cNvPr id="12" name="مستطيل 11">
            <a:extLst>
              <a:ext uri="{FF2B5EF4-FFF2-40B4-BE49-F238E27FC236}">
                <a16:creationId xmlns:a16="http://schemas.microsoft.com/office/drawing/2014/main" id="{B7DB3E38-938E-49C9-91F6-5C7084C3BC04}"/>
              </a:ext>
            </a:extLst>
          </p:cNvPr>
          <p:cNvSpPr>
            <a:spLocks noGrp="1"/>
          </p:cNvSpPr>
          <p:nvPr/>
        </p:nvSpPr>
        <p:spPr>
          <a:xfrm>
            <a:off x="6238875" y="3524250"/>
            <a:ext cx="4314825" cy="523875"/>
          </a:xfrm>
          <a:prstGeom prst="rect">
            <a:avLst/>
          </a:prstGeom>
          <a:noFill/>
          <a:ln w="0">
            <a:noFill/>
          </a:ln>
        </p:spPr>
        <p:txBody>
          <a:bodyPr lIns="38100" tIns="19050" rIns="38100" bIns="19050" anchor="ctr">
            <a:normAutofit/>
          </a:bodyPr>
          <a:lstStyle/>
          <a:p>
            <a:pPr algn="r" rtl="1">
              <a:lnSpc>
                <a:spcPct val="105000"/>
              </a:lnSpc>
              <a:buNone/>
              <a:defRPr sz="1425" b="0">
                <a:solidFill>
                  <a:srgbClr val="17121B"/>
                </a:solidFill>
                <a:latin typeface="DejaVu Sans"/>
                <a:ea typeface="DejaVu Sans"/>
                <a:cs typeface="DejaVu Sans"/>
              </a:defRPr>
            </a:pPr>
            <a:r>
              <a:rPr sz="1425" b="0">
                <a:solidFill>
                  <a:srgbClr val="17121B"/>
                </a:solidFill>
                <a:latin typeface="DejaVu Sans"/>
                <a:ea typeface="DejaVu Sans"/>
                <a:cs typeface="DejaVu Sans"/>
              </a:rPr>
              <a:t>فرص تطوير وربط مع شركاء داعمين متى توفرت.</a:t>
            </a:r>
          </a:p>
        </p:txBody>
      </p:sp>
      <p:sp>
        <p:nvSpPr>
          <p:cNvPr id="13" name="مستطيل 12">
            <a:extLst>
              <a:ext uri="{FF2B5EF4-FFF2-40B4-BE49-F238E27FC236}">
                <a16:creationId xmlns:a16="http://schemas.microsoft.com/office/drawing/2014/main" id="{CDAC3C01-E065-4D65-BB5E-9A4B08E1BA99}"/>
              </a:ext>
            </a:extLst>
          </p:cNvPr>
          <p:cNvSpPr>
            <a:spLocks noGrp="1"/>
          </p:cNvSpPr>
          <p:nvPr/>
        </p:nvSpPr>
        <p:spPr>
          <a:xfrm>
            <a:off x="1762125" y="1381125"/>
            <a:ext cx="3762375" cy="428625"/>
          </a:xfrm>
          <a:prstGeom prst="rect">
            <a:avLst/>
          </a:prstGeom>
          <a:noFill/>
          <a:ln w="0">
            <a:noFill/>
          </a:ln>
        </p:spPr>
        <p:txBody>
          <a:bodyPr lIns="57150" tIns="38100" rIns="57150" bIns="38100" anchor="t">
            <a:normAutofit/>
          </a:bodyPr>
          <a:lstStyle/>
          <a:p>
            <a:pPr algn="r" rtl="1">
              <a:lnSpc>
                <a:spcPct val="105000"/>
              </a:lnSpc>
              <a:buNone/>
              <a:defRPr sz="1875" b="1">
                <a:solidFill>
                  <a:srgbClr val="542278"/>
                </a:solidFill>
                <a:latin typeface="DejaVu Sans"/>
                <a:ea typeface="DejaVu Sans"/>
                <a:cs typeface="DejaVu Sans"/>
              </a:defRPr>
            </a:pPr>
            <a:r>
              <a:rPr sz="1875" b="1">
                <a:solidFill>
                  <a:srgbClr val="542278"/>
                </a:solidFill>
                <a:latin typeface="DejaVu Sans"/>
                <a:ea typeface="DejaVu Sans"/>
                <a:cs typeface="DejaVu Sans"/>
              </a:rPr>
              <a:t>معلومات تستكمل قبل الإطلاق</a:t>
            </a:r>
          </a:p>
        </p:txBody>
      </p:sp>
      <p:graphicFrame>
        <p:nvGraphicFramePr>
          <p:cNvPr id="29" name="جدول 28"/>
          <p:cNvGraphicFramePr/>
          <p:nvPr/>
        </p:nvGraphicFramePr>
        <p:xfrm>
          <a:off x="1381125" y="1952625"/>
          <a:ext cx="4286250" cy="2714628"/>
        </p:xfrm>
        <a:graphic>
          <a:graphicData uri="http://schemas.openxmlformats.org/drawingml/2006/table">
            <a:tbl>
              <a:tblPr/>
              <a:tblGrid>
                <a:gridCol w="18097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tblGrid>
              <a:tr h="452438">
                <a:tc>
                  <a:txBody>
                    <a:bodyPr/>
                    <a:lstStyle/>
                    <a:p>
                      <a:pPr algn="ctr" rtl="1"/>
                      <a:r>
                        <a:rPr sz="1200" b="1">
                          <a:solidFill>
                            <a:srgbClr val="FFFFFF"/>
                          </a:solidFill>
                          <a:latin typeface="DejaVu Sans"/>
                          <a:ea typeface="DejaVu Sans"/>
                          <a:cs typeface="DejaVu Sans"/>
                        </a:rPr>
                        <a:t>القيمة</a:t>
                      </a:r>
                    </a:p>
                  </a:txBody>
                  <a:tcPr marL="76200" marR="76200" marT="66675" marB="66675" anchor="ctr">
                    <a:solidFill>
                      <a:srgbClr val="7030A0"/>
                    </a:solidFill>
                  </a:tcPr>
                </a:tc>
                <a:tc>
                  <a:txBody>
                    <a:bodyPr/>
                    <a:lstStyle/>
                    <a:p>
                      <a:pPr algn="ctr" rtl="1"/>
                      <a:r>
                        <a:rPr sz="1200" b="1">
                          <a:solidFill>
                            <a:srgbClr val="FFFFFF"/>
                          </a:solidFill>
                          <a:latin typeface="DejaVu Sans"/>
                          <a:ea typeface="DejaVu Sans"/>
                          <a:cs typeface="DejaVu Sans"/>
                        </a:rPr>
                        <a:t>البيان</a:t>
                      </a:r>
                    </a:p>
                  </a:txBody>
                  <a:tcPr marL="76200" marR="76200" marT="66675" marB="66675" anchor="ctr">
                    <a:solidFill>
                      <a:srgbClr val="7030A0"/>
                    </a:solidFill>
                  </a:tcPr>
                </a:tc>
                <a:extLst>
                  <a:ext uri="{0D108BD9-81ED-4DB2-BD59-A6C34878D82A}">
                    <a16:rowId xmlns:a16="http://schemas.microsoft.com/office/drawing/2014/main" val="10000"/>
                  </a:ext>
                </a:extLst>
              </a:tr>
              <a:tr h="452438">
                <a:tc>
                  <a:txBody>
                    <a:bodyPr/>
                    <a:lstStyle/>
                    <a:p>
                      <a:pPr algn="r" rtl="1"/>
                      <a:r>
                        <a:rPr sz="1088">
                          <a:solidFill>
                            <a:srgbClr val="17121B"/>
                          </a:solidFill>
                          <a:latin typeface="DejaVu Sans"/>
                          <a:ea typeface="DejaVu Sans"/>
                          <a:cs typeface="DejaVu Sans"/>
                        </a:rPr>
                        <a:t>[يُعتمد]</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مواعيد فتح وإغلاق الترشح</a:t>
                      </a:r>
                    </a:p>
                  </a:txBody>
                  <a:tcPr marL="76200" marR="76200" marT="57150" marB="57150" anchor="ctr">
                    <a:solidFill>
                      <a:srgbClr val="FFFFFF"/>
                    </a:solidFill>
                  </a:tcPr>
                </a:tc>
                <a:extLst>
                  <a:ext uri="{0D108BD9-81ED-4DB2-BD59-A6C34878D82A}">
                    <a16:rowId xmlns:a16="http://schemas.microsoft.com/office/drawing/2014/main" val="10001"/>
                  </a:ext>
                </a:extLst>
              </a:tr>
              <a:tr h="452438">
                <a:tc>
                  <a:txBody>
                    <a:bodyPr/>
                    <a:lstStyle/>
                    <a:p>
                      <a:pPr algn="r" rtl="1"/>
                      <a:r>
                        <a:rPr sz="1088">
                          <a:solidFill>
                            <a:srgbClr val="17121B"/>
                          </a:solidFill>
                          <a:latin typeface="DejaVu Sans"/>
                          <a:ea typeface="DejaVu Sans"/>
                          <a:cs typeface="DejaVu Sans"/>
                        </a:rPr>
                        <a:t>[يُعتمد]</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الفترة المؤهلة للمبادرات</a:t>
                      </a:r>
                    </a:p>
                  </a:txBody>
                  <a:tcPr marL="76200" marR="76200" marT="57150" marB="57150" anchor="ctr">
                    <a:solidFill>
                      <a:srgbClr val="F5EFF8"/>
                    </a:solidFill>
                  </a:tcPr>
                </a:tc>
                <a:extLst>
                  <a:ext uri="{0D108BD9-81ED-4DB2-BD59-A6C34878D82A}">
                    <a16:rowId xmlns:a16="http://schemas.microsoft.com/office/drawing/2014/main" val="10002"/>
                  </a:ext>
                </a:extLst>
              </a:tr>
              <a:tr h="452438">
                <a:tc>
                  <a:txBody>
                    <a:bodyPr/>
                    <a:lstStyle/>
                    <a:p>
                      <a:pPr algn="r" rtl="1"/>
                      <a:r>
                        <a:rPr sz="1088">
                          <a:solidFill>
                            <a:srgbClr val="17121B"/>
                          </a:solidFill>
                          <a:latin typeface="DejaVu Sans"/>
                          <a:ea typeface="DejaVu Sans"/>
                          <a:cs typeface="DejaVu Sans"/>
                        </a:rPr>
                        <a:t>[يُعتمد]</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موعد إعلان الفائزين</a:t>
                      </a:r>
                    </a:p>
                  </a:txBody>
                  <a:tcPr marL="76200" marR="76200" marT="57150" marB="57150" anchor="ctr">
                    <a:solidFill>
                      <a:srgbClr val="FFFFFF"/>
                    </a:solidFill>
                  </a:tcPr>
                </a:tc>
                <a:extLst>
                  <a:ext uri="{0D108BD9-81ED-4DB2-BD59-A6C34878D82A}">
                    <a16:rowId xmlns:a16="http://schemas.microsoft.com/office/drawing/2014/main" val="10003"/>
                  </a:ext>
                </a:extLst>
              </a:tr>
              <a:tr h="452438">
                <a:tc>
                  <a:txBody>
                    <a:bodyPr/>
                    <a:lstStyle/>
                    <a:p>
                      <a:pPr algn="r" rtl="1"/>
                      <a:r>
                        <a:rPr sz="1088">
                          <a:solidFill>
                            <a:srgbClr val="17121B"/>
                          </a:solidFill>
                          <a:latin typeface="DejaVu Sans"/>
                          <a:ea typeface="DejaVu Sans"/>
                          <a:cs typeface="DejaVu Sans"/>
                        </a:rPr>
                        <a:t>[يُدرج]</a:t>
                      </a:r>
                    </a:p>
                  </a:txBody>
                  <a:tcPr marL="76200" marR="76200" marT="57150" marB="57150" anchor="ctr">
                    <a:solidFill>
                      <a:srgbClr val="F5EFF8"/>
                    </a:solidFill>
                  </a:tcPr>
                </a:tc>
                <a:tc>
                  <a:txBody>
                    <a:bodyPr/>
                    <a:lstStyle/>
                    <a:p>
                      <a:pPr algn="r" rtl="1"/>
                      <a:r>
                        <a:rPr sz="1088">
                          <a:solidFill>
                            <a:srgbClr val="17121B"/>
                          </a:solidFill>
                          <a:latin typeface="DejaVu Sans"/>
                          <a:ea typeface="DejaVu Sans"/>
                          <a:cs typeface="DejaVu Sans"/>
                        </a:rPr>
                        <a:t>رابط منصة التقديم</a:t>
                      </a:r>
                    </a:p>
                  </a:txBody>
                  <a:tcPr marL="76200" marR="76200" marT="57150" marB="57150" anchor="ctr">
                    <a:solidFill>
                      <a:srgbClr val="F5EFF8"/>
                    </a:solidFill>
                  </a:tcPr>
                </a:tc>
                <a:extLst>
                  <a:ext uri="{0D108BD9-81ED-4DB2-BD59-A6C34878D82A}">
                    <a16:rowId xmlns:a16="http://schemas.microsoft.com/office/drawing/2014/main" val="10004"/>
                  </a:ext>
                </a:extLst>
              </a:tr>
              <a:tr h="452438">
                <a:tc>
                  <a:txBody>
                    <a:bodyPr/>
                    <a:lstStyle/>
                    <a:p>
                      <a:pPr algn="r" rtl="1"/>
                      <a:r>
                        <a:rPr sz="1088">
                          <a:solidFill>
                            <a:srgbClr val="17121B"/>
                          </a:solidFill>
                          <a:latin typeface="DejaVu Sans"/>
                          <a:ea typeface="DejaVu Sans"/>
                          <a:cs typeface="DejaVu Sans"/>
                        </a:rPr>
                        <a:t>[يُدرج]</a:t>
                      </a:r>
                    </a:p>
                  </a:txBody>
                  <a:tcPr marL="76200" marR="76200" marT="57150" marB="57150" anchor="ctr">
                    <a:solidFill>
                      <a:srgbClr val="FFFFFF"/>
                    </a:solidFill>
                  </a:tcPr>
                </a:tc>
                <a:tc>
                  <a:txBody>
                    <a:bodyPr/>
                    <a:lstStyle/>
                    <a:p>
                      <a:pPr algn="r" rtl="1"/>
                      <a:r>
                        <a:rPr sz="1088">
                          <a:solidFill>
                            <a:srgbClr val="17121B"/>
                          </a:solidFill>
                          <a:latin typeface="DejaVu Sans"/>
                          <a:ea typeface="DejaVu Sans"/>
                          <a:cs typeface="DejaVu Sans"/>
                        </a:rPr>
                        <a:t>البريد وقنوات التواصل</a:t>
                      </a:r>
                    </a:p>
                  </a:txBody>
                  <a:tcPr marL="76200" marR="76200" marT="57150" marB="57150" anchor="ctr">
                    <a:solidFill>
                      <a:srgbClr val="FFFFFF"/>
                    </a:solidFill>
                  </a:tcPr>
                </a:tc>
                <a:extLst>
                  <a:ext uri="{0D108BD9-81ED-4DB2-BD59-A6C34878D82A}">
                    <a16:rowId xmlns:a16="http://schemas.microsoft.com/office/drawing/2014/main" val="10005"/>
                  </a:ext>
                </a:extLst>
              </a:tr>
            </a:tbl>
          </a:graphicData>
        </a:graphic>
      </p:graphicFrame>
      <p:sp>
        <p:nvSpPr>
          <p:cNvPr id="15" name="مستطيل 14">
            <a:extLst>
              <a:ext uri="{FF2B5EF4-FFF2-40B4-BE49-F238E27FC236}">
                <a16:creationId xmlns:a16="http://schemas.microsoft.com/office/drawing/2014/main" id="{6452F009-F895-436D-A47D-3F2BA5747632}"/>
              </a:ext>
            </a:extLst>
          </p:cNvPr>
          <p:cNvSpPr>
            <a:spLocks noGrp="1"/>
          </p:cNvSpPr>
          <p:nvPr/>
        </p:nvSpPr>
        <p:spPr>
          <a:xfrm>
            <a:off x="3143250" y="5191125"/>
            <a:ext cx="5905500" cy="438150"/>
          </a:xfrm>
          <a:prstGeom prst="rect">
            <a:avLst/>
          </a:prstGeom>
          <a:noFill/>
          <a:ln w="0">
            <a:noFill/>
          </a:ln>
        </p:spPr>
        <p:txBody>
          <a:bodyPr lIns="57150" tIns="38100" rIns="57150" bIns="38100" anchor="ctr">
            <a:normAutofit/>
          </a:bodyPr>
          <a:lstStyle/>
          <a:p>
            <a:pPr algn="ctr" rtl="1">
              <a:lnSpc>
                <a:spcPct val="105000"/>
              </a:lnSpc>
              <a:buNone/>
              <a:defRPr sz="1650" b="1">
                <a:solidFill>
                  <a:srgbClr val="542278"/>
                </a:solidFill>
                <a:latin typeface="DejaVu Sans"/>
                <a:ea typeface="DejaVu Sans"/>
                <a:cs typeface="DejaVu Sans"/>
              </a:defRPr>
            </a:pPr>
            <a:endParaRPr sz="1650" b="1" dirty="0">
              <a:solidFill>
                <a:srgbClr val="542278"/>
              </a:solidFill>
              <a:latin typeface="DejaVu Sans"/>
              <a:ea typeface="DejaVu Sans"/>
              <a:cs typeface="DejaVu Sans"/>
            </a:endParaRPr>
          </a:p>
        </p:txBody>
      </p:sp>
    </p:spTree>
    <p:extLst>
      <p:ext uri="{BB962C8B-B14F-4D97-AF65-F5344CB8AC3E}">
        <p14:creationId xmlns:p14="http://schemas.microsoft.com/office/powerpoint/2010/main" val="101405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32192-A348-D5ED-7283-445FE12E5A96}"/>
            </a:ext>
          </a:extLst>
        </p:cNvPr>
        <p:cNvGrpSpPr/>
        <p:nvPr/>
      </p:nvGrpSpPr>
      <p:grpSpPr>
        <a:xfrm>
          <a:off x="0" y="0"/>
          <a:ext cx="0" cy="0"/>
          <a:chOff x="0" y="0"/>
          <a:chExt cx="0" cy="0"/>
        </a:xfrm>
      </p:grpSpPr>
      <p:sp>
        <p:nvSpPr>
          <p:cNvPr id="2" name="مستطيل 1">
            <a:extLst>
              <a:ext uri="{FF2B5EF4-FFF2-40B4-BE49-F238E27FC236}">
                <a16:creationId xmlns:a16="http://schemas.microsoft.com/office/drawing/2014/main" id="{5C14247D-D1E5-0193-85E9-71AFE0AE9717}"/>
              </a:ext>
            </a:extLst>
          </p:cNvPr>
          <p:cNvSpPr>
            <a:spLocks noGrp="1"/>
          </p:cNvSpPr>
          <p:nvPr/>
        </p:nvSpPr>
        <p:spPr>
          <a:xfrm>
            <a:off x="11382375" y="6381750"/>
            <a:ext cx="495300" cy="304800"/>
          </a:xfrm>
          <a:prstGeom prst="rect">
            <a:avLst/>
          </a:prstGeom>
          <a:solidFill>
            <a:srgbClr val="7030A0"/>
          </a:solidFill>
          <a:ln w="0">
            <a:solidFill>
              <a:srgbClr val="7030A0"/>
            </a:solidFill>
          </a:ln>
        </p:spPr>
        <p:txBody>
          <a:bodyPr lIns="9525" tIns="9525" rIns="9525" bIns="9525" anchor="ctr">
            <a:noAutofit/>
          </a:bodyPr>
          <a:lstStyle/>
          <a:p>
            <a:pPr algn="ctr" rtl="1">
              <a:defRPr sz="1050" b="0">
                <a:solidFill>
                  <a:srgbClr val="FFFFFF"/>
                </a:solidFill>
                <a:latin typeface="DejaVu Sans"/>
                <a:ea typeface="DejaVu Sans"/>
                <a:cs typeface="DejaVu Sans"/>
              </a:defRPr>
            </a:pPr>
            <a:r>
              <a:rPr sz="1050" b="0">
                <a:solidFill>
                  <a:srgbClr val="FFFFFF"/>
                </a:solidFill>
                <a:latin typeface="DejaVu Sans"/>
                <a:ea typeface="DejaVu Sans"/>
                <a:cs typeface="DejaVu Sans"/>
              </a:rPr>
              <a:t>26</a:t>
            </a:r>
          </a:p>
        </p:txBody>
      </p:sp>
      <p:sp>
        <p:nvSpPr>
          <p:cNvPr id="3" name="slide-title">
            <a:extLst>
              <a:ext uri="{FF2B5EF4-FFF2-40B4-BE49-F238E27FC236}">
                <a16:creationId xmlns:a16="http://schemas.microsoft.com/office/drawing/2014/main" id="{A1833ACD-D7E2-CE06-1E74-370F9D21B77D}"/>
              </a:ext>
            </a:extLst>
          </p:cNvPr>
          <p:cNvSpPr>
            <a:spLocks noGrp="1"/>
          </p:cNvSpPr>
          <p:nvPr/>
        </p:nvSpPr>
        <p:spPr>
          <a:xfrm>
            <a:off x="5215128" y="2541651"/>
            <a:ext cx="6096000" cy="476250"/>
          </a:xfrm>
          <a:prstGeom prst="rect">
            <a:avLst/>
          </a:prstGeom>
          <a:noFill/>
          <a:ln w="0">
            <a:noFill/>
          </a:ln>
        </p:spPr>
        <p:txBody>
          <a:bodyPr lIns="57150" tIns="38100" rIns="57150" bIns="38100" anchor="t">
            <a:noAutofit/>
          </a:bodyPr>
          <a:lstStyle/>
          <a:p>
            <a:pPr algn="r" rtl="1">
              <a:lnSpc>
                <a:spcPct val="105000"/>
              </a:lnSpc>
              <a:buNone/>
              <a:defRPr sz="2550" b="1">
                <a:solidFill>
                  <a:srgbClr val="542278"/>
                </a:solidFill>
                <a:latin typeface="DejaVu Sans"/>
                <a:ea typeface="DejaVu Sans"/>
                <a:cs typeface="DejaVu Sans"/>
              </a:defRPr>
            </a:pPr>
            <a:r>
              <a:rPr lang="ar-SA" sz="4800" b="1" dirty="0">
                <a:solidFill>
                  <a:srgbClr val="542278"/>
                </a:solidFill>
                <a:latin typeface="DejaVu Sans"/>
                <a:ea typeface="DejaVu Sans"/>
                <a:cs typeface="DejaVu Sans"/>
              </a:rPr>
              <a:t>شكرًا لكم ,,,,,,,,,,</a:t>
            </a:r>
            <a:endParaRPr sz="4800" b="1" dirty="0">
              <a:solidFill>
                <a:srgbClr val="542278"/>
              </a:solidFill>
              <a:latin typeface="DejaVu Sans"/>
              <a:ea typeface="DejaVu Sans"/>
              <a:cs typeface="DejaVu Sans"/>
            </a:endParaRPr>
          </a:p>
        </p:txBody>
      </p:sp>
    </p:spTree>
    <p:extLst>
      <p:ext uri="{BB962C8B-B14F-4D97-AF65-F5344CB8AC3E}">
        <p14:creationId xmlns:p14="http://schemas.microsoft.com/office/powerpoint/2010/main" val="266600571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2421</Words>
  <Application>Microsoft Office PowerPoint</Application>
  <DocSecurity>0</DocSecurity>
  <PresentationFormat>شاشة عريضة</PresentationFormat>
  <Paragraphs>438</Paragraphs>
  <Slides>27</Slides>
  <Notes>27</Notes>
  <HiddenSlides>0</HiddenSlides>
  <MMClips>0</MMClips>
  <ScaleCrop>false</ScaleCrop>
  <HeadingPairs>
    <vt:vector size="6" baseType="variant">
      <vt:variant>
        <vt:lpstr>الخطوط المستخدمة</vt:lpstr>
      </vt:variant>
      <vt:variant>
        <vt:i4>2</vt:i4>
      </vt:variant>
      <vt:variant>
        <vt:lpstr>نسق</vt:lpstr>
      </vt:variant>
      <vt:variant>
        <vt:i4>1</vt:i4>
      </vt:variant>
      <vt:variant>
        <vt:lpstr>عناوين الشرائح</vt:lpstr>
      </vt:variant>
      <vt:variant>
        <vt:i4>27</vt:i4>
      </vt:variant>
    </vt:vector>
  </HeadingPairs>
  <TitlesOfParts>
    <vt:vector size="30" baseType="lpstr">
      <vt:lpstr>Calibri</vt:lpstr>
      <vt:lpstr>DejaVu Sans</vt:lpstr>
      <vt:lpstr>ChatGPT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ريما العمري</cp:lastModifiedBy>
  <cp:revision>1</cp:revision>
  <dcterms:created xsi:type="dcterms:W3CDTF">2026-09-09T09:00:17Z</dcterms:created>
  <dcterms:modified xsi:type="dcterms:W3CDTF">2026-09-13T08:52:27Z</dcterms:modified>
</cp:coreProperties>
</file>